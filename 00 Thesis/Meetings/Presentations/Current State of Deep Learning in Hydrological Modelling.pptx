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89" r:id="rId3"/>
    <p:sldId id="288" r:id="rId4"/>
    <p:sldId id="290" r:id="rId5"/>
    <p:sldId id="291" r:id="rId6"/>
    <p:sldId id="292" r:id="rId7"/>
    <p:sldId id="293" r:id="rId8"/>
    <p:sldId id="301" r:id="rId9"/>
    <p:sldId id="294" r:id="rId10"/>
    <p:sldId id="295" r:id="rId11"/>
    <p:sldId id="296" r:id="rId12"/>
    <p:sldId id="298" r:id="rId13"/>
    <p:sldId id="297" r:id="rId14"/>
    <p:sldId id="300" r:id="rId15"/>
    <p:sldId id="269" r:id="rId16"/>
  </p:sldIdLst>
  <p:sldSz cx="9144000" cy="5143500" type="screen16x9"/>
  <p:notesSz cx="6858000" cy="9144000"/>
  <p:embeddedFontLst>
    <p:embeddedFont>
      <p:font typeface="Albert Sans" panose="020B0604020202020204" charset="0"/>
      <p:regular r:id="rId18"/>
      <p:bold r:id="rId19"/>
      <p:italic r:id="rId20"/>
      <p:boldItalic r:id="rId21"/>
    </p:embeddedFont>
    <p:embeddedFont>
      <p:font typeface="DM Sans" pitchFamily="2" charset="0"/>
      <p:regular r:id="rId22"/>
      <p:bold r:id="rId23"/>
      <p:italic r:id="rId24"/>
      <p:boldItalic r:id="rId25"/>
    </p:embeddedFont>
    <p:embeddedFont>
      <p:font typeface="Raleway" pitchFamily="2" charset="0"/>
      <p:regular r:id="rId26"/>
      <p:bold r:id="rId27"/>
      <p:italic r:id="rId28"/>
      <p:boldItalic r:id="rId29"/>
    </p:embeddedFont>
    <p:embeddedFont>
      <p:font typeface="Syne ExtraBold" panose="020B0604020202020204" charset="0"/>
      <p:bold r:id="rId30"/>
    </p:embeddedFont>
    <p:embeddedFont>
      <p:font typeface="Viaoda Libre" panose="020B0604020202020204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004AA-313B-46A0-A8CE-FEB8B66CAD67}">
  <a:tblStyle styleId="{B30004AA-313B-46A0-A8CE-FEB8B66CAD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10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2ff4209b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2ff4209b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A0C86DA2-AC6F-C2B6-2EE9-0CBA1ABF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4c97b666_0_99:notes">
            <a:extLst>
              <a:ext uri="{FF2B5EF4-FFF2-40B4-BE49-F238E27FC236}">
                <a16:creationId xmlns:a16="http://schemas.microsoft.com/office/drawing/2014/main" id="{D1A58B27-A98F-76DA-0DAE-2D5858D902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4c97b666_0_99:notes">
            <a:extLst>
              <a:ext uri="{FF2B5EF4-FFF2-40B4-BE49-F238E27FC236}">
                <a16:creationId xmlns:a16="http://schemas.microsoft.com/office/drawing/2014/main" id="{871DCB8B-B783-F180-1754-27C6573CA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9880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CCF1B36B-3DDC-6588-5CDD-6B9DEC93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421486c3c2_0_51:notes">
            <a:extLst>
              <a:ext uri="{FF2B5EF4-FFF2-40B4-BE49-F238E27FC236}">
                <a16:creationId xmlns:a16="http://schemas.microsoft.com/office/drawing/2014/main" id="{CF044704-C7B7-E945-906F-8625716DE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421486c3c2_0_51:notes">
            <a:extLst>
              <a:ext uri="{FF2B5EF4-FFF2-40B4-BE49-F238E27FC236}">
                <a16:creationId xmlns:a16="http://schemas.microsoft.com/office/drawing/2014/main" id="{4C13BC2C-5F8A-3B76-4151-DDF3BB230C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5043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952319C3-E8BF-D3B3-5774-5D060707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21486c3c2_0_17:notes">
            <a:extLst>
              <a:ext uri="{FF2B5EF4-FFF2-40B4-BE49-F238E27FC236}">
                <a16:creationId xmlns:a16="http://schemas.microsoft.com/office/drawing/2014/main" id="{BB4BB85E-7EF1-9A83-F1BC-0AEAD7F1C5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421486c3c2_0_17:notes">
            <a:extLst>
              <a:ext uri="{FF2B5EF4-FFF2-40B4-BE49-F238E27FC236}">
                <a16:creationId xmlns:a16="http://schemas.microsoft.com/office/drawing/2014/main" id="{9C5B30BD-218E-A8D8-86E7-64E081C4B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2869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8AE163A6-7BDA-8D14-A2DA-AFB67D2F7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4c97b666_0_99:notes">
            <a:extLst>
              <a:ext uri="{FF2B5EF4-FFF2-40B4-BE49-F238E27FC236}">
                <a16:creationId xmlns:a16="http://schemas.microsoft.com/office/drawing/2014/main" id="{192ED1B9-38BE-065B-7FED-13D959AFB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4c97b666_0_99:notes">
            <a:extLst>
              <a:ext uri="{FF2B5EF4-FFF2-40B4-BE49-F238E27FC236}">
                <a16:creationId xmlns:a16="http://schemas.microsoft.com/office/drawing/2014/main" id="{1A656BD4-CCF7-ABB2-6C2C-7AA722F3C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8480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EA7ABBDD-6C71-8C5E-CC11-BDAE13D4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>
            <a:extLst>
              <a:ext uri="{FF2B5EF4-FFF2-40B4-BE49-F238E27FC236}">
                <a16:creationId xmlns:a16="http://schemas.microsoft.com/office/drawing/2014/main" id="{9DA3DF3F-48AC-BA74-CAB7-53606947AA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>
            <a:extLst>
              <a:ext uri="{FF2B5EF4-FFF2-40B4-BE49-F238E27FC236}">
                <a16:creationId xmlns:a16="http://schemas.microsoft.com/office/drawing/2014/main" id="{91F98F31-5137-4CF9-6868-787086DB41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223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0CDBF4F-1CD7-400D-51FC-EC7553851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21486c3c2_0_29:notes">
            <a:extLst>
              <a:ext uri="{FF2B5EF4-FFF2-40B4-BE49-F238E27FC236}">
                <a16:creationId xmlns:a16="http://schemas.microsoft.com/office/drawing/2014/main" id="{5B8EAF4E-9E19-700A-801F-139C51019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421486c3c2_0_29:notes">
            <a:extLst>
              <a:ext uri="{FF2B5EF4-FFF2-40B4-BE49-F238E27FC236}">
                <a16:creationId xmlns:a16="http://schemas.microsoft.com/office/drawing/2014/main" id="{52120E1D-9CE1-0B2E-2444-71E54228C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2762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785F73A8-95B8-C216-C776-937E5C18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21486c3c2_0_29:notes">
            <a:extLst>
              <a:ext uri="{FF2B5EF4-FFF2-40B4-BE49-F238E27FC236}">
                <a16:creationId xmlns:a16="http://schemas.microsoft.com/office/drawing/2014/main" id="{4484D0E8-F220-ED88-8EEA-D46FE8B06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421486c3c2_0_29:notes">
            <a:extLst>
              <a:ext uri="{FF2B5EF4-FFF2-40B4-BE49-F238E27FC236}">
                <a16:creationId xmlns:a16="http://schemas.microsoft.com/office/drawing/2014/main" id="{21D5FBBA-42DD-A2CF-EC31-710AE71C98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3265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BF16E094-2CB6-E2C2-554A-72B5C325A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21486c3c2_0_7:notes">
            <a:extLst>
              <a:ext uri="{FF2B5EF4-FFF2-40B4-BE49-F238E27FC236}">
                <a16:creationId xmlns:a16="http://schemas.microsoft.com/office/drawing/2014/main" id="{60007A8D-E85D-EFD3-EC02-CDB4E14A9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21486c3c2_0_7:notes">
            <a:extLst>
              <a:ext uri="{FF2B5EF4-FFF2-40B4-BE49-F238E27FC236}">
                <a16:creationId xmlns:a16="http://schemas.microsoft.com/office/drawing/2014/main" id="{81D5EDF3-D684-894A-69B7-BF1691987D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527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E9F860B2-B1A3-1E95-460C-E6CEE3475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44c97b666_0_99:notes">
            <a:extLst>
              <a:ext uri="{FF2B5EF4-FFF2-40B4-BE49-F238E27FC236}">
                <a16:creationId xmlns:a16="http://schemas.microsoft.com/office/drawing/2014/main" id="{5E3A7228-3636-BD17-75FC-AFF514A0B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44c97b666_0_99:notes">
            <a:extLst>
              <a:ext uri="{FF2B5EF4-FFF2-40B4-BE49-F238E27FC236}">
                <a16:creationId xmlns:a16="http://schemas.microsoft.com/office/drawing/2014/main" id="{1C4FECDA-683E-4379-0E38-36D1DB583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5111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CCF62FC7-74F0-BCBF-3353-1CB434D3C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421486c3c2_0_51:notes">
            <a:extLst>
              <a:ext uri="{FF2B5EF4-FFF2-40B4-BE49-F238E27FC236}">
                <a16:creationId xmlns:a16="http://schemas.microsoft.com/office/drawing/2014/main" id="{2736DF93-34D8-F884-AC5D-B74129E8B5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421486c3c2_0_51:notes">
            <a:extLst>
              <a:ext uri="{FF2B5EF4-FFF2-40B4-BE49-F238E27FC236}">
                <a16:creationId xmlns:a16="http://schemas.microsoft.com/office/drawing/2014/main" id="{F1C7225C-3E75-F925-471B-AE1B2FD037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3558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C8ADFBEB-360D-9667-61BC-B19FD3A9F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>
            <a:extLst>
              <a:ext uri="{FF2B5EF4-FFF2-40B4-BE49-F238E27FC236}">
                <a16:creationId xmlns:a16="http://schemas.microsoft.com/office/drawing/2014/main" id="{505CD77A-C319-1693-AC6D-913375D04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>
            <a:extLst>
              <a:ext uri="{FF2B5EF4-FFF2-40B4-BE49-F238E27FC236}">
                <a16:creationId xmlns:a16="http://schemas.microsoft.com/office/drawing/2014/main" id="{F0CE14EB-A0DF-716C-3572-068AF9C7F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031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B2C45264-337A-7BBE-BA2E-652BB72C4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21486c3c2_0_7:notes">
            <a:extLst>
              <a:ext uri="{FF2B5EF4-FFF2-40B4-BE49-F238E27FC236}">
                <a16:creationId xmlns:a16="http://schemas.microsoft.com/office/drawing/2014/main" id="{D025354A-C518-EFC7-C175-3D39D7FE8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21486c3c2_0_7:notes">
            <a:extLst>
              <a:ext uri="{FF2B5EF4-FFF2-40B4-BE49-F238E27FC236}">
                <a16:creationId xmlns:a16="http://schemas.microsoft.com/office/drawing/2014/main" id="{3D2B5A74-22C0-B0EE-6D90-01500D6042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615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CBEE57F5-6A70-4E55-D34A-AE638CF27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21486c3c2_0_0:notes">
            <a:extLst>
              <a:ext uri="{FF2B5EF4-FFF2-40B4-BE49-F238E27FC236}">
                <a16:creationId xmlns:a16="http://schemas.microsoft.com/office/drawing/2014/main" id="{5D396079-32F7-B111-15D2-8FA59881C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21486c3c2_0_0:notes">
            <a:extLst>
              <a:ext uri="{FF2B5EF4-FFF2-40B4-BE49-F238E27FC236}">
                <a16:creationId xmlns:a16="http://schemas.microsoft.com/office/drawing/2014/main" id="{E1F6191E-3C78-2174-E9DE-DBADE84ABB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8593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flipH="1">
            <a:off x="457200" y="4391750"/>
            <a:ext cx="4215600" cy="38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 rot="130" flipH="1">
            <a:off x="457525" y="368058"/>
            <a:ext cx="7931100" cy="243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500"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pic>
        <p:nvPicPr>
          <p:cNvPr id="11" name="Google Shape;11;p2" title="grad.png"/>
          <p:cNvPicPr preferRelativeResize="0"/>
          <p:nvPr/>
        </p:nvPicPr>
        <p:blipFill rotWithShape="1">
          <a:blip r:embed="rId2">
            <a:alphaModFix amt="64000"/>
          </a:blip>
          <a:srcRect l="11022" r="13739" b="8156"/>
          <a:stretch/>
        </p:blipFill>
        <p:spPr>
          <a:xfrm>
            <a:off x="3834475" y="1266252"/>
            <a:ext cx="6626048" cy="577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 flipH="1">
            <a:off x="2478600" y="1790900"/>
            <a:ext cx="6208200" cy="291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57200" y="440450"/>
            <a:ext cx="1295100" cy="76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500" b="0" i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15" name="Google Shape;15;p3" title="grad.png"/>
          <p:cNvPicPr preferRelativeResize="0"/>
          <p:nvPr/>
        </p:nvPicPr>
        <p:blipFill rotWithShape="1">
          <a:blip r:embed="rId2">
            <a:alphaModFix amt="64000"/>
          </a:blip>
          <a:srcRect l="11022" r="13739" b="8156"/>
          <a:stretch/>
        </p:blipFill>
        <p:spPr>
          <a:xfrm rot="8601403">
            <a:off x="2378586" y="-4229028"/>
            <a:ext cx="8776077" cy="7652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457200" y="1221475"/>
            <a:ext cx="8233800" cy="13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arker Grotesque SemiBold"/>
              <a:buChar char="●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subTitle" idx="1"/>
          </p:nvPr>
        </p:nvSpPr>
        <p:spPr>
          <a:xfrm>
            <a:off x="2026950" y="3196950"/>
            <a:ext cx="50901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2"/>
          </p:nvPr>
        </p:nvSpPr>
        <p:spPr>
          <a:xfrm>
            <a:off x="2026950" y="1359575"/>
            <a:ext cx="50901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3"/>
          </p:nvPr>
        </p:nvSpPr>
        <p:spPr>
          <a:xfrm>
            <a:off x="2026950" y="3546450"/>
            <a:ext cx="5090100" cy="8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>
            <a:off x="2026950" y="1709075"/>
            <a:ext cx="5090100" cy="8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57200" y="212325"/>
            <a:ext cx="82296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25" name="Google Shape;25;p5" title="grad.png"/>
          <p:cNvPicPr preferRelativeResize="0"/>
          <p:nvPr/>
        </p:nvPicPr>
        <p:blipFill rotWithShape="1">
          <a:blip r:embed="rId2">
            <a:alphaModFix amt="64000"/>
          </a:blip>
          <a:srcRect l="11022" r="13739" b="8156"/>
          <a:stretch/>
        </p:blipFill>
        <p:spPr>
          <a:xfrm rot="2199912">
            <a:off x="-3751676" y="-381272"/>
            <a:ext cx="6626045" cy="5777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053700" y="1704950"/>
            <a:ext cx="4512900" cy="28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44547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44547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845200" y="1199375"/>
            <a:ext cx="4620300" cy="21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15" title="grad.png"/>
          <p:cNvPicPr preferRelativeResize="0"/>
          <p:nvPr/>
        </p:nvPicPr>
        <p:blipFill rotWithShape="1">
          <a:blip r:embed="rId2">
            <a:alphaModFix amt="64000"/>
          </a:blip>
          <a:srcRect l="11022" r="13739" b="8156"/>
          <a:stretch/>
        </p:blipFill>
        <p:spPr>
          <a:xfrm rot="3072118">
            <a:off x="-2614977" y="-1976735"/>
            <a:ext cx="4433905" cy="386622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>
            <a:spLocks noGrp="1"/>
          </p:cNvSpPr>
          <p:nvPr>
            <p:ph type="pic" idx="2"/>
          </p:nvPr>
        </p:nvSpPr>
        <p:spPr>
          <a:xfrm>
            <a:off x="5782800" y="1249550"/>
            <a:ext cx="3361200" cy="389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 title="grad.png"/>
          <p:cNvPicPr preferRelativeResize="0"/>
          <p:nvPr/>
        </p:nvPicPr>
        <p:blipFill rotWithShape="1">
          <a:blip r:embed="rId2">
            <a:alphaModFix amt="64000"/>
          </a:blip>
          <a:srcRect l="11022" r="13739" b="8156"/>
          <a:stretch/>
        </p:blipFill>
        <p:spPr>
          <a:xfrm rot="-8424634">
            <a:off x="172170" y="-2061694"/>
            <a:ext cx="4599704" cy="401078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subTitle" idx="1"/>
          </p:nvPr>
        </p:nvSpPr>
        <p:spPr>
          <a:xfrm>
            <a:off x="2535450" y="1623725"/>
            <a:ext cx="413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2"/>
          </p:nvPr>
        </p:nvSpPr>
        <p:spPr>
          <a:xfrm>
            <a:off x="2535450" y="2833200"/>
            <a:ext cx="413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ubTitle" idx="3"/>
          </p:nvPr>
        </p:nvSpPr>
        <p:spPr>
          <a:xfrm>
            <a:off x="2535450" y="4044525"/>
            <a:ext cx="413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ubTitle" idx="4"/>
          </p:nvPr>
        </p:nvSpPr>
        <p:spPr>
          <a:xfrm>
            <a:off x="2535450" y="1302750"/>
            <a:ext cx="4131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ubTitle" idx="5"/>
          </p:nvPr>
        </p:nvSpPr>
        <p:spPr>
          <a:xfrm>
            <a:off x="2535450" y="3723550"/>
            <a:ext cx="4131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ubTitle" idx="6"/>
          </p:nvPr>
        </p:nvSpPr>
        <p:spPr>
          <a:xfrm>
            <a:off x="2535450" y="2513150"/>
            <a:ext cx="4131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title"/>
          </p:nvPr>
        </p:nvSpPr>
        <p:spPr>
          <a:xfrm>
            <a:off x="486150" y="212325"/>
            <a:ext cx="81717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79" name="Google Shape;79;p18" title="grad.png"/>
          <p:cNvPicPr preferRelativeResize="0"/>
          <p:nvPr/>
        </p:nvPicPr>
        <p:blipFill rotWithShape="1">
          <a:blip r:embed="rId2">
            <a:alphaModFix amt="64000"/>
          </a:blip>
          <a:srcRect l="11022" r="13739" b="8156"/>
          <a:stretch/>
        </p:blipFill>
        <p:spPr>
          <a:xfrm rot="4361546">
            <a:off x="5069624" y="2708649"/>
            <a:ext cx="6626049" cy="577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subTitle" idx="1"/>
          </p:nvPr>
        </p:nvSpPr>
        <p:spPr>
          <a:xfrm>
            <a:off x="1388993" y="1626476"/>
            <a:ext cx="27723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ubTitle" idx="2"/>
          </p:nvPr>
        </p:nvSpPr>
        <p:spPr>
          <a:xfrm>
            <a:off x="4982696" y="1626476"/>
            <a:ext cx="27723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ubTitle" idx="3"/>
          </p:nvPr>
        </p:nvSpPr>
        <p:spPr>
          <a:xfrm>
            <a:off x="1388993" y="2816631"/>
            <a:ext cx="27723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ubTitle" idx="4"/>
          </p:nvPr>
        </p:nvSpPr>
        <p:spPr>
          <a:xfrm>
            <a:off x="4982696" y="4006823"/>
            <a:ext cx="27723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ubTitle" idx="5"/>
          </p:nvPr>
        </p:nvSpPr>
        <p:spPr>
          <a:xfrm>
            <a:off x="1388990" y="4006873"/>
            <a:ext cx="27723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ubTitle" idx="6"/>
          </p:nvPr>
        </p:nvSpPr>
        <p:spPr>
          <a:xfrm>
            <a:off x="4982698" y="2816631"/>
            <a:ext cx="27723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ubTitle" idx="7"/>
          </p:nvPr>
        </p:nvSpPr>
        <p:spPr>
          <a:xfrm>
            <a:off x="1388998" y="1345450"/>
            <a:ext cx="27723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ubTitle" idx="8"/>
          </p:nvPr>
        </p:nvSpPr>
        <p:spPr>
          <a:xfrm>
            <a:off x="4982698" y="1345450"/>
            <a:ext cx="27723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ubTitle" idx="9"/>
          </p:nvPr>
        </p:nvSpPr>
        <p:spPr>
          <a:xfrm>
            <a:off x="1388988" y="3725847"/>
            <a:ext cx="27723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ubTitle" idx="13"/>
          </p:nvPr>
        </p:nvSpPr>
        <p:spPr>
          <a:xfrm>
            <a:off x="1388998" y="2535655"/>
            <a:ext cx="27723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14"/>
          </p:nvPr>
        </p:nvSpPr>
        <p:spPr>
          <a:xfrm>
            <a:off x="4982705" y="3725847"/>
            <a:ext cx="27723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15"/>
          </p:nvPr>
        </p:nvSpPr>
        <p:spPr>
          <a:xfrm>
            <a:off x="4982702" y="2535655"/>
            <a:ext cx="27723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457200" y="212325"/>
            <a:ext cx="81717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94" name="Google Shape;94;p19" title="grad.png"/>
          <p:cNvPicPr preferRelativeResize="0"/>
          <p:nvPr/>
        </p:nvPicPr>
        <p:blipFill rotWithShape="1">
          <a:blip r:embed="rId2">
            <a:alphaModFix amt="64000"/>
          </a:blip>
          <a:srcRect l="11022" r="13739" b="8156"/>
          <a:stretch/>
        </p:blipFill>
        <p:spPr>
          <a:xfrm rot="-10217320">
            <a:off x="5733322" y="-2469272"/>
            <a:ext cx="6626053" cy="57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243050" y="456638"/>
            <a:ext cx="5443500" cy="10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ubTitle" idx="1"/>
          </p:nvPr>
        </p:nvSpPr>
        <p:spPr>
          <a:xfrm>
            <a:off x="4641006" y="1310655"/>
            <a:ext cx="40458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/>
          <p:nvPr/>
        </p:nvSpPr>
        <p:spPr>
          <a:xfrm>
            <a:off x="457200" y="3847013"/>
            <a:ext cx="57573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icons,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sz="1200" b="1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61" r:id="rId10"/>
    <p:sldLayoutId id="2147483662" r:id="rId11"/>
    <p:sldLayoutId id="2147483664" r:id="rId12"/>
    <p:sldLayoutId id="2147483665" r:id="rId13"/>
    <p:sldLayoutId id="2147483667" r:id="rId14"/>
    <p:sldLayoutId id="2147483668" r:id="rId15"/>
    <p:sldLayoutId id="2147483669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>
            <a:spLocks noGrp="1"/>
          </p:cNvSpPr>
          <p:nvPr>
            <p:ph type="subTitle" idx="1"/>
          </p:nvPr>
        </p:nvSpPr>
        <p:spPr>
          <a:xfrm flipH="1">
            <a:off x="457200" y="4102190"/>
            <a:ext cx="42156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ES" dirty="0"/>
              <a:t>Evolución desde redes recurrentes hasta modelos fundacionales globales.</a:t>
            </a:r>
            <a:endParaRPr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AE1F6F0-08DC-9EA0-A139-4643A193E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30" flipH="1">
            <a:off x="457246" y="549309"/>
            <a:ext cx="7931100" cy="2430600"/>
          </a:xfrm>
        </p:spPr>
        <p:txBody>
          <a:bodyPr/>
          <a:lstStyle/>
          <a:p>
            <a:r>
              <a:rPr lang="es-ES" sz="5400" dirty="0"/>
              <a:t>Estado Actual del Aprendizaje Profundo en el Modelado Hidrológico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EA08CE3E-7013-0CBA-FAFF-AB3DDEA97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3D2845FA-709F-193E-956D-225E4028DFD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7200" y="440450"/>
            <a:ext cx="1295100" cy="7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0" name="Google Shape;190;p32">
            <a:extLst>
              <a:ext uri="{FF2B5EF4-FFF2-40B4-BE49-F238E27FC236}">
                <a16:creationId xmlns:a16="http://schemas.microsoft.com/office/drawing/2014/main" id="{5C8997C6-2250-6C58-FE5E-5BDC1F6C3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457200" y="1790900"/>
            <a:ext cx="8229600" cy="29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i="1" dirty="0"/>
              <a:t>APRENDIZAJE AUTOMÁTICO E HIDROLOGÍA DE MUESTRAS GRANDES (LSH)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26355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B7AEC346-7B06-5BF9-A067-22B37924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>
            <a:extLst>
              <a:ext uri="{FF2B5EF4-FFF2-40B4-BE49-F238E27FC236}">
                <a16:creationId xmlns:a16="http://schemas.microsoft.com/office/drawing/2014/main" id="{7EBBA3B0-738A-089C-0906-D8EACBFA1B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Inicios: De ANN a LSTM</a:t>
            </a:r>
            <a:endParaRPr dirty="0"/>
          </a:p>
        </p:txBody>
      </p:sp>
      <p:sp>
        <p:nvSpPr>
          <p:cNvPr id="245" name="Google Shape;245;p38">
            <a:extLst>
              <a:ext uri="{FF2B5EF4-FFF2-40B4-BE49-F238E27FC236}">
                <a16:creationId xmlns:a16="http://schemas.microsoft.com/office/drawing/2014/main" id="{5862E46F-C09D-CDC7-A2CC-478292ED07BA}"/>
              </a:ext>
            </a:extLst>
          </p:cNvPr>
          <p:cNvSpPr/>
          <p:nvPr/>
        </p:nvSpPr>
        <p:spPr>
          <a:xfrm>
            <a:off x="2894248" y="1311650"/>
            <a:ext cx="12573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i="1" dirty="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1990’s</a:t>
            </a:r>
            <a:endParaRPr sz="3300" i="1" dirty="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246" name="Google Shape;246;p38">
            <a:extLst>
              <a:ext uri="{FF2B5EF4-FFF2-40B4-BE49-F238E27FC236}">
                <a16:creationId xmlns:a16="http://schemas.microsoft.com/office/drawing/2014/main" id="{C97ED787-5542-4A48-103C-41503CE77C12}"/>
              </a:ext>
            </a:extLst>
          </p:cNvPr>
          <p:cNvSpPr/>
          <p:nvPr/>
        </p:nvSpPr>
        <p:spPr>
          <a:xfrm>
            <a:off x="4840347" y="1311650"/>
            <a:ext cx="1257299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i="1" dirty="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1997</a:t>
            </a:r>
            <a:endParaRPr sz="3300" i="1" dirty="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247" name="Google Shape;247;p38">
            <a:extLst>
              <a:ext uri="{FF2B5EF4-FFF2-40B4-BE49-F238E27FC236}">
                <a16:creationId xmlns:a16="http://schemas.microsoft.com/office/drawing/2014/main" id="{F998B4F9-F0E5-8018-EC92-BBD294FCD281}"/>
              </a:ext>
            </a:extLst>
          </p:cNvPr>
          <p:cNvSpPr txBox="1"/>
          <p:nvPr/>
        </p:nvSpPr>
        <p:spPr>
          <a:xfrm>
            <a:off x="2646743" y="3136550"/>
            <a:ext cx="17508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rPr>
              <a:t>ANN Tempranas</a:t>
            </a:r>
            <a:endParaRPr sz="2300" dirty="0">
              <a:solidFill>
                <a:schemeClr val="dk2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248" name="Google Shape;248;p38">
            <a:extLst>
              <a:ext uri="{FF2B5EF4-FFF2-40B4-BE49-F238E27FC236}">
                <a16:creationId xmlns:a16="http://schemas.microsoft.com/office/drawing/2014/main" id="{B382B36A-AE8F-C254-F485-6D5CAD117215}"/>
              </a:ext>
            </a:extLst>
          </p:cNvPr>
          <p:cNvSpPr txBox="1"/>
          <p:nvPr/>
        </p:nvSpPr>
        <p:spPr>
          <a:xfrm>
            <a:off x="2509735" y="3745850"/>
            <a:ext cx="2024815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Primeros estudios de lluvia-escorrentía.</a:t>
            </a:r>
            <a:endParaRPr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9" name="Google Shape;249;p38">
            <a:extLst>
              <a:ext uri="{FF2B5EF4-FFF2-40B4-BE49-F238E27FC236}">
                <a16:creationId xmlns:a16="http://schemas.microsoft.com/office/drawing/2014/main" id="{794CD586-857B-35CB-6FD9-55C923E74059}"/>
              </a:ext>
            </a:extLst>
          </p:cNvPr>
          <p:cNvSpPr txBox="1"/>
          <p:nvPr/>
        </p:nvSpPr>
        <p:spPr>
          <a:xfrm>
            <a:off x="4592851" y="3133550"/>
            <a:ext cx="17508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rPr>
              <a:t>RNN 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rPr>
              <a:t>LSTM</a:t>
            </a:r>
            <a:endParaRPr sz="2300" dirty="0">
              <a:solidFill>
                <a:schemeClr val="dk2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250" name="Google Shape;250;p38">
            <a:extLst>
              <a:ext uri="{FF2B5EF4-FFF2-40B4-BE49-F238E27FC236}">
                <a16:creationId xmlns:a16="http://schemas.microsoft.com/office/drawing/2014/main" id="{7BE1066B-DAF2-B0B4-908D-2E335A35B5B4}"/>
              </a:ext>
            </a:extLst>
          </p:cNvPr>
          <p:cNvSpPr txBox="1"/>
          <p:nvPr/>
        </p:nvSpPr>
        <p:spPr>
          <a:xfrm>
            <a:off x="4488250" y="3788063"/>
            <a:ext cx="2124262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Mejoran las típicas  arquitecturas feed-forward.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57" name="Google Shape;257;p38">
            <a:extLst>
              <a:ext uri="{FF2B5EF4-FFF2-40B4-BE49-F238E27FC236}">
                <a16:creationId xmlns:a16="http://schemas.microsoft.com/office/drawing/2014/main" id="{C070C9FF-DD53-C27B-CB13-B88361FF0662}"/>
              </a:ext>
            </a:extLst>
          </p:cNvPr>
          <p:cNvCxnSpPr>
            <a:cxnSpLocks/>
            <a:stCxn id="245" idx="2"/>
            <a:endCxn id="247" idx="0"/>
          </p:cNvCxnSpPr>
          <p:nvPr/>
        </p:nvCxnSpPr>
        <p:spPr>
          <a:xfrm flipH="1">
            <a:off x="3522143" y="1920950"/>
            <a:ext cx="755" cy="1215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8" name="Google Shape;258;p38">
            <a:extLst>
              <a:ext uri="{FF2B5EF4-FFF2-40B4-BE49-F238E27FC236}">
                <a16:creationId xmlns:a16="http://schemas.microsoft.com/office/drawing/2014/main" id="{DFFE270D-78AC-FC2F-E9ED-E50D50F9821A}"/>
              </a:ext>
            </a:extLst>
          </p:cNvPr>
          <p:cNvCxnSpPr>
            <a:cxnSpLocks/>
            <a:stCxn id="246" idx="2"/>
            <a:endCxn id="249" idx="0"/>
          </p:cNvCxnSpPr>
          <p:nvPr/>
        </p:nvCxnSpPr>
        <p:spPr>
          <a:xfrm flipH="1">
            <a:off x="5468251" y="1920950"/>
            <a:ext cx="746" cy="1212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" name="Google Shape;245;p38">
            <a:extLst>
              <a:ext uri="{FF2B5EF4-FFF2-40B4-BE49-F238E27FC236}">
                <a16:creationId xmlns:a16="http://schemas.microsoft.com/office/drawing/2014/main" id="{4659C695-D6E4-07B6-BDCB-FCEC51E94E63}"/>
              </a:ext>
            </a:extLst>
          </p:cNvPr>
          <p:cNvSpPr/>
          <p:nvPr/>
        </p:nvSpPr>
        <p:spPr>
          <a:xfrm>
            <a:off x="6897533" y="1311650"/>
            <a:ext cx="12573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i="1" dirty="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2010’s</a:t>
            </a:r>
            <a:endParaRPr sz="3300" i="1" dirty="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13" name="Google Shape;246;p38">
            <a:extLst>
              <a:ext uri="{FF2B5EF4-FFF2-40B4-BE49-F238E27FC236}">
                <a16:creationId xmlns:a16="http://schemas.microsoft.com/office/drawing/2014/main" id="{C26DE4FF-E9B3-76CD-51CF-57DDCD1C2798}"/>
              </a:ext>
            </a:extLst>
          </p:cNvPr>
          <p:cNvSpPr/>
          <p:nvPr/>
        </p:nvSpPr>
        <p:spPr>
          <a:xfrm>
            <a:off x="833946" y="1311650"/>
            <a:ext cx="1257299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i="1" dirty="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1850</a:t>
            </a:r>
            <a:endParaRPr sz="3300" i="1" dirty="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14" name="Google Shape;247;p38">
            <a:extLst>
              <a:ext uri="{FF2B5EF4-FFF2-40B4-BE49-F238E27FC236}">
                <a16:creationId xmlns:a16="http://schemas.microsoft.com/office/drawing/2014/main" id="{EC99F89D-60FA-5B56-7568-1C72A4F7562C}"/>
              </a:ext>
            </a:extLst>
          </p:cNvPr>
          <p:cNvSpPr txBox="1"/>
          <p:nvPr/>
        </p:nvSpPr>
        <p:spPr>
          <a:xfrm>
            <a:off x="6447071" y="3136550"/>
            <a:ext cx="2178845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rPr>
              <a:t>Revolución en DL en Hidrología</a:t>
            </a:r>
            <a:endParaRPr sz="2300" dirty="0">
              <a:solidFill>
                <a:schemeClr val="dk2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15" name="Google Shape;248;p38">
            <a:extLst>
              <a:ext uri="{FF2B5EF4-FFF2-40B4-BE49-F238E27FC236}">
                <a16:creationId xmlns:a16="http://schemas.microsoft.com/office/drawing/2014/main" id="{3B2DD26B-8604-4888-7703-3F1FDE9FE3F4}"/>
              </a:ext>
            </a:extLst>
          </p:cNvPr>
          <p:cNvSpPr txBox="1"/>
          <p:nvPr/>
        </p:nvSpPr>
        <p:spPr>
          <a:xfrm>
            <a:off x="6513020" y="3745850"/>
            <a:ext cx="2024815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Uso masivo de datos y modelos de aprendizaje profundo en hidrología</a:t>
            </a:r>
            <a:endParaRPr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6" name="Google Shape;249;p38">
            <a:extLst>
              <a:ext uri="{FF2B5EF4-FFF2-40B4-BE49-F238E27FC236}">
                <a16:creationId xmlns:a16="http://schemas.microsoft.com/office/drawing/2014/main" id="{99B9309B-17F2-B112-BED4-95F664E91C2E}"/>
              </a:ext>
            </a:extLst>
          </p:cNvPr>
          <p:cNvSpPr txBox="1"/>
          <p:nvPr/>
        </p:nvSpPr>
        <p:spPr>
          <a:xfrm>
            <a:off x="586450" y="3133550"/>
            <a:ext cx="17508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rPr>
              <a:t>Primeros intentos R-R</a:t>
            </a:r>
            <a:endParaRPr sz="2300" dirty="0">
              <a:solidFill>
                <a:schemeClr val="dk2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17" name="Google Shape;250;p38">
            <a:extLst>
              <a:ext uri="{FF2B5EF4-FFF2-40B4-BE49-F238E27FC236}">
                <a16:creationId xmlns:a16="http://schemas.microsoft.com/office/drawing/2014/main" id="{CE0C60D6-1C3E-4305-0391-4BF01C46FCCA}"/>
              </a:ext>
            </a:extLst>
          </p:cNvPr>
          <p:cNvSpPr txBox="1"/>
          <p:nvPr/>
        </p:nvSpPr>
        <p:spPr>
          <a:xfrm>
            <a:off x="151963" y="3753344"/>
            <a:ext cx="2577424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Predicciones de caudal a partir de eventos de precipitación mediante regresión</a:t>
            </a:r>
            <a:endParaRPr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18" name="Google Shape;257;p38">
            <a:extLst>
              <a:ext uri="{FF2B5EF4-FFF2-40B4-BE49-F238E27FC236}">
                <a16:creationId xmlns:a16="http://schemas.microsoft.com/office/drawing/2014/main" id="{D93F9895-AF3C-65A6-EC13-6D5162AD4FE4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7526183" y="1920950"/>
            <a:ext cx="10311" cy="1215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" name="Google Shape;258;p38">
            <a:extLst>
              <a:ext uri="{FF2B5EF4-FFF2-40B4-BE49-F238E27FC236}">
                <a16:creationId xmlns:a16="http://schemas.microsoft.com/office/drawing/2014/main" id="{06BA1126-59B3-F16F-1251-956FBC865262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flipH="1">
            <a:off x="1461850" y="1920950"/>
            <a:ext cx="746" cy="1212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44902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AB6E434D-C321-D750-003C-F333DFC06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FF08055C-9246-8D1B-301A-2EE0433C0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018" y="2895589"/>
            <a:ext cx="4049366" cy="1526240"/>
          </a:xfrm>
          <a:prstGeom prst="rect">
            <a:avLst/>
          </a:prstGeom>
        </p:spPr>
      </p:pic>
      <p:sp>
        <p:nvSpPr>
          <p:cNvPr id="211" name="Google Shape;211;p35">
            <a:extLst>
              <a:ext uri="{FF2B5EF4-FFF2-40B4-BE49-F238E27FC236}">
                <a16:creationId xmlns:a16="http://schemas.microsoft.com/office/drawing/2014/main" id="{821F36BB-9DB4-15F7-212C-7549149A1A4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59806" y="1735919"/>
            <a:ext cx="305457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lt1"/>
              </a:buClr>
              <a:buSzPts val="1100"/>
            </a:pPr>
            <a:r>
              <a:rPr lang="es-ES" dirty="0"/>
              <a:t>Inicio con 671 cuencas en US</a:t>
            </a:r>
          </a:p>
          <a:p>
            <a:pPr marL="0" lvl="0" indent="0">
              <a:buClr>
                <a:schemeClr val="lt1"/>
              </a:buClr>
              <a:buSzPts val="1100"/>
            </a:pPr>
            <a:r>
              <a:rPr lang="es-ES" dirty="0"/>
              <a:t>Avances pioneros en 'Large-Sample </a:t>
            </a:r>
            <a:r>
              <a:rPr lang="es-ES" dirty="0" err="1"/>
              <a:t>Hydrology</a:t>
            </a:r>
            <a:r>
              <a:rPr lang="es-ES" dirty="0"/>
              <a:t>' (EE. UU., Gran Bretaña, Chile, Brasil, Australia).</a:t>
            </a:r>
            <a:endParaRPr dirty="0"/>
          </a:p>
        </p:txBody>
      </p:sp>
      <p:sp>
        <p:nvSpPr>
          <p:cNvPr id="213" name="Google Shape;213;p35">
            <a:extLst>
              <a:ext uri="{FF2B5EF4-FFF2-40B4-BE49-F238E27FC236}">
                <a16:creationId xmlns:a16="http://schemas.microsoft.com/office/drawing/2014/main" id="{E1F118E2-0337-9134-F233-CF7767A3C48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33997" y="1359022"/>
            <a:ext cx="263091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CAMELS</a:t>
            </a:r>
            <a:endParaRPr dirty="0"/>
          </a:p>
        </p:txBody>
      </p:sp>
      <p:sp>
        <p:nvSpPr>
          <p:cNvPr id="215" name="Google Shape;215;p35">
            <a:extLst>
              <a:ext uri="{FF2B5EF4-FFF2-40B4-BE49-F238E27FC236}">
                <a16:creationId xmlns:a16="http://schemas.microsoft.com/office/drawing/2014/main" id="{8F32080A-C1CD-B750-3829-B1C48F9D693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234538" y="1359022"/>
            <a:ext cx="4131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CARAVAN</a:t>
            </a:r>
            <a:endParaRPr dirty="0"/>
          </a:p>
        </p:txBody>
      </p:sp>
      <p:sp>
        <p:nvSpPr>
          <p:cNvPr id="216" name="Google Shape;216;p35">
            <a:extLst>
              <a:ext uri="{FF2B5EF4-FFF2-40B4-BE49-F238E27FC236}">
                <a16:creationId xmlns:a16="http://schemas.microsoft.com/office/drawing/2014/main" id="{F54F2872-B3E7-4E16-0FCA-F9F7B938CE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150" y="212325"/>
            <a:ext cx="81717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DATA AVAILABILITY: FROM CAMELS TO CARAVAN</a:t>
            </a:r>
            <a:endParaRPr sz="2800" i="1" dirty="0"/>
          </a:p>
        </p:txBody>
      </p:sp>
      <p:sp>
        <p:nvSpPr>
          <p:cNvPr id="6" name="Google Shape;211;p35">
            <a:extLst>
              <a:ext uri="{FF2B5EF4-FFF2-40B4-BE49-F238E27FC236}">
                <a16:creationId xmlns:a16="http://schemas.microsoft.com/office/drawing/2014/main" id="{9BA6BE39-240B-8BB4-60C4-DB040E3C45CA}"/>
              </a:ext>
            </a:extLst>
          </p:cNvPr>
          <p:cNvSpPr txBox="1">
            <a:spLocks/>
          </p:cNvSpPr>
          <p:nvPr/>
        </p:nvSpPr>
        <p:spPr>
          <a:xfrm>
            <a:off x="4917416" y="1802066"/>
            <a:ext cx="305457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buClr>
                <a:schemeClr val="lt1"/>
              </a:buClr>
              <a:buSzPts val="1100"/>
              <a:buFont typeface="Arial"/>
              <a:buNone/>
            </a:pPr>
            <a:r>
              <a:rPr lang="es-ES" dirty="0"/>
              <a:t>Ecosistema comunitario global abierto.</a:t>
            </a:r>
          </a:p>
          <a:p>
            <a:pPr marL="0" indent="0">
              <a:buClr>
                <a:schemeClr val="lt1"/>
              </a:buClr>
              <a:buSzPts val="1100"/>
              <a:buFont typeface="Arial"/>
              <a:buNone/>
            </a:pPr>
            <a:r>
              <a:rPr lang="es-ES" dirty="0"/>
              <a:t>Estandarización de 6,830+ cuencas en varios continentes.</a:t>
            </a:r>
          </a:p>
          <a:p>
            <a:pPr marL="0" indent="0">
              <a:buClr>
                <a:schemeClr val="lt1"/>
              </a:buClr>
              <a:buSzPts val="1100"/>
              <a:buFont typeface="Arial"/>
              <a:buNone/>
            </a:pP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70DCD67-C6D0-E738-2A4B-D15F5EE1D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68" y="2706696"/>
            <a:ext cx="3264047" cy="190402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50DE2C6-D803-24EA-F7E4-FC11DDA1883B}"/>
              </a:ext>
            </a:extLst>
          </p:cNvPr>
          <p:cNvSpPr txBox="1"/>
          <p:nvPr/>
        </p:nvSpPr>
        <p:spPr>
          <a:xfrm>
            <a:off x="4917416" y="4623398"/>
            <a:ext cx="29116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 i="1" dirty="0">
                <a:solidFill>
                  <a:srgbClr val="000000"/>
                </a:solidFill>
                <a:effectLst/>
                <a:latin typeface="Arial"/>
              </a:rPr>
              <a:t>Kratzert et al., 2023</a:t>
            </a:r>
            <a:endParaRPr lang="es-ES" sz="1000" i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2FF5C9C-756D-1273-DA60-F0F923A3B36C}"/>
              </a:ext>
            </a:extLst>
          </p:cNvPr>
          <p:cNvSpPr txBox="1"/>
          <p:nvPr/>
        </p:nvSpPr>
        <p:spPr>
          <a:xfrm>
            <a:off x="793645" y="4588461"/>
            <a:ext cx="291161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 i="1" dirty="0" err="1">
                <a:solidFill>
                  <a:srgbClr val="000000"/>
                </a:solidFill>
                <a:effectLst/>
                <a:latin typeface="Arial"/>
              </a:rPr>
              <a:t>Addor</a:t>
            </a:r>
            <a:r>
              <a:rPr lang="es-ES" sz="1000" i="1" dirty="0">
                <a:solidFill>
                  <a:srgbClr val="000000"/>
                </a:solidFill>
                <a:effectLst/>
                <a:latin typeface="Arial"/>
              </a:rPr>
              <a:t> et al., 2017</a:t>
            </a:r>
            <a:endParaRPr lang="es-ES" sz="1000" i="1" dirty="0"/>
          </a:p>
        </p:txBody>
      </p:sp>
    </p:spTree>
    <p:extLst>
      <p:ext uri="{BB962C8B-B14F-4D97-AF65-F5344CB8AC3E}">
        <p14:creationId xmlns:p14="http://schemas.microsoft.com/office/powerpoint/2010/main" val="775796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8234617E-A0B0-636D-E927-076BB36B1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D7A1B95B-E419-D935-42C0-367A34C6A01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7200" y="440450"/>
            <a:ext cx="1295100" cy="7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90" name="Google Shape;190;p32">
            <a:extLst>
              <a:ext uri="{FF2B5EF4-FFF2-40B4-BE49-F238E27FC236}">
                <a16:creationId xmlns:a16="http://schemas.microsoft.com/office/drawing/2014/main" id="{05FF81C6-DEF2-CD7B-DAA6-5CFA7D1BD0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270760" y="1790900"/>
            <a:ext cx="6416040" cy="29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AVANCES EN </a:t>
            </a:r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LSTM</a:t>
            </a:r>
            <a:r>
              <a:rPr lang="en" dirty="0"/>
              <a:t> Y ARQUITECTURAS ESPECIALIZADAS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248788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5A04EDF6-8FAC-F0D2-0D9B-D8A859AB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72650525-13AA-B3E4-812E-9443AE7D0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560" y="3145272"/>
            <a:ext cx="6278880" cy="1758889"/>
          </a:xfrm>
          <a:prstGeom prst="rect">
            <a:avLst/>
          </a:prstGeom>
        </p:spPr>
      </p:pic>
      <p:sp>
        <p:nvSpPr>
          <p:cNvPr id="183" name="Google Shape;183;p31">
            <a:extLst>
              <a:ext uri="{FF2B5EF4-FFF2-40B4-BE49-F238E27FC236}">
                <a16:creationId xmlns:a16="http://schemas.microsoft.com/office/drawing/2014/main" id="{F277A56E-2AF3-3E5E-6910-7D7FABB9B7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 HITO DE LSTM EN HIDROLOGÍA</a:t>
            </a:r>
            <a:endParaRPr i="1" dirty="0"/>
          </a:p>
        </p:txBody>
      </p:sp>
      <p:pic>
        <p:nvPicPr>
          <p:cNvPr id="184" name="Google Shape;184;p31" title="Minimal Gradient by Slidesgo (2).jpg">
            <a:extLst>
              <a:ext uri="{FF2B5EF4-FFF2-40B4-BE49-F238E27FC236}">
                <a16:creationId xmlns:a16="http://schemas.microsoft.com/office/drawing/2014/main" id="{CAA668F8-6262-3AA8-5B52-3CF515695270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l="20913" r="40201" b="19910"/>
          <a:stretch/>
        </p:blipFill>
        <p:spPr>
          <a:xfrm>
            <a:off x="7573013" y="1527850"/>
            <a:ext cx="3361200" cy="3893999"/>
          </a:xfrm>
          <a:prstGeom prst="rect">
            <a:avLst/>
          </a:prstGeom>
        </p:spPr>
      </p:pic>
      <p:sp>
        <p:nvSpPr>
          <p:cNvPr id="4" name="Google Shape;211;p35">
            <a:extLst>
              <a:ext uri="{FF2B5EF4-FFF2-40B4-BE49-F238E27FC236}">
                <a16:creationId xmlns:a16="http://schemas.microsoft.com/office/drawing/2014/main" id="{B17D5CCC-1036-8857-1DBE-D9F5A282E117}"/>
              </a:ext>
            </a:extLst>
          </p:cNvPr>
          <p:cNvSpPr txBox="1">
            <a:spLocks/>
          </p:cNvSpPr>
          <p:nvPr/>
        </p:nvSpPr>
        <p:spPr>
          <a:xfrm>
            <a:off x="350520" y="2327680"/>
            <a:ext cx="28092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r>
              <a:rPr lang="es-ES" sz="1200" dirty="0"/>
              <a:t>Un solo modelo LSTM entrenado regionalmente supera a modelos conceptuales ajustados cuenca por cuenca (p. ej., SAC-SMA + Snow-17).</a:t>
            </a:r>
            <a:endParaRPr lang="en-US" sz="1200" dirty="0"/>
          </a:p>
        </p:txBody>
      </p:sp>
      <p:sp>
        <p:nvSpPr>
          <p:cNvPr id="5" name="Google Shape;213;p35">
            <a:extLst>
              <a:ext uri="{FF2B5EF4-FFF2-40B4-BE49-F238E27FC236}">
                <a16:creationId xmlns:a16="http://schemas.microsoft.com/office/drawing/2014/main" id="{E390032E-67E1-7AC9-596A-3AD81B3696B7}"/>
              </a:ext>
            </a:extLst>
          </p:cNvPr>
          <p:cNvSpPr txBox="1">
            <a:spLocks/>
          </p:cNvSpPr>
          <p:nvPr/>
        </p:nvSpPr>
        <p:spPr>
          <a:xfrm>
            <a:off x="264950" y="1860318"/>
            <a:ext cx="298038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r>
              <a:rPr lang="es-ES" sz="2200" dirty="0">
                <a:latin typeface="Viaoda Libre" panose="020B0604020202020204" charset="0"/>
              </a:rPr>
              <a:t>Modelo Regionalizado </a:t>
            </a:r>
          </a:p>
        </p:txBody>
      </p:sp>
      <p:sp>
        <p:nvSpPr>
          <p:cNvPr id="6" name="Google Shape;214;p35">
            <a:extLst>
              <a:ext uri="{FF2B5EF4-FFF2-40B4-BE49-F238E27FC236}">
                <a16:creationId xmlns:a16="http://schemas.microsoft.com/office/drawing/2014/main" id="{F09F7032-3CE6-5EB0-E7A9-9E6B88C46B6E}"/>
              </a:ext>
            </a:extLst>
          </p:cNvPr>
          <p:cNvSpPr txBox="1">
            <a:spLocks/>
          </p:cNvSpPr>
          <p:nvPr/>
        </p:nvSpPr>
        <p:spPr>
          <a:xfrm>
            <a:off x="2344950" y="1848556"/>
            <a:ext cx="41310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None/>
              <a:defRPr>
                <a:solidFill>
                  <a:schemeClr val="dk1"/>
                </a:solidFill>
                <a:latin typeface="Viaoda Libre" panose="020B0604020202020204" charset="0"/>
                <a:ea typeface="Albert Sans"/>
                <a:cs typeface="Albert Sans"/>
              </a:defRPr>
            </a:lvl1pPr>
            <a:lvl2pPr marL="9144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r>
              <a:rPr lang="es-ES" sz="2300" dirty="0"/>
              <a:t>Estado Interno</a:t>
            </a:r>
          </a:p>
        </p:txBody>
      </p:sp>
      <p:sp>
        <p:nvSpPr>
          <p:cNvPr id="7" name="Google Shape;215;p35">
            <a:extLst>
              <a:ext uri="{FF2B5EF4-FFF2-40B4-BE49-F238E27FC236}">
                <a16:creationId xmlns:a16="http://schemas.microsoft.com/office/drawing/2014/main" id="{89242B45-B96C-5ECF-E7E9-3738C588F722}"/>
              </a:ext>
            </a:extLst>
          </p:cNvPr>
          <p:cNvSpPr txBox="1">
            <a:spLocks/>
          </p:cNvSpPr>
          <p:nvPr/>
        </p:nvSpPr>
        <p:spPr>
          <a:xfrm>
            <a:off x="5721484" y="1945536"/>
            <a:ext cx="3514091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sz="2300" dirty="0">
                <a:solidFill>
                  <a:schemeClr val="dk1"/>
                </a:solidFill>
                <a:latin typeface="Viaoda Libre" panose="020B0604020202020204" charset="0"/>
              </a:rPr>
              <a:t>Requisitos de entrenamiento</a:t>
            </a:r>
          </a:p>
        </p:txBody>
      </p:sp>
      <p:sp>
        <p:nvSpPr>
          <p:cNvPr id="10" name="Google Shape;214;p35">
            <a:extLst>
              <a:ext uri="{FF2B5EF4-FFF2-40B4-BE49-F238E27FC236}">
                <a16:creationId xmlns:a16="http://schemas.microsoft.com/office/drawing/2014/main" id="{D2DD58F2-80E6-E385-9F59-DF0DB6321455}"/>
              </a:ext>
            </a:extLst>
          </p:cNvPr>
          <p:cNvSpPr txBox="1">
            <a:spLocks/>
          </p:cNvSpPr>
          <p:nvPr/>
        </p:nvSpPr>
        <p:spPr>
          <a:xfrm>
            <a:off x="1084452" y="1059505"/>
            <a:ext cx="667512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r>
              <a:rPr lang="es-ES" dirty="0" err="1"/>
              <a:t>Rainfall</a:t>
            </a:r>
            <a:r>
              <a:rPr lang="es-ES" dirty="0"/>
              <a:t>–</a:t>
            </a:r>
            <a:r>
              <a:rPr lang="es-ES" dirty="0" err="1"/>
              <a:t>runoff</a:t>
            </a:r>
            <a:r>
              <a:rPr lang="es-ES" dirty="0"/>
              <a:t> </a:t>
            </a:r>
            <a:r>
              <a:rPr lang="es-ES" dirty="0" err="1"/>
              <a:t>modelling</a:t>
            </a:r>
            <a:r>
              <a:rPr lang="es-ES" dirty="0"/>
              <a:t> </a:t>
            </a:r>
            <a:r>
              <a:rPr lang="es-ES" dirty="0" err="1"/>
              <a:t>using</a:t>
            </a:r>
            <a:r>
              <a:rPr lang="es-ES" dirty="0"/>
              <a:t> Long Short-</a:t>
            </a:r>
            <a:r>
              <a:rPr lang="es-ES" dirty="0" err="1"/>
              <a:t>Term</a:t>
            </a:r>
            <a:r>
              <a:rPr lang="es-ES" dirty="0"/>
              <a:t> Memory (LSTM) </a:t>
            </a:r>
            <a:r>
              <a:rPr lang="es-ES" dirty="0" err="1"/>
              <a:t>networks</a:t>
            </a:r>
            <a:endParaRPr lang="es-ES" dirty="0"/>
          </a:p>
        </p:txBody>
      </p:sp>
      <p:sp>
        <p:nvSpPr>
          <p:cNvPr id="12" name="Google Shape;214;p35">
            <a:extLst>
              <a:ext uri="{FF2B5EF4-FFF2-40B4-BE49-F238E27FC236}">
                <a16:creationId xmlns:a16="http://schemas.microsoft.com/office/drawing/2014/main" id="{648185C4-D975-1921-7F60-117031914D06}"/>
              </a:ext>
            </a:extLst>
          </p:cNvPr>
          <p:cNvSpPr txBox="1">
            <a:spLocks/>
          </p:cNvSpPr>
          <p:nvPr/>
        </p:nvSpPr>
        <p:spPr>
          <a:xfrm>
            <a:off x="1246002" y="1388142"/>
            <a:ext cx="6675120" cy="2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sz="1200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Kratzert et al. (2018)</a:t>
            </a:r>
          </a:p>
        </p:txBody>
      </p:sp>
      <p:sp>
        <p:nvSpPr>
          <p:cNvPr id="21" name="Google Shape;211;p35">
            <a:extLst>
              <a:ext uri="{FF2B5EF4-FFF2-40B4-BE49-F238E27FC236}">
                <a16:creationId xmlns:a16="http://schemas.microsoft.com/office/drawing/2014/main" id="{F978E120-5C2A-97BC-BFF5-3B9E8D0E047C}"/>
              </a:ext>
            </a:extLst>
          </p:cNvPr>
          <p:cNvSpPr txBox="1">
            <a:spLocks/>
          </p:cNvSpPr>
          <p:nvPr/>
        </p:nvSpPr>
        <p:spPr>
          <a:xfrm>
            <a:off x="2913337" y="2318078"/>
            <a:ext cx="3054570" cy="838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r>
              <a:rPr lang="es-ES" sz="1200" dirty="0"/>
              <a:t>Memoria interna representada por estado oculto, estado de celda y puertas. Similar a comportamiento real de cuencas</a:t>
            </a:r>
            <a:endParaRPr lang="en-US" sz="1200" dirty="0"/>
          </a:p>
        </p:txBody>
      </p:sp>
      <p:sp>
        <p:nvSpPr>
          <p:cNvPr id="23" name="Google Shape;211;p35">
            <a:extLst>
              <a:ext uri="{FF2B5EF4-FFF2-40B4-BE49-F238E27FC236}">
                <a16:creationId xmlns:a16="http://schemas.microsoft.com/office/drawing/2014/main" id="{BC48FEDC-14FC-6F9A-A2AB-FAABB7499C3D}"/>
              </a:ext>
            </a:extLst>
          </p:cNvPr>
          <p:cNvSpPr txBox="1">
            <a:spLocks/>
          </p:cNvSpPr>
          <p:nvPr/>
        </p:nvSpPr>
        <p:spPr>
          <a:xfrm>
            <a:off x="5898672" y="2318931"/>
            <a:ext cx="305457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r>
              <a:rPr lang="es-ES" sz="1200" dirty="0"/>
              <a:t>Necesidad de series históricas continuas (~15 años de datos diarios) para una adecuada generalización.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69772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2D71672C-C578-969E-902D-7B532B7DE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>
            <a:extLst>
              <a:ext uri="{FF2B5EF4-FFF2-40B4-BE49-F238E27FC236}">
                <a16:creationId xmlns:a16="http://schemas.microsoft.com/office/drawing/2014/main" id="{845BAC4F-E883-9028-DA42-E0C326E4025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57620" y="2365800"/>
            <a:ext cx="3514380" cy="1921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 dirty="0"/>
              <a:t>La CNN extrae patrones espaciales de mapas meteorológicos o de radar (2D); la LSTM procesa la secuencia temporal resultante.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 dirty="0"/>
              <a:t>Ideal para cuencas distribuidas donde la variabilidad espacial de la lluvia es crítica.</a:t>
            </a:r>
          </a:p>
        </p:txBody>
      </p:sp>
      <p:sp>
        <p:nvSpPr>
          <p:cNvPr id="230" name="Google Shape;230;p36">
            <a:extLst>
              <a:ext uri="{FF2B5EF4-FFF2-40B4-BE49-F238E27FC236}">
                <a16:creationId xmlns:a16="http://schemas.microsoft.com/office/drawing/2014/main" id="{124A2182-F5CB-B04F-D088-6A83AC18902C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1057620" y="1974000"/>
            <a:ext cx="3384061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ES" dirty="0"/>
              <a:t>CNN + LSTM (Híbrido Espacio-Temporal)</a:t>
            </a:r>
            <a:endParaRPr dirty="0"/>
          </a:p>
        </p:txBody>
      </p:sp>
      <p:sp>
        <p:nvSpPr>
          <p:cNvPr id="233" name="Google Shape;233;p36">
            <a:extLst>
              <a:ext uri="{FF2B5EF4-FFF2-40B4-BE49-F238E27FC236}">
                <a16:creationId xmlns:a16="http://schemas.microsoft.com/office/drawing/2014/main" id="{0D8773F9-CD04-7A23-49FC-31D92831D5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325"/>
            <a:ext cx="81717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ARQUITECTURAS ESPECIALIZADAS Y EXTENSIONES</a:t>
            </a:r>
            <a:endParaRPr i="1" dirty="0"/>
          </a:p>
        </p:txBody>
      </p:sp>
      <p:sp>
        <p:nvSpPr>
          <p:cNvPr id="23" name="Google Shape;223;p36">
            <a:extLst>
              <a:ext uri="{FF2B5EF4-FFF2-40B4-BE49-F238E27FC236}">
                <a16:creationId xmlns:a16="http://schemas.microsoft.com/office/drawing/2014/main" id="{5611DA55-E9F5-6BB1-B60A-70BB78BE0C27}"/>
              </a:ext>
            </a:extLst>
          </p:cNvPr>
          <p:cNvSpPr txBox="1">
            <a:spLocks/>
          </p:cNvSpPr>
          <p:nvPr/>
        </p:nvSpPr>
        <p:spPr>
          <a:xfrm>
            <a:off x="4806660" y="2365800"/>
            <a:ext cx="3514380" cy="192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buClr>
                <a:schemeClr val="lt1"/>
              </a:buClr>
              <a:buSzPts val="1100"/>
            </a:pPr>
            <a:r>
              <a:rPr lang="es-ES" dirty="0"/>
              <a:t>Separa forzamientos dinámicos (lluvia/temperatura) de atributos estáticos de la cuenca (suelo, elevación, clima)</a:t>
            </a:r>
          </a:p>
          <a:p>
            <a:pPr marL="0" indent="0">
              <a:buClr>
                <a:schemeClr val="lt1"/>
              </a:buClr>
              <a:buSzPts val="1100"/>
            </a:pPr>
            <a:endParaRPr lang="es-ES" dirty="0"/>
          </a:p>
          <a:p>
            <a:pPr marL="0" indent="0">
              <a:buClr>
                <a:schemeClr val="lt1"/>
              </a:buClr>
              <a:buSzPts val="1100"/>
            </a:pPr>
            <a:r>
              <a:rPr lang="es-ES" dirty="0"/>
              <a:t>Los atributos estáticos activan subredes específicas, permitiendo aprender similitudes entre cuencas y predecir en cuencas no aforadas (PUB)</a:t>
            </a:r>
          </a:p>
        </p:txBody>
      </p:sp>
      <p:sp>
        <p:nvSpPr>
          <p:cNvPr id="24" name="Google Shape;230;p36">
            <a:extLst>
              <a:ext uri="{FF2B5EF4-FFF2-40B4-BE49-F238E27FC236}">
                <a16:creationId xmlns:a16="http://schemas.microsoft.com/office/drawing/2014/main" id="{CF76827A-07F8-600C-51DD-805113FDDFFE}"/>
              </a:ext>
            </a:extLst>
          </p:cNvPr>
          <p:cNvSpPr txBox="1">
            <a:spLocks/>
          </p:cNvSpPr>
          <p:nvPr/>
        </p:nvSpPr>
        <p:spPr>
          <a:xfrm>
            <a:off x="4806660" y="1974000"/>
            <a:ext cx="3384061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300" b="0" i="0" u="none" strike="noStrike" cap="none" spc="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s-ES" dirty="0"/>
              <a:t>EA-LSTM (</a:t>
            </a:r>
            <a:r>
              <a:rPr lang="es-ES" dirty="0" err="1"/>
              <a:t>Entity-Aware</a:t>
            </a:r>
            <a:r>
              <a:rPr lang="es-ES" dirty="0"/>
              <a:t> LSTM)</a:t>
            </a:r>
          </a:p>
        </p:txBody>
      </p:sp>
    </p:spTree>
    <p:extLst>
      <p:ext uri="{BB962C8B-B14F-4D97-AF65-F5344CB8AC3E}">
        <p14:creationId xmlns:p14="http://schemas.microsoft.com/office/powerpoint/2010/main" val="331106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1DF4A79A-B1DC-1BCD-4360-15CFDD97A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>
            <a:extLst>
              <a:ext uri="{FF2B5EF4-FFF2-40B4-BE49-F238E27FC236}">
                <a16:creationId xmlns:a16="http://schemas.microsoft.com/office/drawing/2014/main" id="{7C089D09-B8B0-3EEC-0D0C-312456F90A9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57620" y="2365800"/>
            <a:ext cx="3514380" cy="1921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 dirty="0" err="1"/>
              <a:t>LSTMs</a:t>
            </a:r>
            <a:r>
              <a:rPr lang="es-ES" dirty="0"/>
              <a:t> locales simulan la generación de escorrentía en subcuencas; una Red Neuronal de Grafos (GNN) simula el transporte fluvial.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 dirty="0"/>
              <a:t>La GNN conecta subcuencas (nodos) mediante tramos de río (aristas) para propagar el flujo aguas abajo.</a:t>
            </a:r>
          </a:p>
        </p:txBody>
      </p:sp>
      <p:sp>
        <p:nvSpPr>
          <p:cNvPr id="230" name="Google Shape;230;p36">
            <a:extLst>
              <a:ext uri="{FF2B5EF4-FFF2-40B4-BE49-F238E27FC236}">
                <a16:creationId xmlns:a16="http://schemas.microsoft.com/office/drawing/2014/main" id="{1184EB73-74ED-F145-14EB-2CF1A78B273A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1057620" y="1778100"/>
            <a:ext cx="3384061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ES" dirty="0"/>
              <a:t>LSTM + GNN </a:t>
            </a:r>
            <a:r>
              <a:rPr lang="es-ES" dirty="0" err="1"/>
              <a:t>Routing</a:t>
            </a:r>
            <a:endParaRPr dirty="0"/>
          </a:p>
        </p:txBody>
      </p:sp>
      <p:sp>
        <p:nvSpPr>
          <p:cNvPr id="233" name="Google Shape;233;p36">
            <a:extLst>
              <a:ext uri="{FF2B5EF4-FFF2-40B4-BE49-F238E27FC236}">
                <a16:creationId xmlns:a16="http://schemas.microsoft.com/office/drawing/2014/main" id="{100A0A75-0006-4C78-D7D9-F329F32C4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325"/>
            <a:ext cx="81717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ARQUITECTURAS ESPECIALIZADAS Y EXTENSIONES</a:t>
            </a:r>
            <a:endParaRPr i="1" dirty="0"/>
          </a:p>
        </p:txBody>
      </p:sp>
      <p:sp>
        <p:nvSpPr>
          <p:cNvPr id="23" name="Google Shape;223;p36">
            <a:extLst>
              <a:ext uri="{FF2B5EF4-FFF2-40B4-BE49-F238E27FC236}">
                <a16:creationId xmlns:a16="http://schemas.microsoft.com/office/drawing/2014/main" id="{6B2D2D6F-BB5E-0B69-87BA-66B5CE648ACD}"/>
              </a:ext>
            </a:extLst>
          </p:cNvPr>
          <p:cNvSpPr txBox="1">
            <a:spLocks/>
          </p:cNvSpPr>
          <p:nvPr/>
        </p:nvSpPr>
        <p:spPr>
          <a:xfrm>
            <a:off x="4806660" y="2365800"/>
            <a:ext cx="3514380" cy="192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buClr>
                <a:schemeClr val="lt1"/>
              </a:buClr>
              <a:buSzPts val="1100"/>
            </a:pPr>
            <a:r>
              <a:rPr lang="es-ES" dirty="0"/>
              <a:t>Modela historiales lejanos a escala diaria e historiales recientes a escala horaria en una sola celda LSTM</a:t>
            </a:r>
          </a:p>
          <a:p>
            <a:pPr marL="0" indent="0">
              <a:buClr>
                <a:schemeClr val="lt1"/>
              </a:buClr>
              <a:buSzPts val="1100"/>
            </a:pPr>
            <a:endParaRPr lang="es-ES" dirty="0"/>
          </a:p>
          <a:p>
            <a:pPr marL="0" indent="0">
              <a:buClr>
                <a:schemeClr val="lt1"/>
              </a:buClr>
              <a:buSzPts val="1100"/>
            </a:pPr>
            <a:r>
              <a:rPr lang="es-ES" dirty="0"/>
              <a:t>Asimila caudal en tiempo real mediante </a:t>
            </a:r>
            <a:r>
              <a:rPr lang="es-ES" i="1" dirty="0" err="1"/>
              <a:t>masked</a:t>
            </a:r>
            <a:r>
              <a:rPr lang="es-ES" i="1" dirty="0"/>
              <a:t>-mean </a:t>
            </a:r>
            <a:r>
              <a:rPr lang="es-ES" i="1" dirty="0" err="1"/>
              <a:t>embeddings</a:t>
            </a:r>
            <a:r>
              <a:rPr lang="es-ES" dirty="0"/>
              <a:t>; si el sensor falla o la cuenca no está aforada, conmuta automáticamente a modo lluvia-escorrentía puro</a:t>
            </a:r>
          </a:p>
        </p:txBody>
      </p:sp>
      <p:sp>
        <p:nvSpPr>
          <p:cNvPr id="24" name="Google Shape;230;p36">
            <a:extLst>
              <a:ext uri="{FF2B5EF4-FFF2-40B4-BE49-F238E27FC236}">
                <a16:creationId xmlns:a16="http://schemas.microsoft.com/office/drawing/2014/main" id="{79E1203B-788D-AB5E-863D-65DBAD6AAEB7}"/>
              </a:ext>
            </a:extLst>
          </p:cNvPr>
          <p:cNvSpPr txBox="1">
            <a:spLocks/>
          </p:cNvSpPr>
          <p:nvPr/>
        </p:nvSpPr>
        <p:spPr>
          <a:xfrm>
            <a:off x="4806660" y="1974000"/>
            <a:ext cx="433734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300" b="0" i="0" u="none" strike="noStrike" cap="none" spc="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s-ES" dirty="0"/>
              <a:t>MF2LSTM (Multi-</a:t>
            </a:r>
            <a:r>
              <a:rPr lang="es-ES" dirty="0" err="1"/>
              <a:t>Frequency</a:t>
            </a:r>
            <a:r>
              <a:rPr lang="es-ES" dirty="0"/>
              <a:t> </a:t>
            </a:r>
            <a:r>
              <a:rPr lang="es-ES" dirty="0" err="1"/>
              <a:t>Masked-Forecasting</a:t>
            </a:r>
            <a:r>
              <a:rPr lang="es-ES" dirty="0"/>
              <a:t> LSTM)</a:t>
            </a:r>
          </a:p>
        </p:txBody>
      </p:sp>
    </p:spTree>
    <p:extLst>
      <p:ext uri="{BB962C8B-B14F-4D97-AF65-F5344CB8AC3E}">
        <p14:creationId xmlns:p14="http://schemas.microsoft.com/office/powerpoint/2010/main" val="3843183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82F03F0C-3D0A-3A9E-791C-0D190B6BB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>
            <a:extLst>
              <a:ext uri="{FF2B5EF4-FFF2-40B4-BE49-F238E27FC236}">
                <a16:creationId xmlns:a16="http://schemas.microsoft.com/office/drawing/2014/main" id="{4AF6EF09-BAAB-8631-87C6-38C19218EC3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01635" y="1453050"/>
            <a:ext cx="3280334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ES" dirty="0"/>
              <a:t>Google Global Flood Model (v1/v2)</a:t>
            </a:r>
            <a:endParaRPr dirty="0"/>
          </a:p>
        </p:txBody>
      </p:sp>
      <p:sp>
        <p:nvSpPr>
          <p:cNvPr id="202" name="Google Shape;202;p34">
            <a:extLst>
              <a:ext uri="{FF2B5EF4-FFF2-40B4-BE49-F238E27FC236}">
                <a16:creationId xmlns:a16="http://schemas.microsoft.com/office/drawing/2014/main" id="{E96775F9-5530-E8B4-D3CE-7A49186A3B6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62031" y="1376850"/>
            <a:ext cx="4026986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ES" dirty="0"/>
              <a:t>Modelo AIFL (ECMWF)</a:t>
            </a:r>
            <a:endParaRPr dirty="0"/>
          </a:p>
        </p:txBody>
      </p:sp>
      <p:sp>
        <p:nvSpPr>
          <p:cNvPr id="203" name="Google Shape;203;p34">
            <a:extLst>
              <a:ext uri="{FF2B5EF4-FFF2-40B4-BE49-F238E27FC236}">
                <a16:creationId xmlns:a16="http://schemas.microsoft.com/office/drawing/2014/main" id="{4EB09E9B-1EA2-58B8-63D5-A8C481E67AE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952863" y="1802550"/>
            <a:ext cx="3839165" cy="8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Uso de Mean </a:t>
            </a:r>
            <a:r>
              <a:rPr lang="es-ES" dirty="0" err="1"/>
              <a:t>Embedding</a:t>
            </a:r>
            <a:r>
              <a:rPr lang="es-ES" dirty="0"/>
              <a:t> LSTM (ME-LSTM) e integración de forzamientos de IA como </a:t>
            </a:r>
            <a:r>
              <a:rPr lang="es-ES" dirty="0" err="1"/>
              <a:t>GraphCast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Predicción operacional de inundaciones extremas en cuencas no aforadas en más de 80 países.</a:t>
            </a:r>
          </a:p>
        </p:txBody>
      </p:sp>
      <p:sp>
        <p:nvSpPr>
          <p:cNvPr id="204" name="Google Shape;204;p34">
            <a:extLst>
              <a:ext uri="{FF2B5EF4-FFF2-40B4-BE49-F238E27FC236}">
                <a16:creationId xmlns:a16="http://schemas.microsoft.com/office/drawing/2014/main" id="{D764DBD5-6547-F9A2-0E77-9474B57043AD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44398" y="1787380"/>
            <a:ext cx="3944619" cy="8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lt1"/>
              </a:buClr>
              <a:buSzPts val="1100"/>
            </a:pPr>
            <a:r>
              <a:rPr lang="es-ES" dirty="0"/>
              <a:t>Modelo LSTM global determinista entrenado en el ecosistema Caravan mediante </a:t>
            </a:r>
            <a:r>
              <a:rPr lang="es-ES" i="1" dirty="0"/>
              <a:t>transfer </a:t>
            </a:r>
            <a:r>
              <a:rPr lang="es-ES" i="1" dirty="0" err="1"/>
              <a:t>learning</a:t>
            </a:r>
            <a:r>
              <a:rPr lang="es-ES" dirty="0"/>
              <a:t> en dos etapas: preentrenamiento en ERA5-Land y ajuste (</a:t>
            </a:r>
            <a:r>
              <a:rPr lang="es-ES" i="1" dirty="0"/>
              <a:t>fine-</a:t>
            </a:r>
            <a:r>
              <a:rPr lang="es-ES" i="1" dirty="0" err="1"/>
              <a:t>tuning</a:t>
            </a:r>
            <a:r>
              <a:rPr lang="es-ES" dirty="0"/>
              <a:t>) en pronósticos operacionales IFS</a:t>
            </a:r>
            <a:endParaRPr dirty="0"/>
          </a:p>
        </p:txBody>
      </p:sp>
      <p:sp>
        <p:nvSpPr>
          <p:cNvPr id="205" name="Google Shape;205;p34">
            <a:extLst>
              <a:ext uri="{FF2B5EF4-FFF2-40B4-BE49-F238E27FC236}">
                <a16:creationId xmlns:a16="http://schemas.microsoft.com/office/drawing/2014/main" id="{3CB72478-318E-3657-9F95-96F2A29D39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325"/>
            <a:ext cx="82296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i="1" dirty="0"/>
              <a:t>ESTADO DEL ARTE ACTUAL</a:t>
            </a:r>
            <a:endParaRPr i="1" dirty="0">
              <a:latin typeface="Syne ExtraBold"/>
              <a:ea typeface="Syne ExtraBold"/>
              <a:cs typeface="Syne ExtraBold"/>
              <a:sym typeface="Syne ExtraBol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E1C1F85-939B-CAA3-AB53-4898F0DE1BF2}"/>
              </a:ext>
            </a:extLst>
          </p:cNvPr>
          <p:cNvSpPr txBox="1"/>
          <p:nvPr/>
        </p:nvSpPr>
        <p:spPr>
          <a:xfrm>
            <a:off x="1440860" y="3264751"/>
            <a:ext cx="626228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chemeClr val="lt1"/>
              </a:buClr>
              <a:buSzPts val="11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s-ES" dirty="0"/>
              <a:t>Otros modelos de Deep </a:t>
            </a:r>
            <a:r>
              <a:rPr lang="es-ES" dirty="0" err="1"/>
              <a:t>Learning</a:t>
            </a:r>
            <a:r>
              <a:rPr lang="es-ES" dirty="0"/>
              <a:t> para tareas meteorológicas específicas: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DB58DB-B53F-9D2F-7F9C-8025F50B5EF5}"/>
              </a:ext>
            </a:extLst>
          </p:cNvPr>
          <p:cNvSpPr txBox="1"/>
          <p:nvPr/>
        </p:nvSpPr>
        <p:spPr>
          <a:xfrm>
            <a:off x="920282" y="3690451"/>
            <a:ext cx="4181353" cy="83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- </a:t>
            </a:r>
            <a:r>
              <a:rPr lang="es-ES" dirty="0" err="1"/>
              <a:t>FourCastNet</a:t>
            </a:r>
            <a:r>
              <a:rPr lang="es-ES" dirty="0"/>
              <a:t>: </a:t>
            </a:r>
            <a:r>
              <a:rPr lang="es-ES" dirty="0" err="1"/>
              <a:t>Nvidia</a:t>
            </a:r>
            <a:endParaRPr lang="es-E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- Pangu: Huawei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- </a:t>
            </a:r>
            <a:r>
              <a:rPr lang="es-ES" dirty="0" err="1"/>
              <a:t>GraphCast</a:t>
            </a:r>
            <a:r>
              <a:rPr lang="es-ES" dirty="0"/>
              <a:t>: Google </a:t>
            </a:r>
            <a:r>
              <a:rPr lang="es-ES" dirty="0" err="1"/>
              <a:t>Deepmind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7135CA6-780A-B3C8-F073-D2D3A413A4D8}"/>
              </a:ext>
            </a:extLst>
          </p:cNvPr>
          <p:cNvSpPr txBox="1"/>
          <p:nvPr/>
        </p:nvSpPr>
        <p:spPr>
          <a:xfrm>
            <a:off x="4210480" y="3691457"/>
            <a:ext cx="349266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- </a:t>
            </a:r>
            <a:r>
              <a:rPr lang="es-ES" dirty="0" err="1"/>
              <a:t>FengWu</a:t>
            </a:r>
            <a:r>
              <a:rPr lang="es-ES" dirty="0"/>
              <a:t>: </a:t>
            </a:r>
            <a:r>
              <a:rPr lang="es-ES" dirty="0" err="1"/>
              <a:t>Shanghai</a:t>
            </a:r>
            <a:r>
              <a:rPr lang="es-ES" dirty="0"/>
              <a:t> Artificial </a:t>
            </a:r>
            <a:r>
              <a:rPr lang="es-ES" dirty="0" err="1"/>
              <a:t>Intelligence</a:t>
            </a:r>
            <a:r>
              <a:rPr lang="es-ES" dirty="0"/>
              <a:t> </a:t>
            </a:r>
            <a:r>
              <a:rPr lang="es-ES" dirty="0" err="1"/>
              <a:t>Laboratory</a:t>
            </a:r>
            <a:endParaRPr lang="es-E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- Stormer: UCLA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- AIFS: ECMWF</a:t>
            </a:r>
          </a:p>
        </p:txBody>
      </p:sp>
    </p:spTree>
    <p:extLst>
      <p:ext uri="{BB962C8B-B14F-4D97-AF65-F5344CB8AC3E}">
        <p14:creationId xmlns:p14="http://schemas.microsoft.com/office/powerpoint/2010/main" val="205914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4714B8DE-D732-5582-23A7-C532AD40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>
            <a:extLst>
              <a:ext uri="{FF2B5EF4-FFF2-40B4-BE49-F238E27FC236}">
                <a16:creationId xmlns:a16="http://schemas.microsoft.com/office/drawing/2014/main" id="{678562BE-A624-CB0A-D752-36DF82108CB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7200" y="440450"/>
            <a:ext cx="1295100" cy="7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90" name="Google Shape;190;p32">
            <a:extLst>
              <a:ext uri="{FF2B5EF4-FFF2-40B4-BE49-F238E27FC236}">
                <a16:creationId xmlns:a16="http://schemas.microsoft.com/office/drawing/2014/main" id="{17A9F51B-9D77-B0E6-5C87-E96AA067EC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509520" y="1768040"/>
            <a:ext cx="6200140" cy="29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MODELOS FUNDACIONALES, ADAPTACIÓN EFECTIVA Y </a:t>
            </a:r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MoE</a:t>
            </a:r>
            <a:endParaRPr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21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9EFB6E67-C611-0F70-5B88-F2E5F552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>
            <a:extLst>
              <a:ext uri="{FF2B5EF4-FFF2-40B4-BE49-F238E27FC236}">
                <a16:creationId xmlns:a16="http://schemas.microsoft.com/office/drawing/2014/main" id="{D74D2CBF-17DA-0120-8273-0C61963183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FOUNDATION MODELS</a:t>
            </a:r>
            <a:endParaRPr dirty="0"/>
          </a:p>
        </p:txBody>
      </p:sp>
      <p:sp>
        <p:nvSpPr>
          <p:cNvPr id="6" name="Google Shape;182;p31">
            <a:extLst>
              <a:ext uri="{FF2B5EF4-FFF2-40B4-BE49-F238E27FC236}">
                <a16:creationId xmlns:a16="http://schemas.microsoft.com/office/drawing/2014/main" id="{F0703309-E23D-EE82-EA5B-00CAC28CDCEB}"/>
              </a:ext>
            </a:extLst>
          </p:cNvPr>
          <p:cNvSpPr txBox="1">
            <a:spLocks/>
          </p:cNvSpPr>
          <p:nvPr/>
        </p:nvSpPr>
        <p:spPr>
          <a:xfrm>
            <a:off x="845200" y="1199375"/>
            <a:ext cx="6622400" cy="1025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273D40"/>
              </a:buClr>
              <a:buSzPts val="600"/>
            </a:pPr>
            <a:r>
              <a:rPr lang="es-ES" dirty="0">
                <a:latin typeface="Albert Sans" panose="020B0604020202020204" charset="0"/>
              </a:rPr>
              <a:t>Los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  <a:latin typeface="Albert Sans" panose="020B0604020202020204" charset="0"/>
              </a:rPr>
              <a:t>foundation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lbert Sans" panose="020B0604020202020204" charset="0"/>
              </a:rPr>
              <a:t>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  <a:latin typeface="Albert Sans" panose="020B0604020202020204" charset="0"/>
              </a:rPr>
              <a:t>models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lbert Sans" panose="020B0604020202020204" charset="0"/>
              </a:rPr>
              <a:t> </a:t>
            </a:r>
            <a:r>
              <a:rPr lang="es-ES" dirty="0">
                <a:latin typeface="Albert Sans" panose="020B0604020202020204" charset="0"/>
              </a:rPr>
              <a:t>(modelos fundacionales o de base) son sistemas de inteligencia artificial entrenados con cantidades masivas de datos generales que sirven como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lbert Sans" panose="020B0604020202020204" charset="0"/>
              </a:rPr>
              <a:t>cimiento</a:t>
            </a:r>
            <a:r>
              <a:rPr lang="es-ES" dirty="0">
                <a:latin typeface="Albert Sans" panose="020B0604020202020204" charset="0"/>
              </a:rPr>
              <a:t> para múltiples aplicaciones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Albert Sans" panose="020B0604020202020204" charset="0"/>
              </a:rPr>
              <a:t>especializadas</a:t>
            </a:r>
            <a:r>
              <a:rPr lang="es-ES" dirty="0">
                <a:latin typeface="Albert Sans" panose="020B0604020202020204" charset="0"/>
              </a:rPr>
              <a:t>.</a:t>
            </a:r>
            <a:endParaRPr lang="en-US" dirty="0">
              <a:latin typeface="Albert Sans" panose="020B0604020202020204" charset="0"/>
            </a:endParaRPr>
          </a:p>
        </p:txBody>
      </p:sp>
      <p:sp>
        <p:nvSpPr>
          <p:cNvPr id="11" name="Google Shape;202;p34">
            <a:extLst>
              <a:ext uri="{FF2B5EF4-FFF2-40B4-BE49-F238E27FC236}">
                <a16:creationId xmlns:a16="http://schemas.microsoft.com/office/drawing/2014/main" id="{ADF0F1F1-5C69-E564-EC13-F9A55B36F3B0}"/>
              </a:ext>
            </a:extLst>
          </p:cNvPr>
          <p:cNvSpPr txBox="1">
            <a:spLocks/>
          </p:cNvSpPr>
          <p:nvPr/>
        </p:nvSpPr>
        <p:spPr>
          <a:xfrm>
            <a:off x="1196056" y="2736442"/>
            <a:ext cx="1904970" cy="5807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rgbClr val="273D40"/>
              </a:buClr>
              <a:buSzPts val="600"/>
              <a:defRPr>
                <a:latin typeface="Albert Sans" panose="020B060402020202020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sz="1800" b="1" dirty="0">
                <a:solidFill>
                  <a:schemeClr val="bg1">
                    <a:lumMod val="50000"/>
                  </a:schemeClr>
                </a:solidFill>
              </a:rPr>
              <a:t>General</a:t>
            </a:r>
          </a:p>
        </p:txBody>
      </p:sp>
      <p:sp>
        <p:nvSpPr>
          <p:cNvPr id="14" name="Google Shape;202;p34">
            <a:extLst>
              <a:ext uri="{FF2B5EF4-FFF2-40B4-BE49-F238E27FC236}">
                <a16:creationId xmlns:a16="http://schemas.microsoft.com/office/drawing/2014/main" id="{49E390EB-BEF5-A5FB-0F65-D53418795294}"/>
              </a:ext>
            </a:extLst>
          </p:cNvPr>
          <p:cNvSpPr txBox="1">
            <a:spLocks/>
          </p:cNvSpPr>
          <p:nvPr/>
        </p:nvSpPr>
        <p:spPr>
          <a:xfrm>
            <a:off x="3605718" y="2736442"/>
            <a:ext cx="1904970" cy="5807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rgbClr val="273D40"/>
              </a:buClr>
              <a:buSzPts val="600"/>
              <a:defRPr>
                <a:latin typeface="Albert Sans" panose="020B060402020202020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sz="1800" b="1" dirty="0">
                <a:solidFill>
                  <a:schemeClr val="bg1">
                    <a:lumMod val="50000"/>
                  </a:schemeClr>
                </a:solidFill>
              </a:rPr>
              <a:t>Time-Series</a:t>
            </a:r>
          </a:p>
        </p:txBody>
      </p:sp>
      <p:sp>
        <p:nvSpPr>
          <p:cNvPr id="16" name="Google Shape;202;p34">
            <a:extLst>
              <a:ext uri="{FF2B5EF4-FFF2-40B4-BE49-F238E27FC236}">
                <a16:creationId xmlns:a16="http://schemas.microsoft.com/office/drawing/2014/main" id="{914AC8F6-0660-0543-EE91-79194B5D8B89}"/>
              </a:ext>
            </a:extLst>
          </p:cNvPr>
          <p:cNvSpPr txBox="1">
            <a:spLocks/>
          </p:cNvSpPr>
          <p:nvPr/>
        </p:nvSpPr>
        <p:spPr>
          <a:xfrm>
            <a:off x="5897386" y="2679024"/>
            <a:ext cx="2480576" cy="5807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rgbClr val="273D40"/>
              </a:buClr>
              <a:buSzPts val="600"/>
              <a:defRPr>
                <a:latin typeface="Albert Sans" panose="020B060402020202020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sz="1800" b="1" dirty="0">
                <a:solidFill>
                  <a:schemeClr val="bg1">
                    <a:lumMod val="50000"/>
                  </a:schemeClr>
                </a:solidFill>
              </a:rPr>
              <a:t>Earth </a:t>
            </a:r>
            <a:r>
              <a:rPr lang="es-ES" sz="1800" b="1" dirty="0" err="1">
                <a:solidFill>
                  <a:schemeClr val="bg1">
                    <a:lumMod val="50000"/>
                  </a:schemeClr>
                </a:solidFill>
              </a:rPr>
              <a:t>System</a:t>
            </a:r>
            <a:r>
              <a:rPr lang="es-ES" sz="1800" b="1" dirty="0">
                <a:solidFill>
                  <a:schemeClr val="bg1">
                    <a:lumMod val="50000"/>
                  </a:schemeClr>
                </a:solidFill>
              </a:rPr>
              <a:t> and Weather</a:t>
            </a:r>
          </a:p>
        </p:txBody>
      </p:sp>
      <p:sp>
        <p:nvSpPr>
          <p:cNvPr id="17" name="Google Shape;182;p31">
            <a:extLst>
              <a:ext uri="{FF2B5EF4-FFF2-40B4-BE49-F238E27FC236}">
                <a16:creationId xmlns:a16="http://schemas.microsoft.com/office/drawing/2014/main" id="{CF7D9A3D-9A8D-B675-52B9-E772F3EC6C8C}"/>
              </a:ext>
            </a:extLst>
          </p:cNvPr>
          <p:cNvSpPr txBox="1">
            <a:spLocks/>
          </p:cNvSpPr>
          <p:nvPr/>
        </p:nvSpPr>
        <p:spPr>
          <a:xfrm>
            <a:off x="1263983" y="3259752"/>
            <a:ext cx="1563037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41300" indent="-215900"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en-US" dirty="0">
                <a:latin typeface="Albert Sans" panose="020B0604020202020204" charset="0"/>
              </a:rPr>
              <a:t>BERT</a:t>
            </a:r>
          </a:p>
          <a:p>
            <a:pPr marL="241300" indent="-215900"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en-US" dirty="0">
                <a:latin typeface="Albert Sans" panose="020B0604020202020204" charset="0"/>
              </a:rPr>
              <a:t>GPT</a:t>
            </a:r>
          </a:p>
        </p:txBody>
      </p:sp>
      <p:sp>
        <p:nvSpPr>
          <p:cNvPr id="19" name="Google Shape;182;p31">
            <a:extLst>
              <a:ext uri="{FF2B5EF4-FFF2-40B4-BE49-F238E27FC236}">
                <a16:creationId xmlns:a16="http://schemas.microsoft.com/office/drawing/2014/main" id="{585BB8C5-EF7D-FF29-F460-04AAEFDEB3BD}"/>
              </a:ext>
            </a:extLst>
          </p:cNvPr>
          <p:cNvSpPr txBox="1">
            <a:spLocks/>
          </p:cNvSpPr>
          <p:nvPr/>
        </p:nvSpPr>
        <p:spPr>
          <a:xfrm>
            <a:off x="3460129" y="3299425"/>
            <a:ext cx="2223742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41300" indent="-215900"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en-US" dirty="0">
                <a:solidFill>
                  <a:schemeClr val="dk1"/>
                </a:solidFill>
                <a:latin typeface="Albert Sans"/>
              </a:rPr>
              <a:t>Amazon Chronos-2</a:t>
            </a:r>
          </a:p>
          <a:p>
            <a:pPr marL="241300" indent="-215900"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en-US" dirty="0">
                <a:latin typeface="Albert Sans" panose="020B0604020202020204" charset="0"/>
              </a:rPr>
              <a:t>Google </a:t>
            </a:r>
            <a:r>
              <a:rPr lang="en-US" dirty="0" err="1">
                <a:latin typeface="Albert Sans" panose="020B0604020202020204" charset="0"/>
              </a:rPr>
              <a:t>TimesFM</a:t>
            </a:r>
            <a:endParaRPr lang="en-US" dirty="0">
              <a:latin typeface="Albert Sans" panose="020B0604020202020204" charset="0"/>
            </a:endParaRPr>
          </a:p>
        </p:txBody>
      </p:sp>
      <p:sp>
        <p:nvSpPr>
          <p:cNvPr id="21" name="Google Shape;182;p31">
            <a:extLst>
              <a:ext uri="{FF2B5EF4-FFF2-40B4-BE49-F238E27FC236}">
                <a16:creationId xmlns:a16="http://schemas.microsoft.com/office/drawing/2014/main" id="{55B2498A-2CF7-26AA-ACFA-C9121B4BF47F}"/>
              </a:ext>
            </a:extLst>
          </p:cNvPr>
          <p:cNvSpPr txBox="1">
            <a:spLocks/>
          </p:cNvSpPr>
          <p:nvPr/>
        </p:nvSpPr>
        <p:spPr>
          <a:xfrm>
            <a:off x="5897386" y="3299425"/>
            <a:ext cx="2957247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41300" indent="-215900"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en-US" dirty="0">
                <a:latin typeface="Albert Sans" panose="020B0604020202020204" charset="0"/>
              </a:rPr>
              <a:t>Aurora (Microsoft)</a:t>
            </a:r>
          </a:p>
          <a:p>
            <a:pPr marL="241300" indent="-215900"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en-US" dirty="0">
                <a:latin typeface="Albert Sans" panose="020B0604020202020204" charset="0"/>
              </a:rPr>
              <a:t>Prithvi </a:t>
            </a:r>
            <a:r>
              <a:rPr lang="en-US" dirty="0" err="1">
                <a:latin typeface="Albert Sans" panose="020B0604020202020204" charset="0"/>
              </a:rPr>
              <a:t>WxC</a:t>
            </a:r>
            <a:r>
              <a:rPr lang="en-US" dirty="0">
                <a:latin typeface="Albert Sans" panose="020B0604020202020204" charset="0"/>
              </a:rPr>
              <a:t> (NASA/IBM)</a:t>
            </a:r>
          </a:p>
        </p:txBody>
      </p:sp>
    </p:spTree>
    <p:extLst>
      <p:ext uri="{BB962C8B-B14F-4D97-AF65-F5344CB8AC3E}">
        <p14:creationId xmlns:p14="http://schemas.microsoft.com/office/powerpoint/2010/main" val="815329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47B95B70-D6F6-4E9F-8D36-2B74A8230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>
            <a:extLst>
              <a:ext uri="{FF2B5EF4-FFF2-40B4-BE49-F238E27FC236}">
                <a16:creationId xmlns:a16="http://schemas.microsoft.com/office/drawing/2014/main" id="{C02EC586-E310-2010-F796-FC14E1553E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697372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EARTH SYSTEM &amp; WEATHER FOUNDATION MODEL</a:t>
            </a:r>
            <a:endParaRPr lang="en-US" i="1" dirty="0"/>
          </a:p>
        </p:txBody>
      </p:sp>
      <p:pic>
        <p:nvPicPr>
          <p:cNvPr id="184" name="Google Shape;184;p31" title="Minimal Gradient by Slidesgo (2).jpg">
            <a:extLst>
              <a:ext uri="{FF2B5EF4-FFF2-40B4-BE49-F238E27FC236}">
                <a16:creationId xmlns:a16="http://schemas.microsoft.com/office/drawing/2014/main" id="{7B892F9D-00A4-388C-88C6-93988FE163A2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913" r="40201" b="1991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4" name="Google Shape;211;p35">
            <a:extLst>
              <a:ext uri="{FF2B5EF4-FFF2-40B4-BE49-F238E27FC236}">
                <a16:creationId xmlns:a16="http://schemas.microsoft.com/office/drawing/2014/main" id="{871F719A-363A-ABE6-310E-3A75E2B0A678}"/>
              </a:ext>
            </a:extLst>
          </p:cNvPr>
          <p:cNvSpPr txBox="1">
            <a:spLocks/>
          </p:cNvSpPr>
          <p:nvPr/>
        </p:nvSpPr>
        <p:spPr>
          <a:xfrm>
            <a:off x="893104" y="2418285"/>
            <a:ext cx="3541584" cy="2215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pPr lvl="0" algn="just"/>
            <a:r>
              <a:rPr lang="es-ES" b="1" dirty="0"/>
              <a:t>Arquitectura</a:t>
            </a:r>
            <a:r>
              <a:rPr lang="es-ES" dirty="0"/>
              <a:t>: 1.3B de parámetros basada en 3D Swin </a:t>
            </a:r>
            <a:r>
              <a:rPr lang="es-ES" dirty="0" err="1"/>
              <a:t>Transformer</a:t>
            </a:r>
            <a:r>
              <a:rPr lang="es-ES" dirty="0"/>
              <a:t> U-Net.</a:t>
            </a:r>
          </a:p>
          <a:p>
            <a:pPr lvl="0" algn="just"/>
            <a:r>
              <a:rPr lang="es-ES" b="1" dirty="0"/>
              <a:t>Preentrenamiento</a:t>
            </a:r>
            <a:r>
              <a:rPr lang="es-ES" dirty="0"/>
              <a:t>: &gt;1 millón de horas de datos geofísicos e </a:t>
            </a:r>
            <a:r>
              <a:rPr lang="es-ES" dirty="0" err="1"/>
              <a:t>interdominio</a:t>
            </a:r>
            <a:r>
              <a:rPr lang="es-ES" dirty="0"/>
              <a:t> (ERA5, IFS, CORDEX).</a:t>
            </a:r>
          </a:p>
          <a:p>
            <a:pPr lvl="0" algn="just"/>
            <a:r>
              <a:rPr lang="es-ES" b="1" dirty="0"/>
              <a:t>Enfoque</a:t>
            </a:r>
            <a:r>
              <a:rPr lang="es-ES" dirty="0"/>
              <a:t>: Pronóstico meteorológico global, calidad del aire, dinámica de olas y seguimiento de huracanes</a:t>
            </a:r>
          </a:p>
        </p:txBody>
      </p:sp>
      <p:sp>
        <p:nvSpPr>
          <p:cNvPr id="5" name="Google Shape;213;p35">
            <a:extLst>
              <a:ext uri="{FF2B5EF4-FFF2-40B4-BE49-F238E27FC236}">
                <a16:creationId xmlns:a16="http://schemas.microsoft.com/office/drawing/2014/main" id="{9A8091D2-FD38-FCCD-E410-5BE646FBFC22}"/>
              </a:ext>
            </a:extLst>
          </p:cNvPr>
          <p:cNvSpPr txBox="1">
            <a:spLocks/>
          </p:cNvSpPr>
          <p:nvPr/>
        </p:nvSpPr>
        <p:spPr>
          <a:xfrm>
            <a:off x="1173706" y="1830308"/>
            <a:ext cx="298038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r>
              <a:rPr lang="es-ES" sz="2800" dirty="0">
                <a:latin typeface="Viaoda Libre" panose="020B0604020202020204" charset="0"/>
              </a:rPr>
              <a:t>Microsoft Aurora</a:t>
            </a:r>
            <a:endParaRPr lang="es-ES" sz="2300" dirty="0">
              <a:latin typeface="Viaoda Libre" panose="020B0604020202020204" charset="0"/>
            </a:endParaRPr>
          </a:p>
        </p:txBody>
      </p:sp>
      <p:sp>
        <p:nvSpPr>
          <p:cNvPr id="3" name="Google Shape;213;p35">
            <a:extLst>
              <a:ext uri="{FF2B5EF4-FFF2-40B4-BE49-F238E27FC236}">
                <a16:creationId xmlns:a16="http://schemas.microsoft.com/office/drawing/2014/main" id="{4CCBD2E6-DB2C-D00F-B6F4-130588E00E45}"/>
              </a:ext>
            </a:extLst>
          </p:cNvPr>
          <p:cNvSpPr txBox="1">
            <a:spLocks/>
          </p:cNvSpPr>
          <p:nvPr/>
        </p:nvSpPr>
        <p:spPr>
          <a:xfrm>
            <a:off x="4491399" y="1830308"/>
            <a:ext cx="4373654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r>
              <a:rPr lang="es-ES" sz="2800" dirty="0">
                <a:latin typeface="Viaoda Libre" panose="020B0604020202020204" charset="0"/>
              </a:rPr>
              <a:t>NASA / IBM Prithvi </a:t>
            </a:r>
            <a:r>
              <a:rPr lang="es-ES" sz="2800" dirty="0" err="1">
                <a:latin typeface="Viaoda Libre" panose="020B0604020202020204" charset="0"/>
              </a:rPr>
              <a:t>WxC</a:t>
            </a:r>
            <a:endParaRPr lang="es-ES" sz="2300" dirty="0">
              <a:latin typeface="Viaoda Libre" panose="020B0604020202020204" charset="0"/>
            </a:endParaRPr>
          </a:p>
        </p:txBody>
      </p:sp>
      <p:sp>
        <p:nvSpPr>
          <p:cNvPr id="14" name="Google Shape;211;p35">
            <a:extLst>
              <a:ext uri="{FF2B5EF4-FFF2-40B4-BE49-F238E27FC236}">
                <a16:creationId xmlns:a16="http://schemas.microsoft.com/office/drawing/2014/main" id="{37440951-4008-CFA8-6DC9-720DBCF390A7}"/>
              </a:ext>
            </a:extLst>
          </p:cNvPr>
          <p:cNvSpPr txBox="1">
            <a:spLocks/>
          </p:cNvSpPr>
          <p:nvPr/>
        </p:nvSpPr>
        <p:spPr>
          <a:xfrm>
            <a:off x="4709314" y="2418285"/>
            <a:ext cx="3937824" cy="2215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lt1"/>
              </a:buClr>
              <a:buSzPts val="1100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pPr lvl="0" algn="just"/>
            <a:r>
              <a:rPr lang="es-ES" b="1" dirty="0"/>
              <a:t>Arquitectura: </a:t>
            </a:r>
            <a:r>
              <a:rPr lang="es-ES" dirty="0"/>
              <a:t>2.3B de parámetros basada en Vision </a:t>
            </a:r>
            <a:r>
              <a:rPr lang="es-ES" dirty="0" err="1"/>
              <a:t>Transformer</a:t>
            </a:r>
            <a:r>
              <a:rPr lang="es-ES" dirty="0"/>
              <a:t> (</a:t>
            </a:r>
            <a:r>
              <a:rPr lang="es-ES" dirty="0" err="1"/>
              <a:t>ViT</a:t>
            </a:r>
            <a:r>
              <a:rPr lang="es-ES" dirty="0"/>
              <a:t>).</a:t>
            </a:r>
          </a:p>
          <a:p>
            <a:pPr lvl="0" algn="just"/>
            <a:r>
              <a:rPr lang="es-ES" b="1" dirty="0"/>
              <a:t>Preentrenamiento</a:t>
            </a:r>
            <a:r>
              <a:rPr lang="es-ES" dirty="0"/>
              <a:t>: 40 años de reanálisis MERRA-2 (160 variables atmosféricas globales a 0.5° × 0.625° y resolución de 3h).</a:t>
            </a:r>
          </a:p>
          <a:p>
            <a:pPr lvl="0" algn="just"/>
            <a:r>
              <a:rPr lang="es-ES" b="1" dirty="0"/>
              <a:t>Aplicaciones </a:t>
            </a:r>
            <a:r>
              <a:rPr lang="es-ES" b="1" dirty="0" err="1"/>
              <a:t>Downstream</a:t>
            </a:r>
            <a:r>
              <a:rPr lang="es-ES" dirty="0"/>
              <a:t>: </a:t>
            </a:r>
            <a:r>
              <a:rPr lang="es-ES" i="1" dirty="0" err="1"/>
              <a:t>Downscaling</a:t>
            </a:r>
            <a:r>
              <a:rPr lang="es-ES" dirty="0"/>
              <a:t> climático, estimación de eventos extremos</a:t>
            </a:r>
          </a:p>
        </p:txBody>
      </p:sp>
    </p:spTree>
    <p:extLst>
      <p:ext uri="{BB962C8B-B14F-4D97-AF65-F5344CB8AC3E}">
        <p14:creationId xmlns:p14="http://schemas.microsoft.com/office/powerpoint/2010/main" val="4278330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881BA62D-9FF5-C3B1-37F6-98C23CF88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>
            <a:extLst>
              <a:ext uri="{FF2B5EF4-FFF2-40B4-BE49-F238E27FC236}">
                <a16:creationId xmlns:a16="http://schemas.microsoft.com/office/drawing/2014/main" id="{6621254F-4A13-773B-D304-9A4C30DAE86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13898" y="1961445"/>
            <a:ext cx="377388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ES" dirty="0"/>
              <a:t>Adaptación Eficiente de Parámetros (PEFT)</a:t>
            </a:r>
            <a:endParaRPr dirty="0"/>
          </a:p>
        </p:txBody>
      </p:sp>
      <p:sp>
        <p:nvSpPr>
          <p:cNvPr id="204" name="Google Shape;204;p34">
            <a:extLst>
              <a:ext uri="{FF2B5EF4-FFF2-40B4-BE49-F238E27FC236}">
                <a16:creationId xmlns:a16="http://schemas.microsoft.com/office/drawing/2014/main" id="{C995EECF-7206-A087-746F-F00FDAE9A30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418316" y="2348694"/>
            <a:ext cx="3862084" cy="258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dirty="0">
                <a:sym typeface="Arial"/>
              </a:rPr>
              <a:t>Arquitectura modular de subredes especializadas y una red de enrutamiento dinámico que activa expertos según la entrada</a:t>
            </a:r>
          </a:p>
          <a:p>
            <a:endParaRPr lang="es-ES" dirty="0">
              <a:sym typeface="Arial"/>
            </a:endParaRPr>
          </a:p>
          <a:p>
            <a:r>
              <a:rPr lang="es-ES" dirty="0">
                <a:sym typeface="Arial"/>
              </a:rPr>
              <a:t>En lugar de que un solo modelo intente predecir el comportamiento de una cuenca en todas las condiciones posibles (sequías, inundaciones, deshielo), </a:t>
            </a:r>
            <a:r>
              <a:rPr lang="es-ES" dirty="0" err="1">
                <a:sym typeface="Arial"/>
              </a:rPr>
              <a:t>MoE</a:t>
            </a:r>
            <a:r>
              <a:rPr lang="es-ES" dirty="0">
                <a:sym typeface="Arial"/>
              </a:rPr>
              <a:t> utiliza varios modelos que se complementan entre sí.</a:t>
            </a:r>
          </a:p>
        </p:txBody>
      </p:sp>
      <p:sp>
        <p:nvSpPr>
          <p:cNvPr id="205" name="Google Shape;205;p34">
            <a:extLst>
              <a:ext uri="{FF2B5EF4-FFF2-40B4-BE49-F238E27FC236}">
                <a16:creationId xmlns:a16="http://schemas.microsoft.com/office/drawing/2014/main" id="{DE31EFBE-C834-4068-EFF4-776CFAF4BA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325"/>
            <a:ext cx="82296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1"/>
              </a:buClr>
              <a:buSzPts val="1100"/>
            </a:pPr>
            <a:r>
              <a:rPr lang="es-ES" dirty="0"/>
              <a:t>Ajuste Fino y Mezcla de Expertos</a:t>
            </a:r>
            <a:endParaRPr i="1" dirty="0">
              <a:latin typeface="Syne ExtraBold"/>
              <a:ea typeface="Syne ExtraBold"/>
              <a:cs typeface="Syne ExtraBold"/>
              <a:sym typeface="Syne ExtraBold"/>
            </a:endParaRPr>
          </a:p>
        </p:txBody>
      </p:sp>
      <p:sp>
        <p:nvSpPr>
          <p:cNvPr id="6" name="Google Shape;202;p34">
            <a:extLst>
              <a:ext uri="{FF2B5EF4-FFF2-40B4-BE49-F238E27FC236}">
                <a16:creationId xmlns:a16="http://schemas.microsoft.com/office/drawing/2014/main" id="{7758ED85-2BBA-8276-9965-83872E153C90}"/>
              </a:ext>
            </a:extLst>
          </p:cNvPr>
          <p:cNvSpPr txBox="1">
            <a:spLocks/>
          </p:cNvSpPr>
          <p:nvPr/>
        </p:nvSpPr>
        <p:spPr>
          <a:xfrm>
            <a:off x="4690486" y="1844227"/>
            <a:ext cx="377388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300" b="0" i="0" u="none" strike="noStrike" cap="none" spc="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s-ES" dirty="0"/>
              <a:t>Mixture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Experts</a:t>
            </a:r>
            <a:r>
              <a:rPr lang="es-ES" dirty="0"/>
              <a:t> (</a:t>
            </a:r>
            <a:r>
              <a:rPr lang="es-ES" dirty="0" err="1"/>
              <a:t>MoE</a:t>
            </a:r>
            <a:r>
              <a:rPr lang="es-ES" dirty="0"/>
              <a:t>)</a:t>
            </a:r>
          </a:p>
        </p:txBody>
      </p:sp>
      <p:sp>
        <p:nvSpPr>
          <p:cNvPr id="8" name="Google Shape;204;p34">
            <a:extLst>
              <a:ext uri="{FF2B5EF4-FFF2-40B4-BE49-F238E27FC236}">
                <a16:creationId xmlns:a16="http://schemas.microsoft.com/office/drawing/2014/main" id="{671E3356-E3DD-60EE-3CBF-98C2949555A9}"/>
              </a:ext>
            </a:extLst>
          </p:cNvPr>
          <p:cNvSpPr txBox="1">
            <a:spLocks/>
          </p:cNvSpPr>
          <p:nvPr/>
        </p:nvSpPr>
        <p:spPr>
          <a:xfrm>
            <a:off x="302452" y="2469344"/>
            <a:ext cx="4016834" cy="156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s-ES" dirty="0"/>
              <a:t>Estrategia de adaptación que optimiza únicamente un mínimo de parámetros mientras mantiene congelados los pesos del modelo fundacional </a:t>
            </a:r>
          </a:p>
          <a:p>
            <a:endParaRPr lang="es-ES" dirty="0"/>
          </a:p>
          <a:p>
            <a:r>
              <a:rPr lang="es-ES" dirty="0"/>
              <a:t>Técnicas como </a:t>
            </a:r>
            <a:r>
              <a:rPr lang="es-ES" dirty="0" err="1"/>
              <a:t>LoRA</a:t>
            </a:r>
            <a:r>
              <a:rPr lang="es-ES" dirty="0"/>
              <a:t> y </a:t>
            </a:r>
            <a:r>
              <a:rPr lang="es-ES" b="1" dirty="0" err="1"/>
              <a:t>WeatherPEFT</a:t>
            </a:r>
            <a:endParaRPr lang="es-ES" b="1" dirty="0"/>
          </a:p>
          <a:p>
            <a:endParaRPr lang="es-ES" dirty="0"/>
          </a:p>
          <a:p>
            <a:r>
              <a:rPr lang="es-ES" dirty="0"/>
              <a:t>Permiten adaptar modelos fundacionales gigantes con solo un 0.3% – 4% de parámetros </a:t>
            </a:r>
            <a:r>
              <a:rPr lang="es-ES" dirty="0" err="1"/>
              <a:t>entrenables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273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C3DBF453-532A-E217-A83F-C89413414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>
            <a:extLst>
              <a:ext uri="{FF2B5EF4-FFF2-40B4-BE49-F238E27FC236}">
                <a16:creationId xmlns:a16="http://schemas.microsoft.com/office/drawing/2014/main" id="{4AD2C67E-99D8-7F2B-D62D-E7D1DE3E36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i="1" dirty="0"/>
              <a:t>PREGUNTAS DE TESIS</a:t>
            </a:r>
            <a:endParaRPr i="1" dirty="0"/>
          </a:p>
        </p:txBody>
      </p:sp>
      <p:pic>
        <p:nvPicPr>
          <p:cNvPr id="184" name="Google Shape;184;p31" title="Minimal Gradient by Slidesgo (2).jpg">
            <a:extLst>
              <a:ext uri="{FF2B5EF4-FFF2-40B4-BE49-F238E27FC236}">
                <a16:creationId xmlns:a16="http://schemas.microsoft.com/office/drawing/2014/main" id="{A1FAF4F9-1B98-2829-D4F3-61955FE6941E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913" r="40201" b="1991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4" name="Google Shape;175;p30">
            <a:extLst>
              <a:ext uri="{FF2B5EF4-FFF2-40B4-BE49-F238E27FC236}">
                <a16:creationId xmlns:a16="http://schemas.microsoft.com/office/drawing/2014/main" id="{88F7EC64-825D-4FD3-B0D0-FD268B2746E0}"/>
              </a:ext>
            </a:extLst>
          </p:cNvPr>
          <p:cNvSpPr txBox="1">
            <a:spLocks/>
          </p:cNvSpPr>
          <p:nvPr/>
        </p:nvSpPr>
        <p:spPr>
          <a:xfrm>
            <a:off x="325279" y="1019584"/>
            <a:ext cx="6693865" cy="358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indent="-317500" algn="ctr">
              <a:buClr>
                <a:schemeClr val="dk1"/>
              </a:buClr>
              <a:buSzPts val="1400"/>
              <a:buFont typeface="Albert Sans"/>
              <a:buNone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pPr algn="l"/>
            <a:r>
              <a:rPr lang="es-ES" sz="1200" dirty="0"/>
              <a:t>¿Cuál es el valor agregado de usar un Modelo Fundacional (</a:t>
            </a:r>
            <a:r>
              <a:rPr lang="es-ES" sz="1200" dirty="0" err="1"/>
              <a:t>e.g</a:t>
            </a:r>
            <a:r>
              <a:rPr lang="es-ES" sz="1200" dirty="0"/>
              <a:t>., Aurora o Prithvi) frente a pronósticos numéricos tradicionales (IFS)? ¿Se usará un LSTM para entrenar y luego en predicciones (como en UGB) se usará el MF, o este será parte del entreno también?</a:t>
            </a:r>
          </a:p>
          <a:p>
            <a:pPr algn="l"/>
            <a:endParaRPr lang="es-ES" sz="1200" dirty="0">
              <a:sym typeface="Albert Sans"/>
            </a:endParaRPr>
          </a:p>
          <a:p>
            <a:pPr algn="l"/>
            <a:r>
              <a:rPr lang="es-ES" sz="1200" dirty="0"/>
              <a:t>La resolución nativa de Aurora (0.1°) ¿limita el tamaño mínimo de las cuencas de estudio o deberíamos integrar un módulo de </a:t>
            </a:r>
            <a:r>
              <a:rPr lang="es-ES" sz="1200" i="1" dirty="0" err="1"/>
              <a:t>downscaling</a:t>
            </a:r>
            <a:r>
              <a:rPr lang="es-ES" sz="1200" dirty="0"/>
              <a:t> previo para cuencas pequeñas y medianas?</a:t>
            </a:r>
          </a:p>
          <a:p>
            <a:pPr algn="l"/>
            <a:endParaRPr lang="es-ES" sz="1200" dirty="0">
              <a:sym typeface="Albert Sans"/>
            </a:endParaRPr>
          </a:p>
          <a:p>
            <a:pPr algn="l"/>
            <a:r>
              <a:rPr lang="es-ES" sz="1200" dirty="0"/>
              <a:t>Dado el alto costo computacional, ¿usaremos métodos de adaptación eficiente (</a:t>
            </a:r>
            <a:r>
              <a:rPr lang="es-ES" sz="1200" dirty="0" err="1"/>
              <a:t>LoRA</a:t>
            </a:r>
            <a:r>
              <a:rPr lang="es-ES" sz="1200" dirty="0"/>
              <a:t> o </a:t>
            </a:r>
            <a:r>
              <a:rPr lang="es-ES" sz="1200" dirty="0" err="1"/>
              <a:t>WeatherPEFT</a:t>
            </a:r>
            <a:r>
              <a:rPr lang="es-ES" sz="1200" dirty="0"/>
              <a:t>) y cuál será el objetivo del </a:t>
            </a:r>
            <a:r>
              <a:rPr lang="es-ES" sz="1200" i="1" dirty="0"/>
              <a:t>fine-</a:t>
            </a:r>
            <a:r>
              <a:rPr lang="es-ES" sz="1200" i="1" dirty="0" err="1"/>
              <a:t>tuning</a:t>
            </a:r>
            <a:r>
              <a:rPr lang="es-ES" sz="1200" dirty="0"/>
              <a:t>? ¿En caso de hacerlo habrían recursos computacionales disponibles?</a:t>
            </a:r>
          </a:p>
          <a:p>
            <a:pPr algn="l"/>
            <a:endParaRPr lang="es-ES" sz="1200" dirty="0">
              <a:sym typeface="Albert Sans"/>
            </a:endParaRPr>
          </a:p>
          <a:p>
            <a:pPr algn="l"/>
            <a:r>
              <a:rPr lang="es-ES" sz="1200" dirty="0"/>
              <a:t>Para traducir los campos 2D del modelo fundacional a caudal puntual, ¿qué arquitectura conviene priorizar (EA-LSTM, CNN+LSTM o GNN) y nos enfocaremos en la generalización para cuencas no aforadas?</a:t>
            </a:r>
          </a:p>
          <a:p>
            <a:pPr algn="l"/>
            <a:endParaRPr lang="es-ES" sz="1200" dirty="0"/>
          </a:p>
          <a:p>
            <a:pPr algn="l"/>
            <a:r>
              <a:rPr lang="es-ES" sz="1200" dirty="0"/>
              <a:t>¿El enfoque de evaluación será el desempeño general en flujo continuo o la predicción probabilística de eventos extremos e inundaciones?</a:t>
            </a:r>
            <a:endParaRPr lang="es-ES" sz="1200" dirty="0">
              <a:sym typeface="Albert Sans"/>
            </a:endParaRPr>
          </a:p>
        </p:txBody>
      </p:sp>
    </p:spTree>
    <p:extLst>
      <p:ext uri="{BB962C8B-B14F-4D97-AF65-F5344CB8AC3E}">
        <p14:creationId xmlns:p14="http://schemas.microsoft.com/office/powerpoint/2010/main" val="2453976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41" title="grad.png"/>
          <p:cNvPicPr preferRelativeResize="0"/>
          <p:nvPr/>
        </p:nvPicPr>
        <p:blipFill rotWithShape="1">
          <a:blip r:embed="rId3">
            <a:alphaModFix amt="64000"/>
          </a:blip>
          <a:srcRect l="11022" r="13739" b="8156"/>
          <a:stretch/>
        </p:blipFill>
        <p:spPr>
          <a:xfrm rot="-8864924">
            <a:off x="666153" y="-2052448"/>
            <a:ext cx="6626045" cy="577770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1"/>
          <p:cNvSpPr txBox="1">
            <a:spLocks noGrp="1"/>
          </p:cNvSpPr>
          <p:nvPr>
            <p:ph type="title"/>
          </p:nvPr>
        </p:nvSpPr>
        <p:spPr>
          <a:xfrm>
            <a:off x="3243050" y="456638"/>
            <a:ext cx="5443500" cy="10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289" name="Google Shape;289;p41"/>
          <p:cNvSpPr txBox="1">
            <a:spLocks noGrp="1"/>
          </p:cNvSpPr>
          <p:nvPr>
            <p:ph type="subTitle" idx="1"/>
          </p:nvPr>
        </p:nvSpPr>
        <p:spPr>
          <a:xfrm>
            <a:off x="4641006" y="1310655"/>
            <a:ext cx="40458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 you have any questions?</a:t>
            </a:r>
            <a:endParaRPr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youremail@freepik.com</a:t>
            </a:r>
            <a:endParaRPr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</a:t>
            </a:r>
            <a:r>
              <a:rPr lang="en"/>
              <a:t>00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/>
              <a:t>000 000 000</a:t>
            </a:r>
            <a:endParaRPr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yourwebsite.com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90" name="Google Shape;290;p41"/>
          <p:cNvGrpSpPr/>
          <p:nvPr/>
        </p:nvGrpSpPr>
        <p:grpSpPr>
          <a:xfrm>
            <a:off x="533399" y="3412023"/>
            <a:ext cx="276012" cy="275991"/>
            <a:chOff x="3368074" y="3882537"/>
            <a:chExt cx="215298" cy="215298"/>
          </a:xfrm>
        </p:grpSpPr>
        <p:sp>
          <p:nvSpPr>
            <p:cNvPr id="291" name="Google Shape;291;p41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" name="Google Shape;292;p41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" name="Google Shape;293;p41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94" name="Google Shape;294;p41"/>
          <p:cNvGrpSpPr/>
          <p:nvPr/>
        </p:nvGrpSpPr>
        <p:grpSpPr>
          <a:xfrm>
            <a:off x="1323281" y="3430731"/>
            <a:ext cx="266790" cy="238574"/>
            <a:chOff x="3824739" y="3890112"/>
            <a:chExt cx="208105" cy="186110"/>
          </a:xfrm>
        </p:grpSpPr>
        <p:sp>
          <p:nvSpPr>
            <p:cNvPr id="295" name="Google Shape;295;p41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" name="Google Shape;296;p41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" name="Google Shape;297;p41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8" name="Google Shape;298;p41"/>
          <p:cNvSpPr txBox="1"/>
          <p:nvPr/>
        </p:nvSpPr>
        <p:spPr>
          <a:xfrm>
            <a:off x="533400" y="4426463"/>
            <a:ext cx="37263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Please keep this slide for attribution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9" name="Google Shape;299;p41"/>
          <p:cNvSpPr/>
          <p:nvPr/>
        </p:nvSpPr>
        <p:spPr>
          <a:xfrm>
            <a:off x="2114049" y="3414023"/>
            <a:ext cx="268502" cy="274403"/>
          </a:xfrm>
          <a:custGeom>
            <a:avLst/>
            <a:gdLst/>
            <a:ahLst/>
            <a:cxnLst/>
            <a:rect l="l" t="t" r="r" b="b"/>
            <a:pathLst>
              <a:path w="6712561" h="6860069" extrusionOk="0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Gradient by Slidesgo">
  <a:themeElements>
    <a:clrScheme name="Simple Light">
      <a:dk1>
        <a:srgbClr val="000000"/>
      </a:dk1>
      <a:lt1>
        <a:srgbClr val="FFFBF8"/>
      </a:lt1>
      <a:dk2>
        <a:srgbClr val="000000"/>
      </a:dk2>
      <a:lt2>
        <a:srgbClr val="0000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3362</TotalTime>
  <Words>1047</Words>
  <Application>Microsoft Office PowerPoint</Application>
  <PresentationFormat>Presentación en pantalla (16:9)</PresentationFormat>
  <Paragraphs>118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4" baseType="lpstr">
      <vt:lpstr>Arial</vt:lpstr>
      <vt:lpstr>DM Sans</vt:lpstr>
      <vt:lpstr>Syne ExtraBold</vt:lpstr>
      <vt:lpstr>Calibri</vt:lpstr>
      <vt:lpstr>Viaoda Libre</vt:lpstr>
      <vt:lpstr>Albert Sans</vt:lpstr>
      <vt:lpstr>Darker Grotesque SemiBold</vt:lpstr>
      <vt:lpstr>Raleway</vt:lpstr>
      <vt:lpstr>Minimal Gradient by Slidesgo</vt:lpstr>
      <vt:lpstr>Estado Actual del Aprendizaje Profundo en el Modelado Hidrológico</vt:lpstr>
      <vt:lpstr>01</vt:lpstr>
      <vt:lpstr>Inicios: De ANN a LSTM</vt:lpstr>
      <vt:lpstr>DATA AVAILABILITY: FROM CAMELS TO CARAVAN</vt:lpstr>
      <vt:lpstr>02</vt:lpstr>
      <vt:lpstr>EL HITO DE LSTM EN HIDROLOGÍA</vt:lpstr>
      <vt:lpstr>ARQUITECTURAS ESPECIALIZADAS Y EXTENSIONES</vt:lpstr>
      <vt:lpstr>ARQUITECTURAS ESPECIALIZADAS Y EXTENSIONES</vt:lpstr>
      <vt:lpstr>ESTADO DEL ARTE ACTUAL</vt:lpstr>
      <vt:lpstr>03</vt:lpstr>
      <vt:lpstr>FOUNDATION MODELS</vt:lpstr>
      <vt:lpstr>EARTH SYSTEM &amp; WEATHER FOUNDATION MODEL</vt:lpstr>
      <vt:lpstr>Ajuste Fino y Mezcla de Expertos</vt:lpstr>
      <vt:lpstr>PREGUNTAS DE TESIS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49717116, 05e9d25e</cp:lastModifiedBy>
  <cp:revision>6</cp:revision>
  <dcterms:modified xsi:type="dcterms:W3CDTF">2026-09-25T19:43:57Z</dcterms:modified>
</cp:coreProperties>
</file>
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2" r:id="rId3"/>
    <p:sldId id="257" r:id="rId4"/>
    <p:sldId id="263" r:id="rId5"/>
    <p:sldId id="264" r:id="rId6"/>
    <p:sldId id="265" r:id="rId7"/>
    <p:sldId id="267" r:id="rId8"/>
    <p:sldId id="266" r:id="rId9"/>
    <p:sldId id="268" r:id="rId10"/>
    <p:sldId id="275" r:id="rId11"/>
    <p:sldId id="269" r:id="rId12"/>
    <p:sldId id="270" r:id="rId13"/>
    <p:sldId id="276" r:id="rId14"/>
    <p:sldId id="277" r:id="rId15"/>
    <p:sldId id="281" r:id="rId16"/>
    <p:sldId id="278" r:id="rId17"/>
    <p:sldId id="279" r:id="rId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4" d="100"/>
          <a:sy n="34" d="100"/>
        </p:scale>
        <p:origin x="91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48"/>
    </p:cViewPr>
  </p:sorterViewPr>
  <p:notesViewPr>
    <p:cSldViewPr>
      <p:cViewPr varScale="1">
        <p:scale>
          <a:sx n="75" d="100"/>
          <a:sy n="75" d="100"/>
        </p:scale>
        <p:origin x="-1668" y="-102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91717-D75B-45C6-927D-950E54D35336}" type="datetimeFigureOut">
              <a:rPr lang="es-ES_tradnl" smtClean="0"/>
              <a:t>13/09/2021</a:t>
            </a:fld>
            <a:endParaRPr lang="es-ES_tradn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CEC36-0F83-4718-BAE1-2206ACF22E2F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56278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1</a:t>
            </a:fld>
            <a:endParaRPr lang="es-ES_trad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2</a:t>
            </a:fld>
            <a:endParaRPr lang="es-ES_tradn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3</a:t>
            </a:fld>
            <a:endParaRPr lang="es-ES_tradn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4</a:t>
            </a:fld>
            <a:endParaRPr lang="es-ES_tradn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5</a:t>
            </a:fld>
            <a:endParaRPr lang="es-ES_tradn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6</a:t>
            </a:fld>
            <a:endParaRPr lang="es-ES_tradn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7</a:t>
            </a:fld>
            <a:endParaRPr lang="es-ES_tradn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8</a:t>
            </a:fld>
            <a:endParaRPr lang="es-ES_tradn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9</a:t>
            </a:fld>
            <a:endParaRPr lang="es-ES_tradn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10</a:t>
            </a:fld>
            <a:endParaRPr lang="es-ES_tradn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11</a:t>
            </a:fld>
            <a:endParaRPr lang="es-ES_tradn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12</a:t>
            </a:fld>
            <a:endParaRPr lang="es-ES_tradn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13</a:t>
            </a:fld>
            <a:endParaRPr lang="es-ES_tradn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14</a:t>
            </a:fld>
            <a:endParaRPr lang="es-ES_tradn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15</a:t>
            </a:fld>
            <a:endParaRPr lang="es-ES_tradn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16</a:t>
            </a:fld>
            <a:endParaRPr lang="es-ES_tradn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_tradn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EC36-0F83-4718-BAE1-2206ACF22E2F}" type="slidenum">
              <a:rPr lang="es-ES_tradnl" smtClean="0"/>
              <a:t>17</a:t>
            </a:fld>
            <a:endParaRPr lang="es-ES_trad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33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397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41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7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9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67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48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87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66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6962B-0DC1-49EB-9DF8-353DE6F56E80}" type="datetimeFigureOut">
              <a:rPr lang="en-US" smtClean="0"/>
              <a:pPr/>
              <a:t>9/13/2021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C0119-8B96-4588-9477-C8B343BB8D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55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10" Type="http://schemas.openxmlformats.org/officeDocument/2006/relationships/image" Target="../media/image6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9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emf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1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5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0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2.wmf"/><Relationship Id="rId5" Type="http://schemas.openxmlformats.org/officeDocument/2006/relationships/image" Target="../media/image2.png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16.wmf"/><Relationship Id="rId4" Type="http://schemas.openxmlformats.org/officeDocument/2006/relationships/image" Target="../media/image1.jpeg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9.w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14.bin"/><Relationship Id="rId4" Type="http://schemas.openxmlformats.org/officeDocument/2006/relationships/image" Target="../media/image1.jpeg"/><Relationship Id="rId9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emf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emf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2.wmf"/><Relationship Id="rId12" Type="http://schemas.openxmlformats.org/officeDocument/2006/relationships/image" Target="../media/image21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4.w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1.jpeg"/><Relationship Id="rId9" Type="http://schemas.openxmlformats.org/officeDocument/2006/relationships/image" Target="../media/image23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.png"/><Relationship Id="rId10" Type="http://schemas.openxmlformats.org/officeDocument/2006/relationships/image" Target="../media/image27.emf"/><Relationship Id="rId4" Type="http://schemas.openxmlformats.org/officeDocument/2006/relationships/image" Target="../media/image1.jpeg"/><Relationship Id="rId9" Type="http://schemas.openxmlformats.org/officeDocument/2006/relationships/image" Target="../media/image2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.png"/><Relationship Id="rId10" Type="http://schemas.openxmlformats.org/officeDocument/2006/relationships/image" Target="../media/image30.emf"/><Relationship Id="rId4" Type="http://schemas.openxmlformats.org/officeDocument/2006/relationships/image" Target="../media/image1.jpeg"/><Relationship Id="rId9" Type="http://schemas.openxmlformats.org/officeDocument/2006/relationships/image" Target="../media/image2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wmf"/><Relationship Id="rId5" Type="http://schemas.openxmlformats.org/officeDocument/2006/relationships/image" Target="../media/image2.png"/><Relationship Id="rId10" Type="http://schemas.openxmlformats.org/officeDocument/2006/relationships/image" Target="../media/image35.wmf"/><Relationship Id="rId4" Type="http://schemas.openxmlformats.org/officeDocument/2006/relationships/image" Target="../media/image1.jpeg"/><Relationship Id="rId9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wmf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 err="1" smtClean="0"/>
              <a:t>Grain</a:t>
            </a:r>
            <a:r>
              <a:rPr lang="es-ES" sz="3200" dirty="0" smtClean="0"/>
              <a:t> </a:t>
            </a:r>
            <a:r>
              <a:rPr lang="es-ES" sz="3200" dirty="0" err="1" smtClean="0"/>
              <a:t>Size</a:t>
            </a:r>
            <a:r>
              <a:rPr lang="es-ES" sz="3200" dirty="0" smtClean="0"/>
              <a:t> </a:t>
            </a:r>
            <a:r>
              <a:rPr lang="es-ES" sz="3200" dirty="0" err="1" smtClean="0"/>
              <a:t>Distribution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8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s-ES" sz="3200" dirty="0" err="1" smtClean="0"/>
              <a:t>Grain</a:t>
            </a:r>
            <a:r>
              <a:rPr lang="es-ES" sz="3200" dirty="0" smtClean="0"/>
              <a:t> </a:t>
            </a:r>
            <a:r>
              <a:rPr lang="es-ES" sz="3200" dirty="0" err="1" smtClean="0"/>
              <a:t>Size</a:t>
            </a:r>
            <a:r>
              <a:rPr lang="es-ES" sz="3200" dirty="0" smtClean="0"/>
              <a:t> </a:t>
            </a:r>
            <a:r>
              <a:rPr lang="es-ES" sz="3200" dirty="0" err="1" smtClean="0"/>
              <a:t>Distribution</a:t>
            </a:r>
            <a:r>
              <a:rPr lang="es-ES" sz="3200" dirty="0" smtClean="0"/>
              <a:t/>
            </a:r>
            <a:br>
              <a:rPr lang="es-ES" sz="3200" dirty="0" smtClean="0"/>
            </a:br>
            <a:r>
              <a:rPr lang="es-ES" sz="3200" dirty="0" err="1" smtClean="0"/>
              <a:t>slides</a:t>
            </a:r>
            <a:r>
              <a:rPr lang="es-ES" sz="3200" dirty="0" smtClean="0"/>
              <a:t> </a:t>
            </a:r>
            <a:r>
              <a:rPr lang="es-ES" sz="3200" dirty="0" err="1" smtClean="0"/>
              <a:t>from</a:t>
            </a:r>
            <a:r>
              <a:rPr lang="es-ES" sz="3200" dirty="0" smtClean="0"/>
              <a:t> Gary </a:t>
            </a:r>
            <a:r>
              <a:rPr lang="es-ES" sz="3200" dirty="0" err="1" smtClean="0"/>
              <a:t>PArker</a:t>
            </a:r>
            <a:endParaRPr lang="en-US" sz="3200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1000" y="1219200"/>
            <a:ext cx="8458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 dirty="0" smtClean="0"/>
              <a:t>CHARACTERIZATION </a:t>
            </a:r>
            <a:r>
              <a:rPr lang="en-US" altLang="en-US" b="1" dirty="0"/>
              <a:t>OF SEDIMENT AND GRAIN SIZE DISTRIBUTIONS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57200" y="1752600"/>
            <a:ext cx="83058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dirty="0" smtClean="0"/>
          </a:p>
          <a:p>
            <a:r>
              <a:rPr lang="en-US" altLang="en-US" dirty="0" smtClean="0"/>
              <a:t>For </a:t>
            </a:r>
            <a:r>
              <a:rPr lang="en-US" altLang="en-US" dirty="0"/>
              <a:t>sufficiently coarse particles, the “diameter” D is often defined to be the dimension of the smallest square mesh opening through which the particle will pass.  For finer particles, “diameter” D often denotes the diameter of the equivalent sphere with the same fall velocity v</a:t>
            </a:r>
            <a:r>
              <a:rPr lang="en-US" altLang="en-US" baseline="-25000" dirty="0"/>
              <a:t>s</a:t>
            </a:r>
            <a:r>
              <a:rPr lang="en-US" altLang="en-US" dirty="0"/>
              <a:t> [L/T] as the actual particle</a:t>
            </a:r>
            <a:r>
              <a:rPr lang="en-US" altLang="en-US" dirty="0" smtClean="0"/>
              <a:t>.</a:t>
            </a:r>
          </a:p>
          <a:p>
            <a:endParaRPr lang="en-US" altLang="en-US" dirty="0"/>
          </a:p>
          <a:p>
            <a:endParaRPr lang="en-US" altLang="en-US" dirty="0" smtClean="0"/>
          </a:p>
          <a:p>
            <a:r>
              <a:rPr lang="en-US" altLang="en-US" dirty="0" smtClean="0"/>
              <a:t>Grain size </a:t>
            </a:r>
            <a:r>
              <a:rPr lang="en-US" altLang="en-US" dirty="0"/>
              <a:t>is often specified in terms of a </a:t>
            </a:r>
            <a:endParaRPr lang="en-US" altLang="en-US" dirty="0" smtClean="0"/>
          </a:p>
          <a:p>
            <a:r>
              <a:rPr lang="en-US" altLang="en-US" dirty="0" smtClean="0"/>
              <a:t>base-2 </a:t>
            </a:r>
            <a:r>
              <a:rPr lang="en-US" altLang="en-US" dirty="0"/>
              <a:t>logarithmic scale (phi scale or psi scale).  </a:t>
            </a:r>
            <a:endParaRPr lang="en-US" altLang="en-US" dirty="0" smtClean="0"/>
          </a:p>
          <a:p>
            <a:endParaRPr lang="en-US" altLang="en-US" dirty="0" smtClean="0"/>
          </a:p>
          <a:p>
            <a:endParaRPr lang="es-ES" altLang="en-US" sz="1100" dirty="0" smtClean="0"/>
          </a:p>
          <a:p>
            <a:endParaRPr lang="es-ES" altLang="en-US" sz="1100" dirty="0"/>
          </a:p>
          <a:p>
            <a:r>
              <a:rPr lang="en-US" altLang="en-US" dirty="0" smtClean="0"/>
              <a:t>These </a:t>
            </a:r>
            <a:r>
              <a:rPr lang="en-US" altLang="en-US" dirty="0"/>
              <a:t>are defined as follows: where D is given in </a:t>
            </a:r>
            <a:r>
              <a:rPr lang="en-US" altLang="en-US" dirty="0" smtClean="0"/>
              <a:t>mm</a:t>
            </a:r>
            <a:endParaRPr lang="en-US" altLang="en-US" dirty="0"/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505303"/>
              </p:ext>
            </p:extLst>
          </p:nvPr>
        </p:nvGraphicFramePr>
        <p:xfrm>
          <a:off x="1057275" y="5562600"/>
          <a:ext cx="253365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Equation" r:id="rId4" imgW="1181100" imgH="228600" progId="Equation.3">
                  <p:embed/>
                </p:oleObj>
              </mc:Choice>
              <mc:Fallback>
                <p:oleObj name="Equation" r:id="rId4" imgW="1181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5562600"/>
                        <a:ext cx="2533650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681154"/>
              </p:ext>
            </p:extLst>
          </p:nvPr>
        </p:nvGraphicFramePr>
        <p:xfrm>
          <a:off x="3886200" y="5334000"/>
          <a:ext cx="433228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Equation" r:id="rId6" imgW="2019300" imgH="419100" progId="Equation.3">
                  <p:embed/>
                </p:oleObj>
              </mc:Choice>
              <mc:Fallback>
                <p:oleObj name="Equation" r:id="rId6" imgW="20193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0"/>
                        <a:ext cx="4332287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971800"/>
            <a:ext cx="2543175" cy="2034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897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304800" y="1219200"/>
            <a:ext cx="830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/>
              <a:t>SAMPLE EVALUATIONS OF </a:t>
            </a:r>
            <a:r>
              <a:rPr lang="en-US" altLang="en-US" b="1">
                <a:sym typeface="Symbol" pitchFamily="18" charset="2"/>
              </a:rPr>
              <a:t> AND </a:t>
            </a:r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385530"/>
              </p:ext>
            </p:extLst>
          </p:nvPr>
        </p:nvGraphicFramePr>
        <p:xfrm>
          <a:off x="1295400" y="1981200"/>
          <a:ext cx="25336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Equation" r:id="rId6" imgW="1181100" imgH="228600" progId="Equation.3">
                  <p:embed/>
                </p:oleObj>
              </mc:Choice>
              <mc:Fallback>
                <p:oleObj name="Equation" r:id="rId6" imgW="1181100" imgH="2286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81200"/>
                        <a:ext cx="2533650" cy="490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277875"/>
              </p:ext>
            </p:extLst>
          </p:nvPr>
        </p:nvGraphicFramePr>
        <p:xfrm>
          <a:off x="4139406" y="1770660"/>
          <a:ext cx="433228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Equation" r:id="rId8" imgW="2019300" imgH="419100" progId="Equation.3">
                  <p:embed/>
                </p:oleObj>
              </mc:Choice>
              <mc:Fallback>
                <p:oleObj name="Equation" r:id="rId8" imgW="2019300" imgH="4191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406" y="1770660"/>
                        <a:ext cx="4332287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748771"/>
              </p:ext>
            </p:extLst>
          </p:nvPr>
        </p:nvGraphicFramePr>
        <p:xfrm>
          <a:off x="2301655" y="2895600"/>
          <a:ext cx="4038600" cy="3352803"/>
        </p:xfrm>
        <a:graphic>
          <a:graphicData uri="http://schemas.openxmlformats.org/drawingml/2006/table">
            <a:tbl>
              <a:tblPr/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 (mm)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sym typeface="Symbol" pitchFamily="18" charset="2"/>
                        </a:rPr>
                        <a:t>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1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631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523" y="1564788"/>
            <a:ext cx="4802955" cy="3731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Box 71"/>
          <p:cNvSpPr txBox="1">
            <a:spLocks noChangeArrowheads="1"/>
          </p:cNvSpPr>
          <p:nvPr/>
        </p:nvSpPr>
        <p:spPr bwMode="auto">
          <a:xfrm>
            <a:off x="457200" y="5286375"/>
            <a:ext cx="83058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Mineral clays such as smectite, montmorillonite and bentonite are </a:t>
            </a:r>
            <a:r>
              <a:rPr lang="en-US" altLang="en-US" b="1"/>
              <a:t>cohesive</a:t>
            </a:r>
            <a:r>
              <a:rPr lang="en-US" altLang="en-US"/>
              <a:t>, i.e. characterized by electrochemical forces that cause particles to stick together.  Even silt-sized particles that are do not consist of mineral clay often display some cohesivity due to the formation of a biofilm.  </a:t>
            </a:r>
            <a:endParaRPr lang="en-US" altLang="en-US" b="1"/>
          </a:p>
        </p:txBody>
      </p:sp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381000" y="1143000"/>
            <a:ext cx="830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/>
              <a:t>SEDIMENT SIZE RANGES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 err="1" smtClean="0"/>
              <a:t>Grain</a:t>
            </a:r>
            <a:r>
              <a:rPr lang="es-ES" sz="3200" dirty="0" smtClean="0"/>
              <a:t> </a:t>
            </a:r>
            <a:r>
              <a:rPr lang="es-ES" sz="3200" dirty="0" err="1" smtClean="0"/>
              <a:t>Size</a:t>
            </a:r>
            <a:r>
              <a:rPr lang="es-ES" sz="3200" dirty="0" smtClean="0"/>
              <a:t> </a:t>
            </a:r>
            <a:r>
              <a:rPr lang="es-ES" sz="3200" dirty="0" err="1" smtClean="0"/>
              <a:t>Distribution</a:t>
            </a:r>
            <a:endParaRPr lang="en-US" sz="3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072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381000" y="1066800"/>
            <a:ext cx="830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/>
              <a:t>SEDIMENT GRAIN SIZE DISTRIBUTIONS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410200" y="1524000"/>
            <a:ext cx="3657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The grain size distribution is characterized in terms of N+1 sizes </a:t>
            </a:r>
            <a:r>
              <a:rPr lang="en-US" altLang="en-US" dirty="0" err="1"/>
              <a:t>D</a:t>
            </a:r>
            <a:r>
              <a:rPr lang="en-US" altLang="en-US" baseline="-25000" dirty="0" err="1"/>
              <a:t>b,i</a:t>
            </a:r>
            <a:r>
              <a:rPr lang="en-US" altLang="en-US" dirty="0"/>
              <a:t> such that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f,i</a:t>
            </a:r>
            <a:r>
              <a:rPr lang="en-US" altLang="en-US" dirty="0"/>
              <a:t> denotes the mass fraction in the sample that is finer than size </a:t>
            </a:r>
            <a:r>
              <a:rPr lang="en-US" altLang="en-US" dirty="0" err="1"/>
              <a:t>D</a:t>
            </a:r>
            <a:r>
              <a:rPr lang="en-US" altLang="en-US" baseline="-25000" dirty="0" err="1"/>
              <a:t>b,i</a:t>
            </a:r>
            <a:r>
              <a:rPr lang="en-US" altLang="en-US" dirty="0"/>
              <a:t>.  </a:t>
            </a:r>
          </a:p>
        </p:txBody>
      </p:sp>
      <p:graphicFrame>
        <p:nvGraphicFramePr>
          <p:cNvPr id="14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695601"/>
              </p:ext>
            </p:extLst>
          </p:nvPr>
        </p:nvGraphicFramePr>
        <p:xfrm>
          <a:off x="5638800" y="3124200"/>
          <a:ext cx="2552700" cy="325755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endParaRPr kumimoji="0" lang="en-US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altLang="en-US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b,i</a:t>
                      </a:r>
                      <a:r>
                        <a:rPr kumimoji="0" lang="en-US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altLang="en-US" sz="16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f,i</a:t>
                      </a:r>
                      <a:endParaRPr kumimoji="0" lang="en-US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0.03125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Text Box 47"/>
          <p:cNvSpPr txBox="1">
            <a:spLocks noChangeArrowheads="1"/>
          </p:cNvSpPr>
          <p:nvPr/>
        </p:nvSpPr>
        <p:spPr bwMode="auto">
          <a:xfrm>
            <a:off x="685799" y="5952680"/>
            <a:ext cx="47244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altLang="en-US" dirty="0"/>
              <a:t>Note the use of a logarithmic scale for grain size.</a:t>
            </a:r>
          </a:p>
        </p:txBody>
      </p:sp>
      <p:pic>
        <p:nvPicPr>
          <p:cNvPr id="16" name="Picture 5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9" y="1545125"/>
            <a:ext cx="6915640" cy="43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8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19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2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64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fld id="{5C61D071-8433-4713-8F0B-156767B48BD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381000" y="1066800"/>
            <a:ext cx="830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 dirty="0"/>
              <a:t>SEDIMENT GRAIN SIZE DISTRIBUTIONS contd.</a:t>
            </a:r>
          </a:p>
        </p:txBody>
      </p:sp>
      <p:sp>
        <p:nvSpPr>
          <p:cNvPr id="40" name="Text Box 4"/>
          <p:cNvSpPr txBox="1">
            <a:spLocks noChangeArrowheads="1"/>
          </p:cNvSpPr>
          <p:nvPr/>
        </p:nvSpPr>
        <p:spPr bwMode="auto">
          <a:xfrm>
            <a:off x="236899" y="1828800"/>
            <a:ext cx="86868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In the </a:t>
            </a:r>
            <a:r>
              <a:rPr lang="en-US" altLang="en-US" dirty="0" smtClean="0"/>
              <a:t>last </a:t>
            </a:r>
            <a:r>
              <a:rPr lang="en-US" altLang="en-US" dirty="0"/>
              <a:t>slide, the finest size (0.03125 mm) was such that 2 </a:t>
            </a:r>
            <a:r>
              <a:rPr lang="en-US" altLang="en-US" dirty="0" smtClean="0"/>
              <a:t>percent was </a:t>
            </a:r>
            <a:r>
              <a:rPr lang="en-US" altLang="en-US" dirty="0"/>
              <a:t>finer.  If the finest size does not correspond to 0 percent content, or the coarsest size to 100 percent content, it is often useful to use linear extrapolation on the psi scale to determine the missing values.</a:t>
            </a:r>
          </a:p>
        </p:txBody>
      </p:sp>
      <p:graphicFrame>
        <p:nvGraphicFramePr>
          <p:cNvPr id="43" name="Object 2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48655"/>
              </p:ext>
            </p:extLst>
          </p:nvPr>
        </p:nvGraphicFramePr>
        <p:xfrm>
          <a:off x="2598738" y="3200400"/>
          <a:ext cx="3303587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Equation" r:id="rId6" imgW="1968480" imgH="457200" progId="Equation.DSMT4">
                  <p:embed/>
                </p:oleObj>
              </mc:Choice>
              <mc:Fallback>
                <p:oleObj name="Equation" r:id="rId6" imgW="1968480" imgH="4572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3200400"/>
                        <a:ext cx="3303587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12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 flipV="1">
            <a:off x="2915816" y="4373017"/>
            <a:ext cx="0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915816" y="6250905"/>
            <a:ext cx="3024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3824215" y="4671021"/>
            <a:ext cx="1512168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92296" y="6060559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 (D)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259684" y="4603754"/>
            <a:ext cx="153398" cy="1345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747516" y="5748355"/>
            <a:ext cx="153398" cy="13453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178268" y="6177958"/>
            <a:ext cx="153398" cy="13453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2915816" y="4666330"/>
            <a:ext cx="234386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915816" y="5815622"/>
            <a:ext cx="234386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264579" y="5028666"/>
            <a:ext cx="24546" cy="118576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3835343" y="5059459"/>
            <a:ext cx="24546" cy="118576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5336383" y="4676395"/>
            <a:ext cx="8386" cy="158019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389353"/>
              </p:ext>
            </p:extLst>
          </p:nvPr>
        </p:nvGraphicFramePr>
        <p:xfrm>
          <a:off x="2518599" y="4529442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Equation" r:id="rId8" imgW="253800" imgH="241200" progId="Equation.DSMT4">
                  <p:embed/>
                </p:oleObj>
              </mc:Choice>
              <mc:Fallback>
                <p:oleObj name="Equation" r:id="rId8" imgW="253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18599" y="4529442"/>
                        <a:ext cx="254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789554"/>
              </p:ext>
            </p:extLst>
          </p:nvPr>
        </p:nvGraphicFramePr>
        <p:xfrm>
          <a:off x="2546350" y="5653088"/>
          <a:ext cx="266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Equation" r:id="rId10" imgW="266400" imgH="241200" progId="Equation.DSMT4">
                  <p:embed/>
                </p:oleObj>
              </mc:Choice>
              <mc:Fallback>
                <p:oleObj name="Equation" r:id="rId10" imgW="266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46350" y="5653088"/>
                        <a:ext cx="266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625910"/>
              </p:ext>
            </p:extLst>
          </p:nvPr>
        </p:nvGraphicFramePr>
        <p:xfrm>
          <a:off x="2549525" y="6178550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Equation" r:id="rId12" imgW="253800" imgH="241200" progId="Equation.DSMT4">
                  <p:embed/>
                </p:oleObj>
              </mc:Choice>
              <mc:Fallback>
                <p:oleObj name="Equation" r:id="rId12" imgW="253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49525" y="6178550"/>
                        <a:ext cx="254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25946"/>
              </p:ext>
            </p:extLst>
          </p:nvPr>
        </p:nvGraphicFramePr>
        <p:xfrm>
          <a:off x="3162125" y="6309241"/>
          <a:ext cx="254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Equation" r:id="rId14" imgW="253800" imgH="241200" progId="Equation.DSMT4">
                  <p:embed/>
                </p:oleObj>
              </mc:Choice>
              <mc:Fallback>
                <p:oleObj name="Equation" r:id="rId14" imgW="253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162125" y="6309241"/>
                        <a:ext cx="254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00578"/>
              </p:ext>
            </p:extLst>
          </p:nvPr>
        </p:nvGraphicFramePr>
        <p:xfrm>
          <a:off x="3739800" y="6300539"/>
          <a:ext cx="266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Equation" r:id="rId16" imgW="266400" imgH="241200" progId="Equation.DSMT4">
                  <p:embed/>
                </p:oleObj>
              </mc:Choice>
              <mc:Fallback>
                <p:oleObj name="Equation" r:id="rId16" imgW="266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739800" y="6300539"/>
                        <a:ext cx="266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873339"/>
              </p:ext>
            </p:extLst>
          </p:nvPr>
        </p:nvGraphicFramePr>
        <p:xfrm>
          <a:off x="5234170" y="6309241"/>
          <a:ext cx="266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Equation" r:id="rId18" imgW="266400" imgH="241200" progId="Equation.DSMT4">
                  <p:embed/>
                </p:oleObj>
              </mc:Choice>
              <mc:Fallback>
                <p:oleObj name="Equation" r:id="rId18" imgW="266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34170" y="6309241"/>
                        <a:ext cx="266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5698016" y="5338530"/>
            <a:ext cx="1438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Extrapolation</a:t>
            </a:r>
            <a:endParaRPr lang="en-US" dirty="0"/>
          </a:p>
        </p:txBody>
      </p:sp>
      <p:cxnSp>
        <p:nvCxnSpPr>
          <p:cNvPr id="42" name="Straight Connector 41"/>
          <p:cNvCxnSpPr/>
          <p:nvPr/>
        </p:nvCxnSpPr>
        <p:spPr>
          <a:xfrm flipH="1">
            <a:off x="3254967" y="5823528"/>
            <a:ext cx="569248" cy="42960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58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fld id="{5C61D071-8433-4713-8F0B-156767B48BD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381000" y="1066800"/>
            <a:ext cx="830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 dirty="0"/>
              <a:t>SEDIMENT GRAIN SIZE DISTRIBUTIONS contd.</a:t>
            </a:r>
          </a:p>
        </p:txBody>
      </p:sp>
      <p:graphicFrame>
        <p:nvGraphicFramePr>
          <p:cNvPr id="3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19043"/>
              </p:ext>
            </p:extLst>
          </p:nvPr>
        </p:nvGraphicFramePr>
        <p:xfrm>
          <a:off x="222422" y="2476500"/>
          <a:ext cx="2552700" cy="325755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alt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b,i</a:t>
                      </a: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alt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f,i</a:t>
                      </a:r>
                      <a:endParaRPr kumimoji="0" lang="en-US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0.03125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4" name="Group 2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158703"/>
              </p:ext>
            </p:extLst>
          </p:nvPr>
        </p:nvGraphicFramePr>
        <p:xfrm>
          <a:off x="5834062" y="2336800"/>
          <a:ext cx="2590800" cy="360680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alt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b,i</a:t>
                      </a: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alt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f,i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0.03125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35" name="Object 2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397391"/>
              </p:ext>
            </p:extLst>
          </p:nvPr>
        </p:nvGraphicFramePr>
        <p:xfrm>
          <a:off x="1524000" y="1752600"/>
          <a:ext cx="5284787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Equation" r:id="rId6" imgW="3149600" imgH="457200" progId="Equation.3">
                  <p:embed/>
                </p:oleObj>
              </mc:Choice>
              <mc:Fallback>
                <p:oleObj name="Equation" r:id="rId6" imgW="3149600" imgH="4572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52600"/>
                        <a:ext cx="5284787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20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505130"/>
              </p:ext>
            </p:extLst>
          </p:nvPr>
        </p:nvGraphicFramePr>
        <p:xfrm>
          <a:off x="2805906" y="6053051"/>
          <a:ext cx="300831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Equation" r:id="rId8" imgW="2019300" imgH="241300" progId="Equation.3">
                  <p:embed/>
                </p:oleObj>
              </mc:Choice>
              <mc:Fallback>
                <p:oleObj name="Equation" r:id="rId8" imgW="2019300" imgH="2413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906" y="6053051"/>
                        <a:ext cx="3008312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2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485486"/>
              </p:ext>
            </p:extLst>
          </p:nvPr>
        </p:nvGraphicFramePr>
        <p:xfrm>
          <a:off x="7945437" y="1828800"/>
          <a:ext cx="10890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Equation" r:id="rId10" imgW="672808" imgH="266584" progId="Equation.3">
                  <p:embed/>
                </p:oleObj>
              </mc:Choice>
              <mc:Fallback>
                <p:oleObj name="Equation" r:id="rId10" imgW="672808" imgH="266584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5437" y="1828800"/>
                        <a:ext cx="10890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Line 213"/>
          <p:cNvSpPr>
            <a:spLocks noChangeShapeType="1"/>
          </p:cNvSpPr>
          <p:nvPr/>
        </p:nvSpPr>
        <p:spPr bwMode="auto">
          <a:xfrm>
            <a:off x="2938462" y="38862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Text Box 214"/>
          <p:cNvSpPr txBox="1">
            <a:spLocks noChangeArrowheads="1"/>
          </p:cNvSpPr>
          <p:nvPr/>
        </p:nvSpPr>
        <p:spPr bwMode="auto">
          <a:xfrm>
            <a:off x="3090862" y="4173538"/>
            <a:ext cx="2438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Note that the addition of the extra point has increased N from </a:t>
            </a:r>
            <a:r>
              <a:rPr lang="en-US" altLang="en-US" dirty="0" smtClean="0"/>
              <a:t>8 </a:t>
            </a:r>
            <a:r>
              <a:rPr lang="en-US" altLang="en-US" dirty="0"/>
              <a:t>to </a:t>
            </a:r>
            <a:r>
              <a:rPr lang="en-US" altLang="en-US" dirty="0" smtClean="0"/>
              <a:t>9 </a:t>
            </a:r>
            <a:r>
              <a:rPr lang="en-US" altLang="en-US" dirty="0"/>
              <a:t>(there are N+1 points).    </a:t>
            </a:r>
          </a:p>
        </p:txBody>
      </p:sp>
      <p:sp>
        <p:nvSpPr>
          <p:cNvPr id="61" name="Rectangle 216"/>
          <p:cNvSpPr>
            <a:spLocks noChangeArrowheads="1"/>
          </p:cNvSpPr>
          <p:nvPr/>
        </p:nvSpPr>
        <p:spPr bwMode="auto">
          <a:xfrm>
            <a:off x="6443662" y="3124200"/>
            <a:ext cx="838200" cy="228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Rectangle 217"/>
          <p:cNvSpPr>
            <a:spLocks noChangeArrowheads="1"/>
          </p:cNvSpPr>
          <p:nvPr/>
        </p:nvSpPr>
        <p:spPr bwMode="auto">
          <a:xfrm>
            <a:off x="6443662" y="3505200"/>
            <a:ext cx="838200" cy="228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Rectangle 218"/>
          <p:cNvSpPr>
            <a:spLocks noChangeArrowheads="1"/>
          </p:cNvSpPr>
          <p:nvPr/>
        </p:nvSpPr>
        <p:spPr bwMode="auto">
          <a:xfrm>
            <a:off x="7434262" y="3505200"/>
            <a:ext cx="838200" cy="228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Rectangle 219"/>
          <p:cNvSpPr>
            <a:spLocks noChangeArrowheads="1"/>
          </p:cNvSpPr>
          <p:nvPr/>
        </p:nvSpPr>
        <p:spPr bwMode="auto">
          <a:xfrm>
            <a:off x="7434262" y="3124200"/>
            <a:ext cx="838200" cy="228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Line 220"/>
          <p:cNvSpPr>
            <a:spLocks noChangeShapeType="1"/>
          </p:cNvSpPr>
          <p:nvPr/>
        </p:nvSpPr>
        <p:spPr bwMode="auto">
          <a:xfrm flipH="1" flipV="1">
            <a:off x="4538662" y="2438400"/>
            <a:ext cx="2895600" cy="685800"/>
          </a:xfrm>
          <a:prstGeom prst="line">
            <a:avLst/>
          </a:prstGeom>
          <a:noFill/>
          <a:ln w="9525">
            <a:solidFill>
              <a:srgbClr val="FF99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221"/>
          <p:cNvSpPr>
            <a:spLocks noChangeShapeType="1"/>
          </p:cNvSpPr>
          <p:nvPr/>
        </p:nvSpPr>
        <p:spPr bwMode="auto">
          <a:xfrm flipH="1" flipV="1">
            <a:off x="4995862" y="2438400"/>
            <a:ext cx="2438400" cy="1066800"/>
          </a:xfrm>
          <a:prstGeom prst="line">
            <a:avLst/>
          </a:prstGeom>
          <a:noFill/>
          <a:ln w="9525">
            <a:solidFill>
              <a:srgbClr val="00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Line 222"/>
          <p:cNvSpPr>
            <a:spLocks noChangeShapeType="1"/>
          </p:cNvSpPr>
          <p:nvPr/>
        </p:nvSpPr>
        <p:spPr bwMode="auto">
          <a:xfrm flipH="1" flipV="1">
            <a:off x="6443662" y="2209800"/>
            <a:ext cx="990600" cy="1295400"/>
          </a:xfrm>
          <a:prstGeom prst="line">
            <a:avLst/>
          </a:prstGeom>
          <a:noFill/>
          <a:ln w="9525">
            <a:solidFill>
              <a:srgbClr val="00CC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223"/>
          <p:cNvSpPr>
            <a:spLocks noChangeShapeType="1"/>
          </p:cNvSpPr>
          <p:nvPr/>
        </p:nvSpPr>
        <p:spPr bwMode="auto">
          <a:xfrm flipH="1" flipV="1">
            <a:off x="6138862" y="2209800"/>
            <a:ext cx="1371600" cy="609600"/>
          </a:xfrm>
          <a:prstGeom prst="line">
            <a:avLst/>
          </a:prstGeom>
          <a:noFill/>
          <a:ln w="9525">
            <a:solidFill>
              <a:srgbClr val="99CC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Line 224"/>
          <p:cNvSpPr>
            <a:spLocks noChangeShapeType="1"/>
          </p:cNvSpPr>
          <p:nvPr/>
        </p:nvSpPr>
        <p:spPr bwMode="auto">
          <a:xfrm flipH="1" flipV="1">
            <a:off x="4462462" y="2057400"/>
            <a:ext cx="1981200" cy="1143000"/>
          </a:xfrm>
          <a:prstGeom prst="line">
            <a:avLst/>
          </a:prstGeom>
          <a:noFill/>
          <a:ln w="9525">
            <a:solidFill>
              <a:srgbClr val="FFCC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" name="Line 225"/>
          <p:cNvSpPr>
            <a:spLocks noChangeShapeType="1"/>
          </p:cNvSpPr>
          <p:nvPr/>
        </p:nvSpPr>
        <p:spPr bwMode="auto">
          <a:xfrm flipH="1" flipV="1">
            <a:off x="3090862" y="2286000"/>
            <a:ext cx="3352800" cy="129540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226"/>
          <p:cNvSpPr>
            <a:spLocks noChangeShapeType="1"/>
          </p:cNvSpPr>
          <p:nvPr/>
        </p:nvSpPr>
        <p:spPr bwMode="auto">
          <a:xfrm flipH="1" flipV="1">
            <a:off x="5300662" y="2057400"/>
            <a:ext cx="1143000" cy="1524000"/>
          </a:xfrm>
          <a:prstGeom prst="line">
            <a:avLst/>
          </a:prstGeom>
          <a:noFill/>
          <a:ln w="9525">
            <a:solidFill>
              <a:srgbClr val="C0C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Line 227"/>
          <p:cNvSpPr>
            <a:spLocks noChangeShapeType="1"/>
          </p:cNvSpPr>
          <p:nvPr/>
        </p:nvSpPr>
        <p:spPr bwMode="auto">
          <a:xfrm flipH="1">
            <a:off x="7129462" y="2133600"/>
            <a:ext cx="7620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27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28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29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0146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81000" y="1066800"/>
            <a:ext cx="830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/>
              <a:t>SEDIMENT GRAIN SIZE DISTRIBUTIONS contd.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28600" y="1447800"/>
            <a:ext cx="868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The grain size distribution after extrapolation is shown below.</a:t>
            </a: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1900238"/>
            <a:ext cx="7704137" cy="472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Group 7"/>
          <p:cNvGraphicFramePr>
            <a:graphicFrameLocks noGrp="1"/>
          </p:cNvGraphicFramePr>
          <p:nvPr/>
        </p:nvGraphicFramePr>
        <p:xfrm>
          <a:off x="6248400" y="2362200"/>
          <a:ext cx="2590800" cy="360680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  <a:endParaRPr kumimoji="0" lang="en-US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altLang="en-US" sz="1600" b="0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b,i</a:t>
                      </a:r>
                      <a:r>
                        <a:rPr kumimoji="0" lang="en-US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  <a:r>
                        <a:rPr kumimoji="0" lang="en-US" altLang="en-US" sz="16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f,i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0.03125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0.990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14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0778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81000" y="1066800"/>
            <a:ext cx="830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/>
              <a:t>CHARACTERISTIC SIZES BASED ON PERCENT FINER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376250" y="3048000"/>
            <a:ext cx="365760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 err="1"/>
              <a:t>D</a:t>
            </a:r>
            <a:r>
              <a:rPr lang="en-US" altLang="en-US" baseline="-25000" dirty="0" err="1"/>
              <a:t>x</a:t>
            </a:r>
            <a:r>
              <a:rPr lang="en-US" altLang="en-US" dirty="0"/>
              <a:t> is size such that x percent of the sample is finer than </a:t>
            </a:r>
            <a:r>
              <a:rPr lang="en-US" altLang="en-US" dirty="0" err="1"/>
              <a:t>D</a:t>
            </a:r>
            <a:r>
              <a:rPr lang="en-US" altLang="en-US" baseline="-25000" dirty="0" err="1"/>
              <a:t>x</a:t>
            </a:r>
            <a:endParaRPr lang="en-US" altLang="en-US" dirty="0"/>
          </a:p>
          <a:p>
            <a:r>
              <a:rPr lang="en-US" altLang="en-US" dirty="0"/>
              <a:t>Examples:</a:t>
            </a:r>
          </a:p>
          <a:p>
            <a:r>
              <a:rPr lang="en-US" altLang="en-US" dirty="0"/>
              <a:t>D</a:t>
            </a:r>
            <a:r>
              <a:rPr lang="en-US" altLang="en-US" baseline="-25000" dirty="0"/>
              <a:t>50</a:t>
            </a:r>
            <a:r>
              <a:rPr lang="en-US" altLang="en-US" dirty="0"/>
              <a:t> = median size</a:t>
            </a:r>
          </a:p>
          <a:p>
            <a:r>
              <a:rPr lang="en-US" altLang="en-US" dirty="0"/>
              <a:t>D</a:t>
            </a:r>
            <a:r>
              <a:rPr lang="en-US" altLang="en-US" baseline="-25000" dirty="0"/>
              <a:t>90</a:t>
            </a:r>
            <a:r>
              <a:rPr lang="en-US" altLang="en-US" dirty="0"/>
              <a:t> ~ roughness height</a:t>
            </a:r>
          </a:p>
        </p:txBody>
      </p:sp>
      <p:pic>
        <p:nvPicPr>
          <p:cNvPr id="21" name="Picture 1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843088"/>
            <a:ext cx="7010400" cy="430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0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12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8225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81000" y="1066800"/>
            <a:ext cx="830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 dirty="0"/>
              <a:t>CHARACTERISTIC SIZES BASED ON PERCENT FINER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5067300" y="2286000"/>
            <a:ext cx="403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/>
              <a:t>To find D</a:t>
            </a:r>
            <a:r>
              <a:rPr lang="en-US" altLang="en-US" baseline="-25000"/>
              <a:t>x</a:t>
            </a:r>
            <a:r>
              <a:rPr lang="en-US" altLang="en-US"/>
              <a:t> (e.g. D</a:t>
            </a:r>
            <a:r>
              <a:rPr lang="en-US" altLang="en-US" baseline="-25000"/>
              <a:t>50</a:t>
            </a:r>
            <a:r>
              <a:rPr lang="en-US" altLang="en-US"/>
              <a:t>) find i such that</a:t>
            </a:r>
          </a:p>
        </p:txBody>
      </p:sp>
      <p:graphicFrame>
        <p:nvGraphicFramePr>
          <p:cNvPr id="1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243391"/>
              </p:ext>
            </p:extLst>
          </p:nvPr>
        </p:nvGraphicFramePr>
        <p:xfrm>
          <a:off x="6210300" y="2667000"/>
          <a:ext cx="16002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9" name="Equation" r:id="rId6" imgW="977476" imgH="393529" progId="Equation.3">
                  <p:embed/>
                </p:oleObj>
              </mc:Choice>
              <mc:Fallback>
                <p:oleObj name="Equation" r:id="rId6" imgW="977476" imgH="393529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300" y="2667000"/>
                        <a:ext cx="1600200" cy="644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5448300" y="3443288"/>
            <a:ext cx="3352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dirty="0"/>
              <a:t>Then interpolate for </a:t>
            </a:r>
            <a:r>
              <a:rPr lang="en-US" altLang="en-US" dirty="0">
                <a:sym typeface="Symbol" pitchFamily="18" charset="2"/>
              </a:rPr>
              <a:t></a:t>
            </a:r>
            <a:r>
              <a:rPr lang="en-US" altLang="en-US" baseline="-25000" dirty="0">
                <a:sym typeface="Symbol" pitchFamily="18" charset="2"/>
              </a:rPr>
              <a:t>x</a:t>
            </a:r>
            <a:endParaRPr lang="en-US" altLang="en-US" dirty="0">
              <a:sym typeface="Symbol" pitchFamily="18" charset="2"/>
            </a:endParaRPr>
          </a:p>
        </p:txBody>
      </p:sp>
      <p:graphicFrame>
        <p:nvGraphicFramePr>
          <p:cNvPr id="1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76918"/>
              </p:ext>
            </p:extLst>
          </p:nvPr>
        </p:nvGraphicFramePr>
        <p:xfrm>
          <a:off x="5372100" y="3962400"/>
          <a:ext cx="35814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0" name="Equation" r:id="rId8" imgW="2133600" imgH="457200" progId="Equation.3">
                  <p:embed/>
                </p:oleObj>
              </mc:Choice>
              <mc:Fallback>
                <p:oleObj name="Equation" r:id="rId8" imgW="2133600" imgH="4572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3962400"/>
                        <a:ext cx="3581400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960629"/>
              </p:ext>
            </p:extLst>
          </p:nvPr>
        </p:nvGraphicFramePr>
        <p:xfrm>
          <a:off x="6600825" y="5410200"/>
          <a:ext cx="9810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1" name="Equation" r:id="rId10" imgW="583947" imgH="241195" progId="Equation.3">
                  <p:embed/>
                </p:oleObj>
              </mc:Choice>
              <mc:Fallback>
                <p:oleObj name="Equation" r:id="rId10" imgW="583947" imgH="241195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5410200"/>
                        <a:ext cx="981075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5524500" y="4876800"/>
            <a:ext cx="3352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/>
              <a:t>and back-calculate D</a:t>
            </a:r>
            <a:r>
              <a:rPr lang="en-US" altLang="en-US" baseline="-25000"/>
              <a:t>x</a:t>
            </a:r>
            <a:r>
              <a:rPr lang="en-US" altLang="en-US"/>
              <a:t> in mm</a:t>
            </a:r>
            <a:endParaRPr lang="en-US" altLang="en-US">
              <a:sym typeface="Symbol" pitchFamily="18" charset="2"/>
            </a:endParaRPr>
          </a:p>
        </p:txBody>
      </p:sp>
      <p:pic>
        <p:nvPicPr>
          <p:cNvPr id="21" name="Picture 16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6" y="1658144"/>
            <a:ext cx="7010400" cy="430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4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23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239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28600" y="1066800"/>
            <a:ext cx="876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/>
              <a:t>STATISTICAL CHARACTERISTICS OF SIZE DISTRIBUTION</a:t>
            </a: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737283"/>
              </p:ext>
            </p:extLst>
          </p:nvPr>
        </p:nvGraphicFramePr>
        <p:xfrm>
          <a:off x="5770562" y="2219552"/>
          <a:ext cx="2479675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Equation" r:id="rId6" imgW="1219200" imgH="685800" progId="Equation.3">
                  <p:embed/>
                </p:oleObj>
              </mc:Choice>
              <mc:Fallback>
                <p:oleObj name="Equation" r:id="rId6" imgW="1219200" imgH="6858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0562" y="2219552"/>
                        <a:ext cx="2479675" cy="139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843616"/>
              </p:ext>
            </p:extLst>
          </p:nvPr>
        </p:nvGraphicFramePr>
        <p:xfrm>
          <a:off x="5816600" y="3743552"/>
          <a:ext cx="159543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Equation" r:id="rId8" imgW="761669" imgH="228501" progId="Equation.3">
                  <p:embed/>
                </p:oleObj>
              </mc:Choice>
              <mc:Fallback>
                <p:oleObj name="Equation" r:id="rId8" imgW="761669" imgH="228501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600" y="3743552"/>
                        <a:ext cx="1595437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354637" y="4276952"/>
            <a:ext cx="365760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>
                <a:sym typeface="Symbol" pitchFamily="18" charset="2"/>
              </a:rPr>
              <a:t></a:t>
            </a:r>
            <a:r>
              <a:rPr lang="en-US" altLang="en-US" baseline="-25000" dirty="0" err="1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(D</a:t>
            </a:r>
            <a:r>
              <a:rPr lang="en-US" altLang="en-US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) = characteristic size of </a:t>
            </a:r>
            <a:r>
              <a:rPr lang="en-US" altLang="en-US" dirty="0" err="1">
                <a:sym typeface="Symbol" pitchFamily="18" charset="2"/>
              </a:rPr>
              <a:t>ith</a:t>
            </a:r>
            <a:r>
              <a:rPr lang="en-US" altLang="en-US" dirty="0">
                <a:sym typeface="Symbol" pitchFamily="18" charset="2"/>
              </a:rPr>
              <a:t> grain size range</a:t>
            </a:r>
          </a:p>
          <a:p>
            <a:endParaRPr lang="en-US" altLang="en-US" dirty="0">
              <a:sym typeface="Symbol" pitchFamily="18" charset="2"/>
            </a:endParaRPr>
          </a:p>
          <a:p>
            <a:r>
              <a:rPr lang="en-US" altLang="en-US" dirty="0">
                <a:sym typeface="Symbol" pitchFamily="18" charset="2"/>
              </a:rPr>
              <a:t>f</a:t>
            </a:r>
            <a:r>
              <a:rPr lang="en-US" altLang="en-US" baseline="-25000" dirty="0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 = fraction of sample in </a:t>
            </a:r>
            <a:r>
              <a:rPr lang="en-US" altLang="en-US" dirty="0" err="1">
                <a:sym typeface="Symbol" pitchFamily="18" charset="2"/>
              </a:rPr>
              <a:t>ith</a:t>
            </a:r>
            <a:r>
              <a:rPr lang="en-US" altLang="en-US" dirty="0">
                <a:sym typeface="Symbol" pitchFamily="18" charset="2"/>
              </a:rPr>
              <a:t> grain size range</a:t>
            </a:r>
          </a:p>
        </p:txBody>
      </p:sp>
      <p:pic>
        <p:nvPicPr>
          <p:cNvPr id="14" name="Picture 14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1984375"/>
            <a:ext cx="6940550" cy="426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6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17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1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99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28600" y="1066800"/>
            <a:ext cx="876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/>
              <a:t>STATISTICAL CHARACTERISTICS OF SIZE DISTRIBUTION contd.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838200" y="5901335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D</a:t>
            </a:r>
            <a:r>
              <a:rPr lang="en-US" altLang="en-US" baseline="-25000" dirty="0"/>
              <a:t>g</a:t>
            </a:r>
            <a:r>
              <a:rPr lang="en-US" altLang="en-US" dirty="0"/>
              <a:t> = 0.273 mm, </a:t>
            </a:r>
            <a:r>
              <a:rPr lang="en-US" altLang="en-US" dirty="0">
                <a:sym typeface="Symbol" pitchFamily="18" charset="2"/>
              </a:rPr>
              <a:t></a:t>
            </a:r>
            <a:r>
              <a:rPr lang="en-US" altLang="en-US" baseline="-25000" dirty="0">
                <a:sym typeface="Symbol" pitchFamily="18" charset="2"/>
              </a:rPr>
              <a:t>g</a:t>
            </a:r>
            <a:r>
              <a:rPr lang="en-US" altLang="en-US" dirty="0">
                <a:sym typeface="Symbol" pitchFamily="18" charset="2"/>
              </a:rPr>
              <a:t> = 2.17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257800" y="1676400"/>
            <a:ext cx="3733800" cy="6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/>
              <a:t>   </a:t>
            </a:r>
            <a:r>
              <a:rPr lang="en-US" altLang="en-US"/>
              <a:t>= mean grain size on psi scale</a:t>
            </a:r>
          </a:p>
          <a:p>
            <a:r>
              <a:rPr lang="en-US" altLang="en-US">
                <a:sym typeface="Symbol" pitchFamily="18" charset="2"/>
              </a:rPr>
              <a:t> = standard deviation on psi scale</a:t>
            </a:r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5257800" y="1744663"/>
          <a:ext cx="269875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name="Equation" r:id="rId6" imgW="164957" imgH="190335" progId="Equation.3">
                  <p:embed/>
                </p:oleObj>
              </mc:Choice>
              <mc:Fallback>
                <p:oleObj name="Equation" r:id="rId6" imgW="164957" imgH="190335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744663"/>
                        <a:ext cx="269875" cy="31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/>
        </p:nvGraphicFramePr>
        <p:xfrm>
          <a:off x="5918200" y="2362200"/>
          <a:ext cx="2271713" cy="270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name="Equation" r:id="rId8" imgW="1193800" imgH="1422400" progId="Equation.3">
                  <p:embed/>
                </p:oleObj>
              </mc:Choice>
              <mc:Fallback>
                <p:oleObj name="Equation" r:id="rId8" imgW="1193800" imgH="14224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2362200"/>
                        <a:ext cx="2271713" cy="2708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4928857" y="5321898"/>
            <a:ext cx="4038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/>
              <a:t>D</a:t>
            </a:r>
            <a:r>
              <a:rPr lang="en-US" altLang="en-US" sz="2000" baseline="-25000" dirty="0"/>
              <a:t>g</a:t>
            </a:r>
            <a:r>
              <a:rPr lang="en-US" altLang="en-US" sz="2000" dirty="0"/>
              <a:t> </a:t>
            </a:r>
            <a:r>
              <a:rPr lang="en-US" altLang="en-US" dirty="0"/>
              <a:t>= geometric mean size</a:t>
            </a:r>
          </a:p>
          <a:p>
            <a:r>
              <a:rPr lang="en-US" altLang="en-US" dirty="0">
                <a:sym typeface="Symbol" pitchFamily="18" charset="2"/>
              </a:rPr>
              <a:t></a:t>
            </a:r>
            <a:r>
              <a:rPr lang="en-US" altLang="en-US" baseline="-25000" dirty="0">
                <a:sym typeface="Symbol" pitchFamily="18" charset="2"/>
              </a:rPr>
              <a:t>g</a:t>
            </a:r>
            <a:r>
              <a:rPr lang="en-US" altLang="en-US" dirty="0">
                <a:sym typeface="Symbol" pitchFamily="18" charset="2"/>
              </a:rPr>
              <a:t> = geometric standard deviation (  1)</a:t>
            </a:r>
          </a:p>
          <a:p>
            <a:r>
              <a:rPr lang="en-US" altLang="en-US" dirty="0">
                <a:sym typeface="Symbol" pitchFamily="18" charset="2"/>
              </a:rPr>
              <a:t>Sediment is well sorted if </a:t>
            </a:r>
            <a:r>
              <a:rPr lang="en-US" altLang="en-US" baseline="-25000" dirty="0">
                <a:sym typeface="Symbol" pitchFamily="18" charset="2"/>
              </a:rPr>
              <a:t>g</a:t>
            </a:r>
            <a:r>
              <a:rPr lang="en-US" altLang="en-US" dirty="0">
                <a:sym typeface="Symbol" pitchFamily="18" charset="2"/>
              </a:rPr>
              <a:t> &lt; 1.6</a:t>
            </a:r>
          </a:p>
        </p:txBody>
      </p:sp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6400"/>
            <a:ext cx="6635750" cy="407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7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18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19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301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228600" y="1066800"/>
            <a:ext cx="8763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 dirty="0" smtClean="0"/>
              <a:t>Example:  WHY </a:t>
            </a:r>
            <a:r>
              <a:rPr lang="en-US" altLang="en-US" b="1" dirty="0"/>
              <a:t>CHARACTERIZE GRAIN SIZE DISTRIBUTIONS IN TERMS </a:t>
            </a:r>
            <a:r>
              <a:rPr lang="en-US" altLang="en-US" b="1" dirty="0" smtClean="0"/>
              <a:t>OF </a:t>
            </a:r>
          </a:p>
          <a:p>
            <a:pPr algn="ctr"/>
            <a:r>
              <a:rPr lang="en-US" altLang="en-US" b="1" dirty="0" smtClean="0"/>
              <a:t>A </a:t>
            </a:r>
            <a:r>
              <a:rPr lang="en-US" altLang="en-US" b="1" dirty="0"/>
              <a:t>LOGARITHMIC GRAIN SIZE?</a:t>
            </a: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76200" y="1752600"/>
            <a:ext cx="891540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Consider a sediment sample that is half sand, half gravel (here loosely interpreted as material coarser than 2 mm), ranging </a:t>
            </a:r>
            <a:r>
              <a:rPr lang="en-US" altLang="en-US" b="1" dirty="0"/>
              <a:t>uniformly</a:t>
            </a:r>
            <a:r>
              <a:rPr lang="en-US" altLang="en-US" dirty="0"/>
              <a:t> from 0.0625 mm to 64 mm.  Plotted with a logarithmic grain size scale, the sample is correctly seen to be half sand, half gravel.  Plotted using a linear grain size scale, all the information about the sand half of the sample is squeezed into a tiny zone on the left-hand side of the diagram.</a:t>
            </a:r>
            <a:endParaRPr lang="en-US" altLang="en-US" dirty="0">
              <a:sym typeface="Symbol" pitchFamily="18" charset="2"/>
            </a:endParaRPr>
          </a:p>
        </p:txBody>
      </p:sp>
      <p:pic>
        <p:nvPicPr>
          <p:cNvPr id="21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76600"/>
            <a:ext cx="4419600" cy="302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276600"/>
            <a:ext cx="4419600" cy="30210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 Box 11"/>
          <p:cNvSpPr txBox="1">
            <a:spLocks noChangeArrowheads="1"/>
          </p:cNvSpPr>
          <p:nvPr/>
        </p:nvSpPr>
        <p:spPr bwMode="auto">
          <a:xfrm>
            <a:off x="684074" y="6294571"/>
            <a:ext cx="3429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1600" dirty="0"/>
              <a:t>Logarithmic scale for grain size</a:t>
            </a:r>
            <a:endParaRPr lang="en-US" altLang="en-US" sz="1600" dirty="0">
              <a:sym typeface="Symbol" pitchFamily="18" charset="2"/>
            </a:endParaRP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5408474" y="6297668"/>
            <a:ext cx="3429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1600" dirty="0"/>
              <a:t>Linear scale for grain size</a:t>
            </a:r>
            <a:endParaRPr lang="en-US" altLang="en-US" sz="1600" dirty="0">
              <a:sym typeface="Symbol" pitchFamily="18" charset="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2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13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827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28600" y="1066800"/>
            <a:ext cx="876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 dirty="0"/>
              <a:t>UNIMODAL AND BIMODAL GRAIN SIZE DISTRIBUTIONS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27846" y="1752600"/>
            <a:ext cx="8686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The fractions f</a:t>
            </a:r>
            <a:r>
              <a:rPr lang="en-US" altLang="en-US" baseline="-25000" dirty="0"/>
              <a:t>i</a:t>
            </a:r>
            <a:r>
              <a:rPr lang="en-US" altLang="en-US" dirty="0"/>
              <a:t>(</a:t>
            </a:r>
            <a:r>
              <a:rPr lang="en-US" altLang="en-US" dirty="0">
                <a:sym typeface="Symbol" pitchFamily="18" charset="2"/>
              </a:rPr>
              <a:t></a:t>
            </a:r>
            <a:r>
              <a:rPr lang="en-US" altLang="en-US" baseline="-25000" dirty="0" err="1">
                <a:sym typeface="Symbol" pitchFamily="18" charset="2"/>
              </a:rPr>
              <a:t>i</a:t>
            </a:r>
            <a:r>
              <a:rPr lang="en-US" altLang="en-US" dirty="0">
                <a:sym typeface="Symbol" pitchFamily="18" charset="2"/>
              </a:rPr>
              <a:t>) represent a discretized version of the continuous function f(), f denoting the mass fraction of a sample that is finer than size .  The probability density p</a:t>
            </a:r>
            <a:r>
              <a:rPr lang="en-US" altLang="en-US" baseline="-25000" dirty="0">
                <a:sym typeface="Symbol" pitchFamily="18" charset="2"/>
              </a:rPr>
              <a:t>f</a:t>
            </a:r>
            <a:r>
              <a:rPr lang="en-US" altLang="en-US" dirty="0">
                <a:sym typeface="Symbol" pitchFamily="18" charset="2"/>
              </a:rPr>
              <a:t> of size  is thus given as p = </a:t>
            </a:r>
            <a:r>
              <a:rPr lang="en-US" altLang="en-US" dirty="0" err="1">
                <a:sym typeface="Symbol" pitchFamily="18" charset="2"/>
              </a:rPr>
              <a:t>df</a:t>
            </a:r>
            <a:r>
              <a:rPr lang="en-US" altLang="en-US" dirty="0">
                <a:sym typeface="Symbol" pitchFamily="18" charset="2"/>
              </a:rPr>
              <a:t>/d.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446" y="2218139"/>
            <a:ext cx="5562600" cy="380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27846" y="3124200"/>
            <a:ext cx="3505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The example to the </a:t>
            </a:r>
            <a:r>
              <a:rPr lang="en-US" altLang="en-US" dirty="0" smtClean="0"/>
              <a:t>right corresponds </a:t>
            </a:r>
            <a:r>
              <a:rPr lang="en-US" altLang="en-US" dirty="0"/>
              <a:t>to a Gaussian (normal) distribution </a:t>
            </a:r>
            <a:r>
              <a:rPr lang="en-US" altLang="en-US" dirty="0" smtClean="0"/>
              <a:t>with:</a:t>
            </a:r>
          </a:p>
          <a:p>
            <a:pPr marL="285750" indent="-285750">
              <a:buFont typeface="Symbol" pitchFamily="18" charset="2"/>
              <a:buChar char="y"/>
            </a:pPr>
            <a:r>
              <a:rPr lang="en-US" altLang="en-US" dirty="0" smtClean="0"/>
              <a:t>= </a:t>
            </a:r>
            <a:r>
              <a:rPr lang="en-US" altLang="en-US" dirty="0"/>
              <a:t>-</a:t>
            </a:r>
            <a:r>
              <a:rPr lang="en-US" altLang="en-US" dirty="0" smtClean="0"/>
              <a:t>1 (D</a:t>
            </a:r>
            <a:r>
              <a:rPr lang="en-US" altLang="en-US" baseline="-25000" dirty="0" smtClean="0"/>
              <a:t>g</a:t>
            </a:r>
            <a:r>
              <a:rPr lang="en-US" altLang="en-US" dirty="0" smtClean="0"/>
              <a:t> </a:t>
            </a:r>
            <a:r>
              <a:rPr lang="en-US" altLang="en-US" dirty="0"/>
              <a:t>= 0.5 mm) and </a:t>
            </a:r>
            <a:endParaRPr lang="en-US" altLang="en-US" dirty="0" smtClean="0"/>
          </a:p>
          <a:p>
            <a:r>
              <a:rPr lang="en-US" altLang="en-US" dirty="0" smtClean="0">
                <a:sym typeface="Symbol" pitchFamily="18" charset="2"/>
              </a:rPr>
              <a:t> </a:t>
            </a:r>
            <a:r>
              <a:rPr lang="en-US" altLang="en-US" dirty="0">
                <a:sym typeface="Symbol" pitchFamily="18" charset="2"/>
              </a:rPr>
              <a:t>= 0.8 (</a:t>
            </a:r>
            <a:r>
              <a:rPr lang="en-US" altLang="en-US" baseline="-25000" dirty="0">
                <a:sym typeface="Symbol" pitchFamily="18" charset="2"/>
              </a:rPr>
              <a:t>g</a:t>
            </a:r>
            <a:r>
              <a:rPr lang="en-US" altLang="en-US" dirty="0">
                <a:sym typeface="Symbol" pitchFamily="18" charset="2"/>
              </a:rPr>
              <a:t> = 1.74</a:t>
            </a:r>
            <a:r>
              <a:rPr lang="en-US" altLang="en-US" dirty="0" smtClean="0">
                <a:sym typeface="Symbol" pitchFamily="18" charset="2"/>
              </a:rPr>
              <a:t>)</a:t>
            </a:r>
            <a:endParaRPr lang="en-US" altLang="en-US" dirty="0">
              <a:sym typeface="Symbol" pitchFamily="18" charset="2"/>
            </a:endParaRPr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891833"/>
              </p:ext>
            </p:extLst>
          </p:nvPr>
        </p:nvGraphicFramePr>
        <p:xfrm>
          <a:off x="380246" y="4648200"/>
          <a:ext cx="2840038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7" imgW="1968500" imgH="533400" progId="Equation.3">
                  <p:embed/>
                </p:oleObj>
              </mc:Choice>
              <mc:Fallback>
                <p:oleObj name="Equation" r:id="rId7" imgW="1968500" imgH="533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46" y="4648200"/>
                        <a:ext cx="2840038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3124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28600" y="1066800"/>
            <a:ext cx="876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 dirty="0"/>
              <a:t>UNIMODAL AND BIMODAL GRAIN SIZE DISTRIBUTIONS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28600" y="1752600"/>
            <a:ext cx="8686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 smtClean="0">
                <a:sym typeface="Symbol" pitchFamily="18" charset="2"/>
              </a:rPr>
              <a:t>The </a:t>
            </a:r>
            <a:r>
              <a:rPr lang="en-US" altLang="en-US" dirty="0">
                <a:sym typeface="Symbol" pitchFamily="18" charset="2"/>
              </a:rPr>
              <a:t>probability density p</a:t>
            </a:r>
            <a:r>
              <a:rPr lang="en-US" altLang="en-US" baseline="-25000" dirty="0">
                <a:sym typeface="Symbol" pitchFamily="18" charset="2"/>
              </a:rPr>
              <a:t>f</a:t>
            </a:r>
            <a:r>
              <a:rPr lang="en-US" altLang="en-US" dirty="0">
                <a:sym typeface="Symbol" pitchFamily="18" charset="2"/>
              </a:rPr>
              <a:t> of size  is </a:t>
            </a:r>
            <a:r>
              <a:rPr lang="en-US" altLang="en-US" dirty="0" smtClean="0">
                <a:sym typeface="Symbol" pitchFamily="18" charset="2"/>
              </a:rPr>
              <a:t>given </a:t>
            </a:r>
            <a:r>
              <a:rPr lang="en-US" altLang="en-US" dirty="0">
                <a:sym typeface="Symbol" pitchFamily="18" charset="2"/>
              </a:rPr>
              <a:t>as p = </a:t>
            </a:r>
            <a:r>
              <a:rPr lang="en-US" altLang="en-US" dirty="0" err="1">
                <a:sym typeface="Symbol" pitchFamily="18" charset="2"/>
              </a:rPr>
              <a:t>df</a:t>
            </a:r>
            <a:r>
              <a:rPr lang="en-US" altLang="en-US" dirty="0">
                <a:sym typeface="Symbol" pitchFamily="18" charset="2"/>
              </a:rPr>
              <a:t>/d.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775131"/>
            <a:ext cx="5562600" cy="380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051541"/>
              </p:ext>
            </p:extLst>
          </p:nvPr>
        </p:nvGraphicFramePr>
        <p:xfrm>
          <a:off x="381000" y="2514600"/>
          <a:ext cx="2840038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Equation" r:id="rId7" imgW="1968500" imgH="533400" progId="Equation.3">
                  <p:embed/>
                </p:oleObj>
              </mc:Choice>
              <mc:Fallback>
                <p:oleObj name="Equation" r:id="rId7" imgW="1968500" imgH="533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514600"/>
                        <a:ext cx="2840038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28600" y="3729831"/>
            <a:ext cx="35052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The grain size distribution is called </a:t>
            </a:r>
            <a:r>
              <a:rPr lang="en-US" altLang="en-US" dirty="0" err="1"/>
              <a:t>unimodel</a:t>
            </a:r>
            <a:r>
              <a:rPr lang="en-US" altLang="en-US" dirty="0"/>
              <a:t> because the function p(</a:t>
            </a:r>
            <a:r>
              <a:rPr lang="en-US" altLang="en-US" dirty="0">
                <a:sym typeface="Symbol" pitchFamily="18" charset="2"/>
              </a:rPr>
              <a:t>) has a single mode, or peak.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304800" y="4935844"/>
            <a:ext cx="472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The following approximations </a:t>
            </a:r>
            <a:endParaRPr lang="en-US" altLang="en-US" dirty="0" smtClean="0"/>
          </a:p>
          <a:p>
            <a:r>
              <a:rPr lang="en-US" altLang="en-US" dirty="0" smtClean="0"/>
              <a:t>are </a:t>
            </a:r>
            <a:r>
              <a:rPr lang="en-US" altLang="en-US" dirty="0"/>
              <a:t>valid for a Gaussian distribution:</a:t>
            </a:r>
            <a:endParaRPr lang="en-US" altLang="en-US" dirty="0">
              <a:sym typeface="Symbol" pitchFamily="18" charset="2"/>
            </a:endParaRPr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172561"/>
              </p:ext>
            </p:extLst>
          </p:nvPr>
        </p:nvGraphicFramePr>
        <p:xfrm>
          <a:off x="3251994" y="5564368"/>
          <a:ext cx="264001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Equation" r:id="rId9" imgW="1828800" imgH="482600" progId="Equation.3">
                  <p:embed/>
                </p:oleObj>
              </mc:Choice>
              <mc:Fallback>
                <p:oleObj name="Equation" r:id="rId9" imgW="1828800" imgH="482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994" y="5564368"/>
                        <a:ext cx="2640012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18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19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9182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28600" y="1066800"/>
            <a:ext cx="8763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b="1"/>
              <a:t>UNIMODAL AND BIMODAL GRAIN SIZE DISTRIBUTIONS contd.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6200" y="1676400"/>
            <a:ext cx="42672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dirty="0">
                <a:sym typeface="Symbol" pitchFamily="18" charset="2"/>
              </a:rPr>
              <a:t>A </a:t>
            </a:r>
            <a:r>
              <a:rPr lang="en-US" altLang="en-US" b="1" dirty="0">
                <a:sym typeface="Symbol" pitchFamily="18" charset="2"/>
              </a:rPr>
              <a:t>sand-bed river</a:t>
            </a:r>
            <a:r>
              <a:rPr lang="en-US" altLang="en-US" dirty="0">
                <a:sym typeface="Symbol" pitchFamily="18" charset="2"/>
              </a:rPr>
              <a:t> has a characteristic size of bed surface sediment (D</a:t>
            </a:r>
            <a:r>
              <a:rPr lang="en-US" altLang="en-US" baseline="-25000" dirty="0">
                <a:sym typeface="Symbol" pitchFamily="18" charset="2"/>
              </a:rPr>
              <a:t>50</a:t>
            </a:r>
            <a:r>
              <a:rPr lang="en-US" altLang="en-US" dirty="0">
                <a:sym typeface="Symbol" pitchFamily="18" charset="2"/>
              </a:rPr>
              <a:t> or D</a:t>
            </a:r>
            <a:r>
              <a:rPr lang="en-US" altLang="en-US" baseline="-25000" dirty="0">
                <a:sym typeface="Symbol" pitchFamily="18" charset="2"/>
              </a:rPr>
              <a:t>g</a:t>
            </a:r>
            <a:r>
              <a:rPr lang="en-US" altLang="en-US" dirty="0">
                <a:sym typeface="Symbol" pitchFamily="18" charset="2"/>
              </a:rPr>
              <a:t>) that is in the sand range.</a:t>
            </a:r>
          </a:p>
          <a:p>
            <a:endParaRPr lang="en-US" altLang="en-US" dirty="0">
              <a:sym typeface="Symbol" pitchFamily="18" charset="2"/>
            </a:endParaRPr>
          </a:p>
          <a:p>
            <a:r>
              <a:rPr lang="en-US" altLang="en-US" dirty="0" smtClean="0">
                <a:sym typeface="Symbol" pitchFamily="18" charset="2"/>
              </a:rPr>
              <a:t>The </a:t>
            </a:r>
            <a:r>
              <a:rPr lang="en-US" altLang="en-US" dirty="0">
                <a:sym typeface="Symbol" pitchFamily="18" charset="2"/>
              </a:rPr>
              <a:t>grain size distributions of most sand-bed streams are </a:t>
            </a:r>
            <a:r>
              <a:rPr lang="en-US" altLang="en-US" b="1" dirty="0" err="1">
                <a:sym typeface="Symbol" pitchFamily="18" charset="2"/>
              </a:rPr>
              <a:t>unimodal</a:t>
            </a:r>
            <a:r>
              <a:rPr lang="en-US" altLang="en-US" dirty="0">
                <a:sym typeface="Symbol" pitchFamily="18" charset="2"/>
              </a:rPr>
              <a:t>, and can often be approximated with a Gaussian function.</a:t>
            </a:r>
          </a:p>
          <a:p>
            <a:endParaRPr lang="en-US" altLang="en-US" dirty="0">
              <a:sym typeface="Symbol" pitchFamily="18" charset="2"/>
            </a:endParaRPr>
          </a:p>
          <a:p>
            <a:r>
              <a:rPr lang="en-US" altLang="en-US" dirty="0">
                <a:sym typeface="Symbol" pitchFamily="18" charset="2"/>
              </a:rPr>
              <a:t>Many </a:t>
            </a:r>
            <a:r>
              <a:rPr lang="en-US" altLang="en-US" b="1" dirty="0">
                <a:sym typeface="Symbol" pitchFamily="18" charset="2"/>
              </a:rPr>
              <a:t>gravel-bed river</a:t>
            </a:r>
            <a:r>
              <a:rPr lang="en-US" altLang="en-US" dirty="0">
                <a:sym typeface="Symbol" pitchFamily="18" charset="2"/>
              </a:rPr>
              <a:t>, however, show </a:t>
            </a:r>
            <a:r>
              <a:rPr lang="en-US" altLang="en-US" b="1" dirty="0">
                <a:sym typeface="Symbol" pitchFamily="18" charset="2"/>
              </a:rPr>
              <a:t>bimodal</a:t>
            </a:r>
            <a:r>
              <a:rPr lang="en-US" altLang="en-US" b="1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grain size distributions, as shown to the upper right.  Such streams show a sand mode and a gravel mode, often with a paucity of sediment in the pea-gravel size (2 ~ 8 mm).</a:t>
            </a:r>
          </a:p>
        </p:txBody>
      </p:sp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150" y="1524000"/>
            <a:ext cx="4946650" cy="338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4610100" y="4876800"/>
            <a:ext cx="41423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>
                <a:sym typeface="Symbol" pitchFamily="18" charset="2"/>
              </a:rPr>
              <a:t>A bimodal (multimodal) distribution can be recognized in a plot of f versus  in terms of a plateau (multiple plateaus) where f does not increase strongly with .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5867400" y="3581400"/>
            <a:ext cx="438150" cy="1325563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/>
          <p:cNvSpPr txBox="1">
            <a:spLocks/>
          </p:cNvSpPr>
          <p:nvPr/>
        </p:nvSpPr>
        <p:spPr>
          <a:xfrm>
            <a:off x="0" y="0"/>
            <a:ext cx="9144000" cy="990600"/>
          </a:xfrm>
          <a:prstGeom prst="rect">
            <a:avLst/>
          </a:prstGeo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smtClean="0"/>
              <a:t>Grain Size Distribution</a:t>
            </a:r>
            <a:endParaRPr lang="en-US" sz="3200" dirty="0"/>
          </a:p>
        </p:txBody>
      </p:sp>
      <p:pic>
        <p:nvPicPr>
          <p:cNvPr id="13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508" y="151263"/>
            <a:ext cx="2179839" cy="457200"/>
          </a:xfrm>
          <a:prstGeom prst="rect">
            <a:avLst/>
          </a:prstGeom>
        </p:spPr>
      </p:pic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8821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  <a:gradFill flip="none" rotWithShape="1">
            <a:gsLst>
              <a:gs pos="39000">
                <a:srgbClr val="D4DEFF"/>
              </a:gs>
              <a:gs pos="24000">
                <a:schemeClr val="bg2">
                  <a:lumMod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r>
              <a:rPr lang="es-ES" sz="3200" dirty="0"/>
              <a:t>Título/Capítulo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090" y="152400"/>
            <a:ext cx="2179839" cy="457200"/>
          </a:xfrm>
          <a:prstGeom prst="rect">
            <a:avLst/>
          </a:prstGeom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6000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38450" y="6553200"/>
            <a:ext cx="3467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 smtClean="0">
                <a:solidFill>
                  <a:srgbClr val="0070C0"/>
                </a:solidFill>
              </a:rPr>
              <a:t>Allen </a:t>
            </a:r>
            <a:r>
              <a:rPr lang="es-ES" sz="1200" dirty="0" err="1" smtClean="0">
                <a:solidFill>
                  <a:srgbClr val="0070C0"/>
                </a:solidFill>
              </a:rPr>
              <a:t>Bateman</a:t>
            </a:r>
            <a:r>
              <a:rPr lang="es-ES" sz="1200" dirty="0">
                <a:solidFill>
                  <a:srgbClr val="0070C0"/>
                </a:solidFill>
              </a:rPr>
              <a:t> </a:t>
            </a:r>
            <a:r>
              <a:rPr lang="es-ES" sz="1200" dirty="0" smtClean="0">
                <a:solidFill>
                  <a:srgbClr val="0070C0"/>
                </a:solidFill>
              </a:rPr>
              <a:t>Pinzón ---- Curso …… 2014/2015 </a:t>
            </a:r>
            <a:endParaRPr lang="en-US" sz="1200" dirty="0">
              <a:solidFill>
                <a:srgbClr val="0070C0"/>
              </a:solidFill>
            </a:endParaRPr>
          </a:p>
        </p:txBody>
      </p:sp>
      <p:pic>
        <p:nvPicPr>
          <p:cNvPr id="6" name="Picture 5" descr="Fig3-1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976" y="1628800"/>
            <a:ext cx="2828925" cy="429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44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1189</Words>
  <Application>Microsoft Office PowerPoint</Application>
  <PresentationFormat>On-screen Show (4:3)</PresentationFormat>
  <Paragraphs>268</Paragraphs>
  <Slides>17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Symbol</vt:lpstr>
      <vt:lpstr>Office Theme</vt:lpstr>
      <vt:lpstr>Equation</vt:lpstr>
      <vt:lpstr>MathType 7.0 Equation</vt:lpstr>
      <vt:lpstr>Grain Size Distribution</vt:lpstr>
      <vt:lpstr>Grain Size Distribution slides from Gary PArker</vt:lpstr>
      <vt:lpstr>Título/Capítulo</vt:lpstr>
      <vt:lpstr>Grain Size Distribution</vt:lpstr>
      <vt:lpstr>Título/Capítulo</vt:lpstr>
      <vt:lpstr>Título/Capítulo</vt:lpstr>
      <vt:lpstr>Título/Capítulo</vt:lpstr>
      <vt:lpstr>Título/Capítulo</vt:lpstr>
      <vt:lpstr>Título/Capítulo</vt:lpstr>
      <vt:lpstr>Título/Capítulo</vt:lpstr>
      <vt:lpstr>Título/Capítulo</vt:lpstr>
      <vt:lpstr>Título/Capítulo</vt:lpstr>
      <vt:lpstr>Título/Capítulo</vt:lpstr>
      <vt:lpstr>Título/Capítulo</vt:lpstr>
      <vt:lpstr>Título/Capítulo</vt:lpstr>
      <vt:lpstr>Título/Capítulo</vt:lpstr>
      <vt:lpstr>Título/Capítulo</vt:lpstr>
    </vt:vector>
  </TitlesOfParts>
  <Company>GITS-UPC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UPCnet</dc:creator>
  <cp:lastModifiedBy>Allen Bateman Pinzon</cp:lastModifiedBy>
  <cp:revision>22</cp:revision>
  <dcterms:created xsi:type="dcterms:W3CDTF">2014-04-01T16:57:14Z</dcterms:created>
  <dcterms:modified xsi:type="dcterms:W3CDTF">2021-09-13T16:27:08Z</dcterms:modified>
</cp:coreProperties>
</file>
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</p:sldMasterIdLst>
  <p:notesMasterIdLst>
    <p:notesMasterId r:id="rId49"/>
  </p:notesMasterIdLst>
  <p:handoutMasterIdLst>
    <p:handoutMasterId r:id="rId50"/>
  </p:handoutMasterIdLst>
  <p:sldIdLst>
    <p:sldId id="286" r:id="rId3"/>
    <p:sldId id="291" r:id="rId4"/>
    <p:sldId id="287" r:id="rId5"/>
    <p:sldId id="351" r:id="rId6"/>
    <p:sldId id="352" r:id="rId7"/>
    <p:sldId id="257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8" r:id="rId18"/>
    <p:sldId id="362" r:id="rId19"/>
    <p:sldId id="363" r:id="rId20"/>
    <p:sldId id="364" r:id="rId21"/>
    <p:sldId id="365" r:id="rId22"/>
    <p:sldId id="366" r:id="rId23"/>
    <p:sldId id="367" r:id="rId24"/>
    <p:sldId id="370" r:id="rId25"/>
    <p:sldId id="369" r:id="rId26"/>
    <p:sldId id="371" r:id="rId27"/>
    <p:sldId id="372" r:id="rId28"/>
    <p:sldId id="373" r:id="rId29"/>
    <p:sldId id="376" r:id="rId30"/>
    <p:sldId id="377" r:id="rId31"/>
    <p:sldId id="378" r:id="rId32"/>
    <p:sldId id="379" r:id="rId33"/>
    <p:sldId id="380" r:id="rId34"/>
    <p:sldId id="381" r:id="rId35"/>
    <p:sldId id="382" r:id="rId36"/>
    <p:sldId id="383" r:id="rId37"/>
    <p:sldId id="384" r:id="rId38"/>
    <p:sldId id="385" r:id="rId39"/>
    <p:sldId id="386" r:id="rId40"/>
    <p:sldId id="387" r:id="rId41"/>
    <p:sldId id="388" r:id="rId42"/>
    <p:sldId id="390" r:id="rId43"/>
    <p:sldId id="389" r:id="rId44"/>
    <p:sldId id="391" r:id="rId45"/>
    <p:sldId id="393" r:id="rId46"/>
    <p:sldId id="330" r:id="rId47"/>
    <p:sldId id="333" r:id="rId4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DD2DFCEF-2E9A-4480-B679-985C63BC599A}">
          <p14:sldIdLst>
            <p14:sldId id="286"/>
            <p14:sldId id="291"/>
            <p14:sldId id="287"/>
            <p14:sldId id="351"/>
            <p14:sldId id="352"/>
            <p14:sldId id="257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8"/>
            <p14:sldId id="362"/>
            <p14:sldId id="363"/>
            <p14:sldId id="364"/>
            <p14:sldId id="365"/>
            <p14:sldId id="366"/>
            <p14:sldId id="367"/>
            <p14:sldId id="370"/>
            <p14:sldId id="369"/>
            <p14:sldId id="371"/>
            <p14:sldId id="372"/>
            <p14:sldId id="373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0"/>
            <p14:sldId id="389"/>
            <p14:sldId id="391"/>
            <p14:sldId id="393"/>
            <p14:sldId id="330"/>
            <p14:sldId id="3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E78"/>
    <a:srgbClr val="00008C"/>
    <a:srgbClr val="323F4B"/>
    <a:srgbClr val="FFFFFF"/>
    <a:srgbClr val="000000"/>
    <a:srgbClr val="00005A"/>
    <a:srgbClr val="97C6FF"/>
    <a:srgbClr val="C8C8FF"/>
    <a:srgbClr val="FFB9FF"/>
    <a:srgbClr val="FFA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5137" autoAdjust="0"/>
  </p:normalViewPr>
  <p:slideViewPr>
    <p:cSldViewPr snapToGrid="0" showGuides="1">
      <p:cViewPr varScale="1">
        <p:scale>
          <a:sx n="155" d="100"/>
          <a:sy n="155" d="100"/>
        </p:scale>
        <p:origin x="312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8.svg"/><Relationship Id="rId4" Type="http://schemas.openxmlformats.org/officeDocument/2006/relationships/image" Target="../media/image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67F0855C-B0D9-41CD-97A7-F4E38BC217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solidFill>
                  <a:srgbClr val="00008C"/>
                </a:solidFill>
              </a:rPr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1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5154294" y="-4145914"/>
            <a:ext cx="17099914" cy="17099914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5C0215D-C2A9-4288-A167-D96DA6BA38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C549F246-3DE0-4A33-89D1-F3F79D06D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3737903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0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C549F246-3DE0-4A33-89D1-F3F79D06D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3737903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7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vorga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Schriftgröße 32pt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de-DE" dirty="0"/>
              <a:t>Mastertextformat Schriftgröße 20pt</a:t>
            </a:r>
            <a:br>
              <a:rPr lang="de-DE" dirty="0"/>
            </a:br>
            <a:r>
              <a:rPr lang="de-DE" dirty="0"/>
              <a:t>(Kann vergrößert werden auf 24pt, Minimum Schriftgröße 16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Die Schriftgrößen wurde in folgenden Räumen getestet</a:t>
            </a:r>
          </a:p>
          <a:p>
            <a:pPr lvl="2"/>
            <a:r>
              <a:rPr lang="de-DE" dirty="0"/>
              <a:t>HSZ Audimax</a:t>
            </a:r>
          </a:p>
          <a:p>
            <a:pPr lvl="2"/>
            <a:r>
              <a:rPr lang="de-DE" dirty="0"/>
              <a:t>HSZ Hörsaal 3</a:t>
            </a:r>
          </a:p>
          <a:p>
            <a:pPr lvl="2"/>
            <a:r>
              <a:rPr lang="de-DE" dirty="0"/>
              <a:t>HSZ Seminarraum klein</a:t>
            </a:r>
          </a:p>
          <a:p>
            <a:pPr lvl="1"/>
            <a:r>
              <a:rPr lang="de-DE" dirty="0"/>
              <a:t>In allen drei Räumen ist 20 und 24 </a:t>
            </a:r>
            <a:r>
              <a:rPr lang="de-DE" dirty="0" err="1"/>
              <a:t>pt</a:t>
            </a:r>
            <a:r>
              <a:rPr lang="de-DE" dirty="0"/>
              <a:t> gut lesbar. Im </a:t>
            </a:r>
            <a:r>
              <a:rPr lang="de-DE" dirty="0" err="1"/>
              <a:t>Seminaraum</a:t>
            </a:r>
            <a:r>
              <a:rPr lang="de-DE" dirty="0"/>
              <a:t> ist 16 </a:t>
            </a:r>
            <a:r>
              <a:rPr lang="de-DE" dirty="0" err="1"/>
              <a:t>pt</a:t>
            </a:r>
            <a:r>
              <a:rPr lang="de-DE" dirty="0"/>
              <a:t> grenzwertig klein.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E97365-2970-48C5-8643-B05B104BD1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8075614" y="6057900"/>
            <a:ext cx="3506786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Platz für Zweitlogos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71FF40-B767-4E15-B8F5-6DAC252E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7D106F-3835-4287-88EB-AAAD315A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2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64895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4173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7706136"/>
            <a:ext cx="14132540" cy="14874190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08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D9D1B83-BB64-4D87-85E3-7B792A9EDE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08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D725AF-5383-4E5D-A2D3-3FABBEC0B6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753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>
            <a:extLst>
              <a:ext uri="{FF2B5EF4-FFF2-40B4-BE49-F238E27FC236}">
                <a16:creationId xmlns:a16="http://schemas.microsoft.com/office/drawing/2014/main" id="{2664A485-C158-4BFC-B46D-7201DF28B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6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79737FE-1C79-470F-BA5B-0406C5992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61B13-C907-4A87-B55A-8284A73D5D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048EAF-9787-48D5-83DB-543645FD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4E10E8-4BB9-460B-9BDB-62195F7C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75E21A-6BBF-4B32-A70F-301838EEE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A73340-69A4-498B-8B80-80BE3D07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B2E58B-9728-4374-A113-BCFD69F635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07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74800" y="345960"/>
            <a:ext cx="105804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de-DE" sz="162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de-DE" sz="1600" b="0" strike="noStrike" spc="-1">
              <a:solidFill>
                <a:schemeClr val="dk2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30E2FD-085E-403C-9113-B997075A2B09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50606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74800" y="345960"/>
            <a:ext cx="1058040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de-DE" sz="162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26276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de-DE" sz="1600" b="0" strike="noStrike" spc="-1">
              <a:solidFill>
                <a:schemeClr val="dk2"/>
              </a:solidFill>
              <a:latin typeface="Open Sans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368880" y="1600200"/>
            <a:ext cx="26276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de-DE" sz="1600" b="0" strike="noStrike" spc="-1">
              <a:solidFill>
                <a:schemeClr val="dk2"/>
              </a:solidFill>
              <a:latin typeface="Ope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1B44D69-76CA-4C3D-8A99-CA3EB8E84D93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94147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90176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8D79D-95E0-48C6-B019-1226D5FF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F6757A7-BF21-40B3-87C7-F536EB12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A27A73C-FDCC-408D-8A9B-5EBAC191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3732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>
            <a:extLst>
              <a:ext uri="{FF2B5EF4-FFF2-40B4-BE49-F238E27FC236}">
                <a16:creationId xmlns:a16="http://schemas.microsoft.com/office/drawing/2014/main" id="{ACAEB40F-408E-4739-B8F1-87C3D3468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195269A-E3C2-4E88-93E3-F49E631252D9}"/>
                </a:ext>
              </a:extLst>
            </p:cNvPr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539E4E4-5E00-4985-8757-11EFDE979DB4}"/>
                </a:ext>
              </a:extLst>
            </p:cNvPr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65121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039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642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85B0F-EAE3-4972-B2DD-61B691A3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53F19BAF-18FD-44C8-85CA-F885321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7CA3D32E-E2F8-4C0E-AF41-451C832967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A0901FF-14F3-43C6-9205-4A412557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29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BB6767-F2B8-4BAA-BF07-3F9A160B3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84427" y="-5069549"/>
            <a:ext cx="18380919" cy="182111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61879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AD44A7-FBE6-494B-B2A9-85542E1AE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1CBF57BC-B38C-414F-92BB-F40579F88E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B2B44DCF-A510-4A00-82ED-05FBF8B59E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16388" y="6207760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bg1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80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2FBAC-C92F-4FEA-8170-E94EC94C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79C7FCDB-8A5F-4D8C-B998-2CC83B8C89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FB4AAEC-A7C5-4365-B424-8E68D40435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576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997200"/>
            <a:ext cx="3506788" cy="2844800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43400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16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8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UW-MHYWI-302: Numerical Methods for Hydro Sciences</a:t>
            </a:r>
            <a:r>
              <a:rPr lang="de-DE" sz="1200" dirty="0">
                <a:solidFill>
                  <a:srgbClr val="00008C"/>
                </a:solidFill>
              </a:rPr>
              <a:t> </a:t>
            </a:r>
            <a:r>
              <a:rPr lang="de-DE" sz="1200">
                <a:solidFill>
                  <a:srgbClr val="00008C"/>
                </a:solidFill>
              </a:rPr>
              <a:t>| Time </a:t>
            </a:r>
            <a:r>
              <a:rPr lang="de-DE" sz="1200" dirty="0" err="1">
                <a:solidFill>
                  <a:srgbClr val="00008C"/>
                </a:solidFill>
              </a:rPr>
              <a:t>discretization</a:t>
            </a:r>
            <a:r>
              <a:rPr lang="de-DE" sz="1200" dirty="0">
                <a:solidFill>
                  <a:srgbClr val="00008C"/>
                </a:solidFill>
              </a:rPr>
              <a:t> 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‹Nr.›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706" r:id="rId3"/>
    <p:sldLayoutId id="2147483776" r:id="rId4"/>
    <p:sldLayoutId id="2147483769" r:id="rId5"/>
    <p:sldLayoutId id="2147483778" r:id="rId6"/>
    <p:sldLayoutId id="2147483650" r:id="rId7"/>
    <p:sldLayoutId id="2147483710" r:id="rId8"/>
    <p:sldLayoutId id="2147483652" r:id="rId9"/>
    <p:sldLayoutId id="2147483709" r:id="rId10"/>
    <p:sldLayoutId id="2147483656" r:id="rId11"/>
    <p:sldLayoutId id="2147483665" r:id="rId12"/>
    <p:sldLayoutId id="2147483657" r:id="rId13"/>
    <p:sldLayoutId id="2147483666" r:id="rId14"/>
    <p:sldLayoutId id="2147483654" r:id="rId15"/>
    <p:sldLayoutId id="2147483655" r:id="rId16"/>
    <p:sldLayoutId id="2147483694" r:id="rId17"/>
    <p:sldLayoutId id="2147483695" r:id="rId18"/>
    <p:sldLayoutId id="2147483696" r:id="rId19"/>
    <p:sldLayoutId id="2147483777" r:id="rId20"/>
    <p:sldLayoutId id="2147483771" r:id="rId21"/>
    <p:sldLayoutId id="2147483772" r:id="rId22"/>
    <p:sldLayoutId id="2147483773" r:id="rId23"/>
    <p:sldLayoutId id="2147483775" r:id="rId24"/>
    <p:sldLayoutId id="2147483774" r:id="rId25"/>
    <p:sldLayoutId id="2147483779" r:id="rId26"/>
    <p:sldLayoutId id="2147483780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7" r:id="rId8"/>
    <p:sldLayoutId id="2147483768" r:id="rId9"/>
    <p:sldLayoutId id="2147483770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0.png"/><Relationship Id="rId7" Type="http://schemas.openxmlformats.org/officeDocument/2006/relationships/image" Target="../media/image20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10" Type="http://schemas.openxmlformats.org/officeDocument/2006/relationships/image" Target="../media/image23.png"/><Relationship Id="rId9" Type="http://schemas.openxmlformats.org/officeDocument/2006/relationships/image" Target="../media/image220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7" Type="http://schemas.openxmlformats.org/officeDocument/2006/relationships/image" Target="../media/image32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2.png"/><Relationship Id="rId5" Type="http://schemas.openxmlformats.org/officeDocument/2006/relationships/image" Target="../media/image302.png"/><Relationship Id="rId10" Type="http://schemas.openxmlformats.org/officeDocument/2006/relationships/image" Target="../media/image351.png"/><Relationship Id="rId4" Type="http://schemas.openxmlformats.org/officeDocument/2006/relationships/image" Target="../media/image292.png"/><Relationship Id="rId9" Type="http://schemas.openxmlformats.org/officeDocument/2006/relationships/image" Target="../media/image34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38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1.png"/><Relationship Id="rId5" Type="http://schemas.openxmlformats.org/officeDocument/2006/relationships/image" Target="../media/image361.png"/><Relationship Id="rId4" Type="http://schemas.openxmlformats.org/officeDocument/2006/relationships/image" Target="../media/image2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1.png"/><Relationship Id="rId7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46.png"/><Relationship Id="rId7" Type="http://schemas.openxmlformats.org/officeDocument/2006/relationships/image" Target="../media/image7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0.png"/><Relationship Id="rId5" Type="http://schemas.openxmlformats.org/officeDocument/2006/relationships/image" Target="../media/image54.png"/><Relationship Id="rId10" Type="http://schemas.openxmlformats.org/officeDocument/2006/relationships/image" Target="../media/image74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8.png"/><Relationship Id="rId5" Type="http://schemas.openxmlformats.org/officeDocument/2006/relationships/image" Target="../media/image39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6" Type="http://schemas.openxmlformats.org/officeDocument/2006/relationships/image" Target="../media/image4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380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17" Type="http://schemas.openxmlformats.org/officeDocument/2006/relationships/image" Target="../media/image68.png"/><Relationship Id="rId2" Type="http://schemas.openxmlformats.org/officeDocument/2006/relationships/image" Target="../media/image65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5" Type="http://schemas.openxmlformats.org/officeDocument/2006/relationships/image" Target="../media/image53.jp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340.png"/><Relationship Id="rId14" Type="http://schemas.openxmlformats.org/officeDocument/2006/relationships/image" Target="../media/image39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3.png"/><Relationship Id="rId7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7.png"/><Relationship Id="rId11" Type="http://schemas.openxmlformats.org/officeDocument/2006/relationships/image" Target="../media/image83.png"/><Relationship Id="rId5" Type="http://schemas.openxmlformats.org/officeDocument/2006/relationships/image" Target="../media/image76.png"/><Relationship Id="rId10" Type="http://schemas.openxmlformats.org/officeDocument/2006/relationships/image" Target="../media/image82.png"/><Relationship Id="rId4" Type="http://schemas.openxmlformats.org/officeDocument/2006/relationships/image" Target="../media/image75.png"/><Relationship Id="rId9" Type="http://schemas.openxmlformats.org/officeDocument/2006/relationships/image" Target="../media/image8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1.png"/><Relationship Id="rId7" Type="http://schemas.openxmlformats.org/officeDocument/2006/relationships/image" Target="../media/image88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1.png"/><Relationship Id="rId7" Type="http://schemas.openxmlformats.org/officeDocument/2006/relationships/image" Target="../media/image9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261.png"/><Relationship Id="rId7" Type="http://schemas.openxmlformats.org/officeDocument/2006/relationships/image" Target="../media/image2000.png"/><Relationship Id="rId12" Type="http://schemas.openxmlformats.org/officeDocument/2006/relationships/image" Target="../media/image25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0.png"/><Relationship Id="rId11" Type="http://schemas.openxmlformats.org/officeDocument/2006/relationships/image" Target="../media/image240.png"/><Relationship Id="rId5" Type="http://schemas.openxmlformats.org/officeDocument/2006/relationships/image" Target="../media/image1800.png"/><Relationship Id="rId15" Type="http://schemas.openxmlformats.org/officeDocument/2006/relationships/image" Target="../media/image270.png"/><Relationship Id="rId10" Type="http://schemas.openxmlformats.org/officeDocument/2006/relationships/image" Target="../media/image230.png"/><Relationship Id="rId4" Type="http://schemas.openxmlformats.org/officeDocument/2006/relationships/image" Target="../media/image170.png"/><Relationship Id="rId9" Type="http://schemas.openxmlformats.org/officeDocument/2006/relationships/image" Target="../media/image2200.png"/><Relationship Id="rId14" Type="http://schemas.openxmlformats.org/officeDocument/2006/relationships/image" Target="../media/image26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" Type="http://schemas.openxmlformats.org/officeDocument/2006/relationships/image" Target="../media/image126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5" Type="http://schemas.openxmlformats.org/officeDocument/2006/relationships/image" Target="../media/image139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4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image" Target="../media/image127.png"/><Relationship Id="rId16" Type="http://schemas.openxmlformats.org/officeDocument/2006/relationships/image" Target="../media/image14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1B7F51-38BC-7B82-4BF9-20ED8AA6C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9144000" cy="2196296"/>
          </a:xfrm>
        </p:spPr>
        <p:txBody>
          <a:bodyPr/>
          <a:lstStyle/>
          <a:p>
            <a:r>
              <a:rPr lang="de-DE" sz="4400" b="1" dirty="0">
                <a:solidFill>
                  <a:schemeClr val="bg1"/>
                </a:solidFill>
              </a:rPr>
              <a:t>Part 3: Time </a:t>
            </a:r>
            <a:r>
              <a:rPr lang="de-DE" sz="4400" b="1" dirty="0" err="1">
                <a:solidFill>
                  <a:schemeClr val="bg1"/>
                </a:solidFill>
              </a:rPr>
              <a:t>discretization</a:t>
            </a:r>
            <a:br>
              <a:rPr lang="de-DE" sz="4400" b="1" dirty="0">
                <a:solidFill>
                  <a:schemeClr val="bg1"/>
                </a:solidFill>
              </a:rPr>
            </a:br>
            <a:r>
              <a:rPr lang="de-DE" sz="2000" dirty="0">
                <a:solidFill>
                  <a:schemeClr val="bg1"/>
                </a:solidFill>
                <a:latin typeface="+mj-lt"/>
              </a:rPr>
              <a:t>UW-</a:t>
            </a:r>
            <a:r>
              <a:rPr lang="de-DE" sz="2000" dirty="0">
                <a:latin typeface="+mj-lt"/>
              </a:rPr>
              <a:t>MHYWI-302: </a:t>
            </a:r>
            <a:r>
              <a:rPr lang="de-DE" sz="2000" dirty="0" err="1">
                <a:solidFill>
                  <a:schemeClr val="bg1"/>
                </a:solidFill>
                <a:latin typeface="+mj-lt"/>
              </a:rPr>
              <a:t>Numerical</a:t>
            </a:r>
            <a:r>
              <a:rPr lang="de-DE" sz="2000" dirty="0">
                <a:solidFill>
                  <a:schemeClr val="bg1"/>
                </a:solidFill>
                <a:latin typeface="+mj-lt"/>
              </a:rPr>
              <a:t> Methods </a:t>
            </a:r>
            <a:r>
              <a:rPr lang="de-DE" sz="2000" dirty="0" err="1">
                <a:solidFill>
                  <a:schemeClr val="bg1"/>
                </a:solidFill>
                <a:latin typeface="+mj-lt"/>
              </a:rPr>
              <a:t>for</a:t>
            </a:r>
            <a:r>
              <a:rPr lang="de-DE" sz="2000" dirty="0">
                <a:solidFill>
                  <a:schemeClr val="bg1"/>
                </a:solidFill>
                <a:latin typeface="+mj-lt"/>
              </a:rPr>
              <a:t> </a:t>
            </a:r>
            <a:r>
              <a:rPr lang="de-DE" sz="2000" dirty="0" err="1">
                <a:solidFill>
                  <a:schemeClr val="bg1"/>
                </a:solidFill>
                <a:latin typeface="+mj-lt"/>
              </a:rPr>
              <a:t>Hydro</a:t>
            </a:r>
            <a:r>
              <a:rPr lang="de-DE" sz="2000" dirty="0">
                <a:solidFill>
                  <a:schemeClr val="bg1"/>
                </a:solidFill>
                <a:latin typeface="+mj-lt"/>
              </a:rPr>
              <a:t> Sciences</a:t>
            </a:r>
            <a:br>
              <a:rPr lang="de-DE" sz="2000" dirty="0">
                <a:solidFill>
                  <a:schemeClr val="bg1"/>
                </a:solidFill>
                <a:latin typeface="+mj-lt"/>
              </a:rPr>
            </a:br>
            <a:endParaRPr lang="de-DE" sz="20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58013D-28F0-3006-E905-6ECBA36BE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7212904" cy="1404937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2000" dirty="0">
                <a:solidFill>
                  <a:schemeClr val="bg1"/>
                </a:solidFill>
                <a:latin typeface="+mj-lt"/>
              </a:rPr>
              <a:t>Prof. Dr.-Ing. Bernhard Vowinckel</a:t>
            </a:r>
          </a:p>
          <a:p>
            <a:r>
              <a:rPr lang="de-DE" dirty="0"/>
              <a:t>Institute of Urban and Industrial </a:t>
            </a:r>
            <a:r>
              <a:rPr lang="de-DE" dirty="0" err="1"/>
              <a:t>Water</a:t>
            </a:r>
            <a:r>
              <a:rPr lang="de-DE" dirty="0"/>
              <a:t> Management | Chair of Transport </a:t>
            </a:r>
            <a:r>
              <a:rPr lang="de-DE" dirty="0" err="1"/>
              <a:t>Processes</a:t>
            </a:r>
            <a:r>
              <a:rPr lang="de-DE" dirty="0"/>
              <a:t> in Hydrosystems | TU Dresden</a:t>
            </a:r>
          </a:p>
        </p:txBody>
      </p:sp>
    </p:spTree>
    <p:extLst>
      <p:ext uri="{BB962C8B-B14F-4D97-AF65-F5344CB8AC3E}">
        <p14:creationId xmlns:p14="http://schemas.microsoft.com/office/powerpoint/2010/main" val="4052045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7ECBB-E57C-04F2-24F8-DBC88BE50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F5328CA-0257-F765-7E36-D2C68C1C1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741" y="121919"/>
            <a:ext cx="5224039" cy="616091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7CC8D43-6BA3-D523-2112-677395307310}"/>
              </a:ext>
            </a:extLst>
          </p:cNvPr>
          <p:cNvSpPr txBox="1"/>
          <p:nvPr/>
        </p:nvSpPr>
        <p:spPr>
          <a:xfrm>
            <a:off x="8933921" y="3290054"/>
            <a:ext cx="264847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0" i="0" u="none" strike="noStrike" dirty="0">
                <a:solidFill>
                  <a:srgbClr val="000000"/>
                </a:solidFill>
                <a:effectLst/>
              </a:rPr>
              <a:t>Hand-in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</a:rPr>
              <a:t>dates</a:t>
            </a:r>
            <a:endParaRPr lang="de-DE" sz="1400" b="0" i="0" u="none" strike="noStrike" dirty="0">
              <a:solidFill>
                <a:srgbClr val="000000"/>
              </a:solidFill>
              <a:effectLst/>
            </a:endParaRPr>
          </a:p>
          <a:p>
            <a:endParaRPr lang="de-DE" sz="1400" dirty="0">
              <a:solidFill>
                <a:srgbClr val="000000"/>
              </a:solidFill>
            </a:endParaRPr>
          </a:p>
          <a:p>
            <a:r>
              <a:rPr lang="de-DE" sz="1400" b="0" i="0" u="none" strike="noStrike" dirty="0">
                <a:solidFill>
                  <a:srgbClr val="000000"/>
                </a:solidFill>
                <a:effectLst/>
              </a:rPr>
              <a:t>Problem 1: 2</a:t>
            </a:r>
            <a:r>
              <a:rPr lang="de-DE" sz="1400" dirty="0">
                <a:solidFill>
                  <a:srgbClr val="000000"/>
                </a:solidFill>
              </a:rPr>
              <a:t>3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</a:rPr>
              <a:t>.11.25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</a:rPr>
              <a:t>midnight</a:t>
            </a:r>
            <a:endParaRPr lang="de-DE" sz="1400" b="0" i="0" u="none" strike="noStrike" dirty="0">
              <a:solidFill>
                <a:srgbClr val="000000"/>
              </a:solidFill>
              <a:effectLst/>
            </a:endParaRPr>
          </a:p>
          <a:p>
            <a:endParaRPr lang="de-DE" sz="1400" dirty="0">
              <a:solidFill>
                <a:srgbClr val="000000"/>
              </a:solidFill>
            </a:endParaRPr>
          </a:p>
          <a:p>
            <a:endParaRPr lang="de-DE" sz="1400" dirty="0">
              <a:solidFill>
                <a:srgbClr val="000000"/>
              </a:solidFill>
            </a:endParaRPr>
          </a:p>
          <a:p>
            <a:endParaRPr lang="de-DE" sz="1400" dirty="0">
              <a:solidFill>
                <a:srgbClr val="000000"/>
              </a:solidFill>
            </a:endParaRPr>
          </a:p>
          <a:p>
            <a:endParaRPr lang="de-DE" sz="1400" dirty="0">
              <a:solidFill>
                <a:srgbClr val="000000"/>
              </a:solidFill>
            </a:endParaRPr>
          </a:p>
          <a:p>
            <a:endParaRPr lang="de-DE" sz="1400" dirty="0">
              <a:solidFill>
                <a:srgbClr val="000000"/>
              </a:solidFill>
            </a:endParaRPr>
          </a:p>
          <a:p>
            <a:r>
              <a:rPr lang="de-DE" sz="1400" dirty="0"/>
              <a:t>Problem 2: 7.12.25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</a:rPr>
              <a:t>midnight</a:t>
            </a:r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endParaRPr lang="de-DE" sz="800" dirty="0"/>
          </a:p>
          <a:p>
            <a:r>
              <a:rPr lang="de-DE" sz="1400" dirty="0"/>
              <a:t>Problem 3: 18.12.25 </a:t>
            </a:r>
            <a:r>
              <a:rPr lang="de-DE" sz="1400" dirty="0">
                <a:solidFill>
                  <a:srgbClr val="000000"/>
                </a:solidFill>
              </a:rPr>
              <a:t>16:00</a:t>
            </a:r>
            <a:endParaRPr lang="de-DE" sz="140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1F59D52-85AD-45C4-B932-39B4FF981188}"/>
              </a:ext>
            </a:extLst>
          </p:cNvPr>
          <p:cNvSpPr/>
          <p:nvPr/>
        </p:nvSpPr>
        <p:spPr>
          <a:xfrm>
            <a:off x="4281616" y="1767004"/>
            <a:ext cx="4626164" cy="33641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23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E5D8A-A0D4-0F51-EDA4-55AE71AD4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today‘s lecture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65E5DC-1BEC-E23A-8A55-01BA54A20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Brief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Time integration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Numerical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algebraic equation system</a:t>
            </a:r>
          </a:p>
          <a:p>
            <a:r>
              <a:rPr lang="en-US" sz="2400" b="1" dirty="0"/>
              <a:t>Learning objective:</a:t>
            </a:r>
          </a:p>
          <a:p>
            <a:pPr algn="just"/>
            <a:r>
              <a:rPr lang="en-US" sz="2000" dirty="0"/>
              <a:t>After the lecture, you will understand be able to discretize partial differential equations in time and set up the linear algebrai</a:t>
            </a:r>
            <a:r>
              <a:rPr lang="en-US" dirty="0"/>
              <a:t>c system to solve to integrate the equations in time.</a:t>
            </a:r>
            <a:endParaRPr lang="en-US" sz="20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3054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1A8F5-6384-D4B1-79E5-DF52E2FB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review of last week’s lecture</a:t>
            </a:r>
            <a:endParaRPr lang="de-DE" dirty="0"/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9FB7AD52-813F-F1D2-289B-8894F0F97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84313"/>
            <a:ext cx="11049000" cy="424973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Derivates can be approximated as algebraic expressions based on Taylor series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leading order term of the truncated series defines the order of convergence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schemes can be Euler forward, Euler backward and central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Boundary conditions are needed to represent a finite computational domain</a:t>
            </a:r>
          </a:p>
          <a:p>
            <a:endParaRPr lang="en-US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CD88017-FEFF-8D45-785E-BE3B16FAC778}"/>
              </a:ext>
            </a:extLst>
          </p:cNvPr>
          <p:cNvSpPr/>
          <p:nvPr/>
        </p:nvSpPr>
        <p:spPr>
          <a:xfrm>
            <a:off x="1526054" y="3429000"/>
            <a:ext cx="9144000" cy="15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342E6EA-4D8D-84D3-DDD0-0A65B3B25A1C}"/>
              </a:ext>
            </a:extLst>
          </p:cNvPr>
          <p:cNvGrpSpPr/>
          <p:nvPr/>
        </p:nvGrpSpPr>
        <p:grpSpPr>
          <a:xfrm>
            <a:off x="1701584" y="4134273"/>
            <a:ext cx="2376000" cy="1459613"/>
            <a:chOff x="6278986" y="1190076"/>
            <a:chExt cx="2376000" cy="1459613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FC724452-CE7E-8AB6-82A0-5A4B46B9AC3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78986" y="1190076"/>
              <a:ext cx="2376000" cy="1459613"/>
              <a:chOff x="359753" y="1866560"/>
              <a:chExt cx="3960000" cy="2432699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1EF390AA-CE50-C693-F7BB-0715FA4914A9}"/>
                  </a:ext>
                </a:extLst>
              </p:cNvPr>
              <p:cNvCxnSpPr/>
              <p:nvPr/>
            </p:nvCxnSpPr>
            <p:spPr>
              <a:xfrm>
                <a:off x="359753" y="3933636"/>
                <a:ext cx="39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233B4F50-B17C-420B-1553-7E2500F7C21C}"/>
                  </a:ext>
                </a:extLst>
              </p:cNvPr>
              <p:cNvSpPr/>
              <p:nvPr/>
            </p:nvSpPr>
            <p:spPr>
              <a:xfrm rot="710943">
                <a:off x="766524" y="1866560"/>
                <a:ext cx="3074891" cy="2176999"/>
              </a:xfrm>
              <a:custGeom>
                <a:avLst/>
                <a:gdLst>
                  <a:gd name="connsiteX0" fmla="*/ 0 w 2657475"/>
                  <a:gd name="connsiteY0" fmla="*/ 1752600 h 1752600"/>
                  <a:gd name="connsiteX1" fmla="*/ 857250 w 2657475"/>
                  <a:gd name="connsiteY1" fmla="*/ 314325 h 1752600"/>
                  <a:gd name="connsiteX2" fmla="*/ 2657475 w 2657475"/>
                  <a:gd name="connsiteY2" fmla="*/ 0 h 1752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7475" h="1752600">
                    <a:moveTo>
                      <a:pt x="0" y="1752600"/>
                    </a:moveTo>
                    <a:cubicBezTo>
                      <a:pt x="207169" y="1179512"/>
                      <a:pt x="414338" y="606425"/>
                      <a:pt x="857250" y="314325"/>
                    </a:cubicBezTo>
                    <a:cubicBezTo>
                      <a:pt x="1300163" y="22225"/>
                      <a:pt x="1978819" y="11112"/>
                      <a:pt x="2657475" y="0"/>
                    </a:cubicBezTo>
                  </a:path>
                </a:pathLst>
              </a:custGeom>
              <a:noFill/>
              <a:ln w="19050">
                <a:solidFill>
                  <a:srgbClr val="7CCDE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A36D8D02-15CF-BB59-DF1B-89117E86FBAB}"/>
                  </a:ext>
                </a:extLst>
              </p:cNvPr>
              <p:cNvCxnSpPr/>
              <p:nvPr/>
            </p:nvCxnSpPr>
            <p:spPr>
              <a:xfrm>
                <a:off x="3564000" y="2124614"/>
                <a:ext cx="0" cy="180000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834C70F8-2939-A5CA-8EE5-B067AD5151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5977" y="2061428"/>
                <a:ext cx="0" cy="1872208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45EC5677-08DC-405E-C2D0-E9A4A90111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75976" y="1944186"/>
                <a:ext cx="1188024" cy="99199"/>
              </a:xfrm>
              <a:prstGeom prst="line">
                <a:avLst/>
              </a:prstGeom>
              <a:ln w="25400">
                <a:solidFill>
                  <a:srgbClr val="FF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feld 35">
                    <a:extLst>
                      <a:ext uri="{FF2B5EF4-FFF2-40B4-BE49-F238E27FC236}">
                        <a16:creationId xmlns:a16="http://schemas.microsoft.com/office/drawing/2014/main" id="{7552E815-3F86-05CF-03E6-8148868FE4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3208" y="2566713"/>
                    <a:ext cx="667063" cy="35907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B0F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feld 41">
                    <a:extLst>
                      <a:ext uri="{FF2B5EF4-FFF2-40B4-BE49-F238E27FC236}">
                        <a16:creationId xmlns:a16="http://schemas.microsoft.com/office/drawing/2014/main" id="{FC2CADD2-3AD1-4EF1-A679-977CDF47B7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208" y="2566713"/>
                    <a:ext cx="667063" cy="35907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3636" r="-15152" b="-3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feld 36">
                    <a:extLst>
                      <a:ext uri="{FF2B5EF4-FFF2-40B4-BE49-F238E27FC236}">
                        <a16:creationId xmlns:a16="http://schemas.microsoft.com/office/drawing/2014/main" id="{A4ED19B9-FE6A-16A7-4E62-08004E41B2D6}"/>
                      </a:ext>
                    </a:extLst>
                  </p:cNvPr>
                  <p:cNvSpPr txBox="1"/>
                  <p:nvPr/>
                </p:nvSpPr>
                <p:spPr>
                  <a:xfrm>
                    <a:off x="2314876" y="3940184"/>
                    <a:ext cx="246862" cy="35907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feld 42">
                    <a:extLst>
                      <a:ext uri="{FF2B5EF4-FFF2-40B4-BE49-F238E27FC236}">
                        <a16:creationId xmlns:a16="http://schemas.microsoft.com/office/drawing/2014/main" id="{016AA72C-23B2-4347-8866-F52862C46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14876" y="3940184"/>
                    <a:ext cx="246862" cy="3590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2000" r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feld 37">
                    <a:extLst>
                      <a:ext uri="{FF2B5EF4-FFF2-40B4-BE49-F238E27FC236}">
                        <a16:creationId xmlns:a16="http://schemas.microsoft.com/office/drawing/2014/main" id="{B58F4BA7-FFDA-9353-14B8-07D2227355D3}"/>
                      </a:ext>
                    </a:extLst>
                  </p:cNvPr>
                  <p:cNvSpPr txBox="1"/>
                  <p:nvPr/>
                </p:nvSpPr>
                <p:spPr>
                  <a:xfrm>
                    <a:off x="3330623" y="3940184"/>
                    <a:ext cx="952612" cy="35907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de-D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feld 43">
                    <a:extLst>
                      <a:ext uri="{FF2B5EF4-FFF2-40B4-BE49-F238E27FC236}">
                        <a16:creationId xmlns:a16="http://schemas.microsoft.com/office/drawing/2014/main" id="{CEA91D26-73E9-45FD-BEA5-59202B4851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0623" y="3940184"/>
                    <a:ext cx="952612" cy="3590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191" r="-2128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B58B313F-57E7-D68D-8177-400AF69AA530}"/>
                </a:ext>
              </a:extLst>
            </p:cNvPr>
            <p:cNvCxnSpPr>
              <a:cxnSpLocks/>
            </p:cNvCxnSpPr>
            <p:nvPr/>
          </p:nvCxnSpPr>
          <p:spPr>
            <a:xfrm>
              <a:off x="8201534" y="1236651"/>
              <a:ext cx="0" cy="108257"/>
            </a:xfrm>
            <a:prstGeom prst="line">
              <a:avLst/>
            </a:prstGeom>
            <a:ln w="25400"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9696035E-1DD4-6C60-FF50-BC4A2BCBF95F}"/>
              </a:ext>
            </a:extLst>
          </p:cNvPr>
          <p:cNvGrpSpPr/>
          <p:nvPr/>
        </p:nvGrpSpPr>
        <p:grpSpPr>
          <a:xfrm>
            <a:off x="5040863" y="4134267"/>
            <a:ext cx="2376000" cy="1459619"/>
            <a:chOff x="6257252" y="2742279"/>
            <a:chExt cx="2376000" cy="1459619"/>
          </a:xfrm>
        </p:grpSpPr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AB97DCE8-4271-BB75-5102-E094791165F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57252" y="2742279"/>
              <a:ext cx="2376000" cy="1459619"/>
              <a:chOff x="2123728" y="2082004"/>
              <a:chExt cx="3960000" cy="2432698"/>
            </a:xfrm>
          </p:grpSpPr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653403BB-B00B-88F8-BD37-FB9A1BF9D69A}"/>
                  </a:ext>
                </a:extLst>
              </p:cNvPr>
              <p:cNvCxnSpPr/>
              <p:nvPr/>
            </p:nvCxnSpPr>
            <p:spPr>
              <a:xfrm>
                <a:off x="2123728" y="4149080"/>
                <a:ext cx="39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9DD901F0-1D17-2937-CFD1-4BDDA82055FB}"/>
                  </a:ext>
                </a:extLst>
              </p:cNvPr>
              <p:cNvSpPr/>
              <p:nvPr/>
            </p:nvSpPr>
            <p:spPr>
              <a:xfrm rot="710943">
                <a:off x="2530499" y="2082004"/>
                <a:ext cx="3074891" cy="2176999"/>
              </a:xfrm>
              <a:custGeom>
                <a:avLst/>
                <a:gdLst>
                  <a:gd name="connsiteX0" fmla="*/ 0 w 2657475"/>
                  <a:gd name="connsiteY0" fmla="*/ 1752600 h 1752600"/>
                  <a:gd name="connsiteX1" fmla="*/ 857250 w 2657475"/>
                  <a:gd name="connsiteY1" fmla="*/ 314325 h 1752600"/>
                  <a:gd name="connsiteX2" fmla="*/ 2657475 w 2657475"/>
                  <a:gd name="connsiteY2" fmla="*/ 0 h 1752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7475" h="1752600">
                    <a:moveTo>
                      <a:pt x="0" y="1752600"/>
                    </a:moveTo>
                    <a:cubicBezTo>
                      <a:pt x="207169" y="1179512"/>
                      <a:pt x="414338" y="606425"/>
                      <a:pt x="857250" y="314325"/>
                    </a:cubicBezTo>
                    <a:cubicBezTo>
                      <a:pt x="1300163" y="22225"/>
                      <a:pt x="1978819" y="11112"/>
                      <a:pt x="2657475" y="0"/>
                    </a:cubicBezTo>
                  </a:path>
                </a:pathLst>
              </a:custGeom>
              <a:noFill/>
              <a:ln w="19050">
                <a:solidFill>
                  <a:srgbClr val="7CCDE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E57C4C6C-B407-81E7-4B46-19CB4F53E408}"/>
                  </a:ext>
                </a:extLst>
              </p:cNvPr>
              <p:cNvCxnSpPr/>
              <p:nvPr/>
            </p:nvCxnSpPr>
            <p:spPr>
              <a:xfrm>
                <a:off x="2928516" y="2996952"/>
                <a:ext cx="0" cy="1152128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C3A8645D-2095-93C0-AD1F-EB2E6956D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9952" y="2276872"/>
                <a:ext cx="0" cy="1872208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4E0C57B7-D612-FA21-C4D9-73B9BFC21E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8516" y="2258184"/>
                <a:ext cx="1211436" cy="110358"/>
              </a:xfrm>
              <a:prstGeom prst="line">
                <a:avLst/>
              </a:prstGeom>
              <a:ln w="25400">
                <a:solidFill>
                  <a:srgbClr val="FF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feld 46">
                    <a:extLst>
                      <a:ext uri="{FF2B5EF4-FFF2-40B4-BE49-F238E27FC236}">
                        <a16:creationId xmlns:a16="http://schemas.microsoft.com/office/drawing/2014/main" id="{985A04F0-8D46-F6B1-B090-EA72017360E2}"/>
                      </a:ext>
                    </a:extLst>
                  </p:cNvPr>
                  <p:cNvSpPr txBox="1"/>
                  <p:nvPr/>
                </p:nvSpPr>
                <p:spPr>
                  <a:xfrm>
                    <a:off x="2187183" y="2889812"/>
                    <a:ext cx="667063" cy="35907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B0F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feld 21">
                    <a:extLst>
                      <a:ext uri="{FF2B5EF4-FFF2-40B4-BE49-F238E27FC236}">
                        <a16:creationId xmlns:a16="http://schemas.microsoft.com/office/drawing/2014/main" id="{85A6412B-341F-4EA6-B144-CAE018F43C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87183" y="2889812"/>
                    <a:ext cx="667063" cy="35907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5385" r="-15385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feld 47">
                    <a:extLst>
                      <a:ext uri="{FF2B5EF4-FFF2-40B4-BE49-F238E27FC236}">
                        <a16:creationId xmlns:a16="http://schemas.microsoft.com/office/drawing/2014/main" id="{31BAF20F-7550-0302-D2B3-30CE9EFDC07F}"/>
                      </a:ext>
                    </a:extLst>
                  </p:cNvPr>
                  <p:cNvSpPr txBox="1"/>
                  <p:nvPr/>
                </p:nvSpPr>
                <p:spPr>
                  <a:xfrm>
                    <a:off x="2490890" y="4155629"/>
                    <a:ext cx="952612" cy="35907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de-D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feld 22">
                    <a:extLst>
                      <a:ext uri="{FF2B5EF4-FFF2-40B4-BE49-F238E27FC236}">
                        <a16:creationId xmlns:a16="http://schemas.microsoft.com/office/drawing/2014/main" id="{7AE4AD30-C81E-4564-A034-0F3BE5CB72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90890" y="4155629"/>
                    <a:ext cx="952612" cy="35907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301" r="-2151" b="-8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feld 48">
                    <a:extLst>
                      <a:ext uri="{FF2B5EF4-FFF2-40B4-BE49-F238E27FC236}">
                        <a16:creationId xmlns:a16="http://schemas.microsoft.com/office/drawing/2014/main" id="{0AC92EA2-8CCD-EBE2-FD8A-79A4062FF61B}"/>
                      </a:ext>
                    </a:extLst>
                  </p:cNvPr>
                  <p:cNvSpPr txBox="1"/>
                  <p:nvPr/>
                </p:nvSpPr>
                <p:spPr>
                  <a:xfrm>
                    <a:off x="4043125" y="4155629"/>
                    <a:ext cx="246862" cy="35907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E0474AD7-735F-4A58-9084-58749D2439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43125" y="4155629"/>
                    <a:ext cx="246862" cy="35907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2000" r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9BEC9F86-64C2-DF31-4E93-9FA34A1282B0}"/>
                </a:ext>
              </a:extLst>
            </p:cNvPr>
            <p:cNvCxnSpPr/>
            <p:nvPr/>
          </p:nvCxnSpPr>
          <p:spPr>
            <a:xfrm>
              <a:off x="6740125" y="2914202"/>
              <a:ext cx="0" cy="377046"/>
            </a:xfrm>
            <a:prstGeom prst="line">
              <a:avLst/>
            </a:prstGeom>
            <a:ln w="25400"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1075FDEC-B204-8C03-1C0C-037EBA1E0C17}"/>
              </a:ext>
            </a:extLst>
          </p:cNvPr>
          <p:cNvGrpSpPr>
            <a:grpSpLocks noChangeAspect="1"/>
          </p:cNvGrpSpPr>
          <p:nvPr/>
        </p:nvGrpSpPr>
        <p:grpSpPr>
          <a:xfrm>
            <a:off x="7965619" y="4143548"/>
            <a:ext cx="2376000" cy="1448758"/>
            <a:chOff x="2411760" y="1940478"/>
            <a:chExt cx="3960000" cy="2414596"/>
          </a:xfrm>
        </p:grpSpPr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5A0D0934-2B0D-D920-985C-2954E24DF81C}"/>
                </a:ext>
              </a:extLst>
            </p:cNvPr>
            <p:cNvCxnSpPr/>
            <p:nvPr/>
          </p:nvCxnSpPr>
          <p:spPr>
            <a:xfrm>
              <a:off x="2411760" y="4007554"/>
              <a:ext cx="3960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CE75E398-79F3-0C8E-054C-FF4477A9D586}"/>
                </a:ext>
              </a:extLst>
            </p:cNvPr>
            <p:cNvSpPr/>
            <p:nvPr/>
          </p:nvSpPr>
          <p:spPr>
            <a:xfrm rot="710943">
              <a:off x="2818531" y="1940478"/>
              <a:ext cx="3074891" cy="2176999"/>
            </a:xfrm>
            <a:custGeom>
              <a:avLst/>
              <a:gdLst>
                <a:gd name="connsiteX0" fmla="*/ 0 w 2657475"/>
                <a:gd name="connsiteY0" fmla="*/ 1752600 h 1752600"/>
                <a:gd name="connsiteX1" fmla="*/ 857250 w 2657475"/>
                <a:gd name="connsiteY1" fmla="*/ 314325 h 1752600"/>
                <a:gd name="connsiteX2" fmla="*/ 2657475 w 2657475"/>
                <a:gd name="connsiteY2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57475" h="1752600">
                  <a:moveTo>
                    <a:pt x="0" y="1752600"/>
                  </a:moveTo>
                  <a:cubicBezTo>
                    <a:pt x="207169" y="1179512"/>
                    <a:pt x="414338" y="606425"/>
                    <a:pt x="857250" y="314325"/>
                  </a:cubicBezTo>
                  <a:cubicBezTo>
                    <a:pt x="1300163" y="22225"/>
                    <a:pt x="1978819" y="11112"/>
                    <a:pt x="2657475" y="0"/>
                  </a:cubicBezTo>
                </a:path>
              </a:pathLst>
            </a:custGeom>
            <a:noFill/>
            <a:ln w="19050">
              <a:solidFill>
                <a:srgbClr val="7CCDE6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24E7E4D8-76A2-13B4-E841-0376D8521865}"/>
                </a:ext>
              </a:extLst>
            </p:cNvPr>
            <p:cNvCxnSpPr/>
            <p:nvPr/>
          </p:nvCxnSpPr>
          <p:spPr>
            <a:xfrm>
              <a:off x="3240000" y="2855426"/>
              <a:ext cx="0" cy="1152128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437F28AD-31FD-47B8-CC62-FB8A94498E5B}"/>
                </a:ext>
              </a:extLst>
            </p:cNvPr>
            <p:cNvCxnSpPr>
              <a:cxnSpLocks/>
            </p:cNvCxnSpPr>
            <p:nvPr/>
          </p:nvCxnSpPr>
          <p:spPr>
            <a:xfrm>
              <a:off x="4427984" y="2135346"/>
              <a:ext cx="0" cy="1872208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CF653080-CBB9-78D2-DC9F-B4A353472A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0000" y="2171837"/>
              <a:ext cx="2376000" cy="678609"/>
            </a:xfrm>
            <a:prstGeom prst="line">
              <a:avLst/>
            </a:prstGeom>
            <a:ln w="25400">
              <a:solidFill>
                <a:srgbClr val="FF00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8891BA40-43B0-AD7F-BBCE-A69CF848AFF6}"/>
                    </a:ext>
                  </a:extLst>
                </p:cNvPr>
                <p:cNvSpPr txBox="1"/>
                <p:nvPr/>
              </p:nvSpPr>
              <p:spPr>
                <a:xfrm>
                  <a:off x="2439432" y="2813534"/>
                  <a:ext cx="667063" cy="359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17C5D51C-226D-4E01-B5B5-C966966C66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9432" y="2813534"/>
                  <a:ext cx="667063" cy="359073"/>
                </a:xfrm>
                <a:prstGeom prst="rect">
                  <a:avLst/>
                </a:prstGeom>
                <a:blipFill>
                  <a:blip r:embed="rId3"/>
                  <a:stretch>
                    <a:fillRect l="-13636" r="-15152" b="-3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feld 56">
                  <a:extLst>
                    <a:ext uri="{FF2B5EF4-FFF2-40B4-BE49-F238E27FC236}">
                      <a16:creationId xmlns:a16="http://schemas.microsoft.com/office/drawing/2014/main" id="{239DBD52-EB0D-8AF8-C0FA-B92B21E87DE8}"/>
                    </a:ext>
                  </a:extLst>
                </p:cNvPr>
                <p:cNvSpPr txBox="1"/>
                <p:nvPr/>
              </p:nvSpPr>
              <p:spPr>
                <a:xfrm>
                  <a:off x="2807070" y="3996001"/>
                  <a:ext cx="952612" cy="359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de-DE" sz="1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115F0E6D-7A84-4150-947C-C809DE1FB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7070" y="3996001"/>
                  <a:ext cx="952612" cy="359073"/>
                </a:xfrm>
                <a:prstGeom prst="rect">
                  <a:avLst/>
                </a:prstGeom>
                <a:blipFill>
                  <a:blip r:embed="rId4"/>
                  <a:stretch>
                    <a:fillRect l="-3191" r="-2128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feld 57">
                  <a:extLst>
                    <a:ext uri="{FF2B5EF4-FFF2-40B4-BE49-F238E27FC236}">
                      <a16:creationId xmlns:a16="http://schemas.microsoft.com/office/drawing/2014/main" id="{29FB330B-AD9C-E539-D93A-88345A5E0BC0}"/>
                    </a:ext>
                  </a:extLst>
                </p:cNvPr>
                <p:cNvSpPr txBox="1"/>
                <p:nvPr/>
              </p:nvSpPr>
              <p:spPr>
                <a:xfrm>
                  <a:off x="4168528" y="3996001"/>
                  <a:ext cx="246862" cy="359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44FE6779-8A62-445E-8B2E-12EF3A8FE9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8528" y="3996001"/>
                  <a:ext cx="246862" cy="359073"/>
                </a:xfrm>
                <a:prstGeom prst="rect">
                  <a:avLst/>
                </a:prstGeom>
                <a:blipFill>
                  <a:blip r:embed="rId5"/>
                  <a:stretch>
                    <a:fillRect l="-12000" r="-8000"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C7EC056C-7389-3960-D4C7-11DEE0BDF20A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2227016"/>
              <a:ext cx="0" cy="1787086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C0163882-3A2D-7942-1147-76775E6B3956}"/>
                    </a:ext>
                  </a:extLst>
                </p:cNvPr>
                <p:cNvSpPr txBox="1"/>
                <p:nvPr/>
              </p:nvSpPr>
              <p:spPr>
                <a:xfrm>
                  <a:off x="5292080" y="3996001"/>
                  <a:ext cx="952612" cy="359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030D31FF-FAB7-4C51-AF0D-9FB15334B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2080" y="3996001"/>
                  <a:ext cx="952612" cy="359073"/>
                </a:xfrm>
                <a:prstGeom prst="rect">
                  <a:avLst/>
                </a:prstGeom>
                <a:blipFill>
                  <a:blip r:embed="rId6"/>
                  <a:stretch>
                    <a:fillRect l="-3191" r="-212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E2F8A644-A198-9AE1-0876-805149DCB5BA}"/>
              </a:ext>
            </a:extLst>
          </p:cNvPr>
          <p:cNvCxnSpPr>
            <a:cxnSpLocks/>
          </p:cNvCxnSpPr>
          <p:nvPr/>
        </p:nvCxnSpPr>
        <p:spPr>
          <a:xfrm>
            <a:off x="9174147" y="4254119"/>
            <a:ext cx="0" cy="225477"/>
          </a:xfrm>
          <a:prstGeom prst="line">
            <a:avLst/>
          </a:prstGeom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55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6AD6E-E865-066C-1925-D4766A32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importance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things</a:t>
            </a:r>
            <a:r>
              <a:rPr lang="de-DE" dirty="0"/>
              <a:t> </a:t>
            </a:r>
            <a:r>
              <a:rPr lang="de-DE" dirty="0" err="1"/>
              <a:t>evolve</a:t>
            </a:r>
            <a:r>
              <a:rPr lang="de-DE" dirty="0"/>
              <a:t> in time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ED64403-4CE9-7FC0-A8C2-D6B6C4701D09}"/>
              </a:ext>
            </a:extLst>
          </p:cNvPr>
          <p:cNvSpPr txBox="1"/>
          <p:nvPr/>
        </p:nvSpPr>
        <p:spPr>
          <a:xfrm>
            <a:off x="6096000" y="5839575"/>
            <a:ext cx="2558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400" dirty="0"/>
              <a:t>[https://xkcd.com/2289/]</a:t>
            </a:r>
          </a:p>
        </p:txBody>
      </p:sp>
      <p:pic>
        <p:nvPicPr>
          <p:cNvPr id="7" name="Grafik 6" descr="Ein Bild, das Text, Diagramm, Entwurf, Zeichnung enthält.&#10;&#10;KI-generierte Inhalte können fehlerhaft sein.">
            <a:extLst>
              <a:ext uri="{FF2B5EF4-FFF2-40B4-BE49-F238E27FC236}">
                <a16:creationId xmlns:a16="http://schemas.microsoft.com/office/drawing/2014/main" id="{D692C935-ED11-A9B5-26C3-3D038C29F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574" y="1096125"/>
            <a:ext cx="50292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35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3600" b="0" strike="noStrike" spc="-1" dirty="0">
                <a:solidFill>
                  <a:schemeClr val="lt1"/>
                </a:solidFill>
                <a:latin typeface="Open Sans Light"/>
                <a:ea typeface="Open Sans Light"/>
              </a:rPr>
              <a:t>Time </a:t>
            </a:r>
            <a:r>
              <a:rPr lang="de-DE" sz="3600" b="0" strike="noStrike" spc="-1" dirty="0" err="1">
                <a:solidFill>
                  <a:schemeClr val="lt1"/>
                </a:solidFill>
                <a:latin typeface="Open Sans Light"/>
                <a:ea typeface="Open Sans Light"/>
              </a:rPr>
              <a:t>integration</a:t>
            </a:r>
            <a:endParaRPr lang="de-DE" sz="3600" b="0" strike="noStrike" spc="-1" dirty="0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0DE5C1C8-3C0F-6AE6-78A5-B98B848E98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665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99225A-5CA1-9BDD-35AB-A775FCB3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integration</a:t>
            </a:r>
            <a:r>
              <a:rPr lang="de-DE" dirty="0"/>
              <a:t> - </a:t>
            </a:r>
            <a:r>
              <a:rPr lang="de-DE" dirty="0" err="1"/>
              <a:t>implicit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Inhaltsplatzhalter 4">
                <a:extLst>
                  <a:ext uri="{FF2B5EF4-FFF2-40B4-BE49-F238E27FC236}">
                    <a16:creationId xmlns:a16="http://schemas.microsoft.com/office/drawing/2014/main" id="{DBB77E12-DEF9-B951-5F8F-BCDB3B0C38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8647" y="1304131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Suppose we have a discretized PDE of type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:</a:t>
                </a:r>
              </a:p>
              <a:p>
                <a:r>
                  <a:rPr lang="en-US" dirty="0"/>
                  <a:t>We can integrate in time the following ways:</a:t>
                </a:r>
              </a:p>
              <a:p>
                <a:r>
                  <a:rPr lang="en-US" dirty="0"/>
                  <a:t>Explicit: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sSup>
                      <m:sSup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	</a:t>
                </a:r>
                <a:r>
                  <a:rPr lang="en-US" dirty="0">
                    <a:sym typeface="Wingdings" panose="05000000000000000000" pitchFamily="2" charset="2"/>
                  </a:rPr>
                  <a:t> solution easy to determine</a:t>
                </a:r>
              </a:p>
              <a:p>
                <a:r>
                  <a:rPr lang="en-US" dirty="0"/>
                  <a:t>	</a:t>
                </a:r>
                <a:r>
                  <a:rPr lang="en-US" dirty="0">
                    <a:sym typeface="Wingdings" panose="05000000000000000000" pitchFamily="2" charset="2"/>
                  </a:rPr>
                  <a:t> Euler forward / </a:t>
                </a:r>
                <a:r>
                  <a:rPr lang="en-US" b="1" dirty="0">
                    <a:sym typeface="Wingdings" panose="05000000000000000000" pitchFamily="2" charset="2"/>
                  </a:rPr>
                  <a:t>first</a:t>
                </a:r>
                <a:r>
                  <a:rPr lang="en-US" dirty="0">
                    <a:sym typeface="Wingdings" panose="05000000000000000000" pitchFamily="2" charset="2"/>
                  </a:rPr>
                  <a:t> order accurate</a:t>
                </a:r>
                <a:endParaRPr lang="en-US" dirty="0"/>
              </a:p>
              <a:p>
                <a:r>
                  <a:rPr lang="en-US" dirty="0"/>
                  <a:t>Implicit: 	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sSup>
                      <m:sSupPr>
                        <m:ctrlPr>
                          <a:rPr lang="de-DE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de-DE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de-DE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de-DE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de-DE" b="0" i="1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	</a:t>
                </a:r>
                <a:r>
                  <a:rPr lang="en-US" dirty="0">
                    <a:sym typeface="Wingdings" panose="05000000000000000000" pitchFamily="2" charset="2"/>
                  </a:rPr>
                  <a:t> iterative solution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	 Euler backward / </a:t>
                </a:r>
                <a:r>
                  <a:rPr lang="en-US" b="1" dirty="0">
                    <a:sym typeface="Wingdings" panose="05000000000000000000" pitchFamily="2" charset="2"/>
                  </a:rPr>
                  <a:t>first</a:t>
                </a:r>
                <a:r>
                  <a:rPr lang="en-US" dirty="0">
                    <a:sym typeface="Wingdings" panose="05000000000000000000" pitchFamily="2" charset="2"/>
                  </a:rPr>
                  <a:t> order accurate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6" name="Inhaltsplatzhalter 4">
                <a:extLst>
                  <a:ext uri="{FF2B5EF4-FFF2-40B4-BE49-F238E27FC236}">
                    <a16:creationId xmlns:a16="http://schemas.microsoft.com/office/drawing/2014/main" id="{DBB77E12-DEF9-B951-5F8F-BCDB3B0C38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8647" y="1304131"/>
                <a:ext cx="8373201" cy="4249738"/>
              </a:xfrm>
              <a:blipFill>
                <a:blip r:embed="rId2"/>
                <a:stretch>
                  <a:fillRect l="-1820" b="-51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57C3903-6EE2-CB3C-F34E-D9EFDCF2EBEC}"/>
              </a:ext>
            </a:extLst>
          </p:cNvPr>
          <p:cNvCxnSpPr/>
          <p:nvPr/>
        </p:nvCxnSpPr>
        <p:spPr>
          <a:xfrm flipV="1">
            <a:off x="7547672" y="2290678"/>
            <a:ext cx="0" cy="21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30E14F93-2287-8E6A-1AB6-B882EB3D563F}"/>
              </a:ext>
            </a:extLst>
          </p:cNvPr>
          <p:cNvCxnSpPr>
            <a:cxnSpLocks/>
          </p:cNvCxnSpPr>
          <p:nvPr/>
        </p:nvCxnSpPr>
        <p:spPr>
          <a:xfrm flipV="1">
            <a:off x="7528907" y="4445736"/>
            <a:ext cx="37749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930B0F6F-50EC-2823-933B-BEAF2D99B081}"/>
              </a:ext>
            </a:extLst>
          </p:cNvPr>
          <p:cNvSpPr/>
          <p:nvPr/>
        </p:nvSpPr>
        <p:spPr>
          <a:xfrm>
            <a:off x="7547672" y="2692558"/>
            <a:ext cx="3083560" cy="756920"/>
          </a:xfrm>
          <a:custGeom>
            <a:avLst/>
            <a:gdLst>
              <a:gd name="connsiteX0" fmla="*/ 0 w 3083560"/>
              <a:gd name="connsiteY0" fmla="*/ 756920 h 756920"/>
              <a:gd name="connsiteX1" fmla="*/ 680720 w 3083560"/>
              <a:gd name="connsiteY1" fmla="*/ 91440 h 756920"/>
              <a:gd name="connsiteX2" fmla="*/ 1762760 w 3083560"/>
              <a:gd name="connsiteY2" fmla="*/ 523240 h 756920"/>
              <a:gd name="connsiteX3" fmla="*/ 2631440 w 3083560"/>
              <a:gd name="connsiteY3" fmla="*/ 411480 h 756920"/>
              <a:gd name="connsiteX4" fmla="*/ 3083560 w 3083560"/>
              <a:gd name="connsiteY4" fmla="*/ 0 h 756920"/>
              <a:gd name="connsiteX0" fmla="*/ 0 w 3083560"/>
              <a:gd name="connsiteY0" fmla="*/ 756920 h 756920"/>
              <a:gd name="connsiteX1" fmla="*/ 680720 w 3083560"/>
              <a:gd name="connsiteY1" fmla="*/ 91440 h 756920"/>
              <a:gd name="connsiteX2" fmla="*/ 1717040 w 3083560"/>
              <a:gd name="connsiteY2" fmla="*/ 683260 h 756920"/>
              <a:gd name="connsiteX3" fmla="*/ 2631440 w 3083560"/>
              <a:gd name="connsiteY3" fmla="*/ 411480 h 756920"/>
              <a:gd name="connsiteX4" fmla="*/ 3083560 w 3083560"/>
              <a:gd name="connsiteY4" fmla="*/ 0 h 756920"/>
              <a:gd name="connsiteX0" fmla="*/ 0 w 3083560"/>
              <a:gd name="connsiteY0" fmla="*/ 756920 h 756920"/>
              <a:gd name="connsiteX1" fmla="*/ 680720 w 3083560"/>
              <a:gd name="connsiteY1" fmla="*/ 91440 h 756920"/>
              <a:gd name="connsiteX2" fmla="*/ 1621790 w 3083560"/>
              <a:gd name="connsiteY2" fmla="*/ 732790 h 756920"/>
              <a:gd name="connsiteX3" fmla="*/ 2631440 w 3083560"/>
              <a:gd name="connsiteY3" fmla="*/ 411480 h 756920"/>
              <a:gd name="connsiteX4" fmla="*/ 3083560 w 3083560"/>
              <a:gd name="connsiteY4" fmla="*/ 0 h 756920"/>
              <a:gd name="connsiteX0" fmla="*/ 0 w 3083560"/>
              <a:gd name="connsiteY0" fmla="*/ 756920 h 756920"/>
              <a:gd name="connsiteX1" fmla="*/ 732155 w 3083560"/>
              <a:gd name="connsiteY1" fmla="*/ 81915 h 756920"/>
              <a:gd name="connsiteX2" fmla="*/ 1621790 w 3083560"/>
              <a:gd name="connsiteY2" fmla="*/ 732790 h 756920"/>
              <a:gd name="connsiteX3" fmla="*/ 2631440 w 3083560"/>
              <a:gd name="connsiteY3" fmla="*/ 411480 h 756920"/>
              <a:gd name="connsiteX4" fmla="*/ 3083560 w 3083560"/>
              <a:gd name="connsiteY4" fmla="*/ 0 h 756920"/>
              <a:gd name="connsiteX0" fmla="*/ 0 w 3083560"/>
              <a:gd name="connsiteY0" fmla="*/ 756920 h 756920"/>
              <a:gd name="connsiteX1" fmla="*/ 732155 w 3083560"/>
              <a:gd name="connsiteY1" fmla="*/ 81915 h 756920"/>
              <a:gd name="connsiteX2" fmla="*/ 1671320 w 3083560"/>
              <a:gd name="connsiteY2" fmla="*/ 668020 h 756920"/>
              <a:gd name="connsiteX3" fmla="*/ 2631440 w 3083560"/>
              <a:gd name="connsiteY3" fmla="*/ 411480 h 756920"/>
              <a:gd name="connsiteX4" fmla="*/ 3083560 w 3083560"/>
              <a:gd name="connsiteY4" fmla="*/ 0 h 756920"/>
              <a:gd name="connsiteX0" fmla="*/ 0 w 3083560"/>
              <a:gd name="connsiteY0" fmla="*/ 756920 h 756920"/>
              <a:gd name="connsiteX1" fmla="*/ 732155 w 3083560"/>
              <a:gd name="connsiteY1" fmla="*/ 81915 h 756920"/>
              <a:gd name="connsiteX2" fmla="*/ 1690370 w 3083560"/>
              <a:gd name="connsiteY2" fmla="*/ 645160 h 756920"/>
              <a:gd name="connsiteX3" fmla="*/ 2631440 w 3083560"/>
              <a:gd name="connsiteY3" fmla="*/ 411480 h 756920"/>
              <a:gd name="connsiteX4" fmla="*/ 3083560 w 3083560"/>
              <a:gd name="connsiteY4" fmla="*/ 0 h 756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3560" h="756920">
                <a:moveTo>
                  <a:pt x="0" y="756920"/>
                </a:moveTo>
                <a:cubicBezTo>
                  <a:pt x="193463" y="443653"/>
                  <a:pt x="450427" y="100542"/>
                  <a:pt x="732155" y="81915"/>
                </a:cubicBezTo>
                <a:cubicBezTo>
                  <a:pt x="1013883" y="63288"/>
                  <a:pt x="1373823" y="590233"/>
                  <a:pt x="1690370" y="645160"/>
                </a:cubicBezTo>
                <a:cubicBezTo>
                  <a:pt x="2006917" y="700087"/>
                  <a:pt x="2411307" y="498687"/>
                  <a:pt x="2631440" y="411480"/>
                </a:cubicBezTo>
                <a:cubicBezTo>
                  <a:pt x="2851573" y="324273"/>
                  <a:pt x="2967566" y="162136"/>
                  <a:pt x="3083560" y="0"/>
                </a:cubicBez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1607B99-5C9C-1EAF-563E-51040E9DB207}"/>
              </a:ext>
            </a:extLst>
          </p:cNvPr>
          <p:cNvCxnSpPr>
            <a:cxnSpLocks noChangeAspect="1"/>
          </p:cNvCxnSpPr>
          <p:nvPr/>
        </p:nvCxnSpPr>
        <p:spPr>
          <a:xfrm>
            <a:off x="8158874" y="2588774"/>
            <a:ext cx="1127920" cy="828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 31">
            <a:extLst>
              <a:ext uri="{FF2B5EF4-FFF2-40B4-BE49-F238E27FC236}">
                <a16:creationId xmlns:a16="http://schemas.microsoft.com/office/drawing/2014/main" id="{03D019F1-EB4B-C945-F987-E276C60A2AC1}"/>
              </a:ext>
            </a:extLst>
          </p:cNvPr>
          <p:cNvSpPr/>
          <p:nvPr/>
        </p:nvSpPr>
        <p:spPr>
          <a:xfrm>
            <a:off x="8629154" y="2930774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83BFBA3-74B6-F03F-EA7D-6889C5F2B8DC}"/>
              </a:ext>
            </a:extLst>
          </p:cNvPr>
          <p:cNvSpPr/>
          <p:nvPr/>
        </p:nvSpPr>
        <p:spPr>
          <a:xfrm>
            <a:off x="9854069" y="3182524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8C425057-7C9D-6C6A-7938-42C583A74F4E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9286795" y="2916905"/>
            <a:ext cx="1289616" cy="576000"/>
          </a:xfrm>
          <a:prstGeom prst="line">
            <a:avLst/>
          </a:prstGeom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70CD9950-8EE4-192E-4A80-E1B251644141}"/>
              </a:ext>
            </a:extLst>
          </p:cNvPr>
          <p:cNvCxnSpPr>
            <a:cxnSpLocks/>
            <a:endCxn id="32" idx="4"/>
          </p:cNvCxnSpPr>
          <p:nvPr/>
        </p:nvCxnSpPr>
        <p:spPr>
          <a:xfrm flipV="1">
            <a:off x="8665154" y="3002774"/>
            <a:ext cx="0" cy="144296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D7A8E6DF-D1C9-4C8B-7F79-3953358D56E1}"/>
              </a:ext>
            </a:extLst>
          </p:cNvPr>
          <p:cNvCxnSpPr>
            <a:cxnSpLocks/>
            <a:endCxn id="33" idx="4"/>
          </p:cNvCxnSpPr>
          <p:nvPr/>
        </p:nvCxnSpPr>
        <p:spPr>
          <a:xfrm flipV="1">
            <a:off x="9890069" y="3254524"/>
            <a:ext cx="0" cy="119121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9FB3766D-D88D-8AF1-9EA8-377DFE86C2C7}"/>
                  </a:ext>
                </a:extLst>
              </p:cNvPr>
              <p:cNvSpPr txBox="1"/>
              <p:nvPr/>
            </p:nvSpPr>
            <p:spPr>
              <a:xfrm>
                <a:off x="8532970" y="4475217"/>
                <a:ext cx="280718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9FB3766D-D88D-8AF1-9EA8-377DFE86C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2970" y="4475217"/>
                <a:ext cx="280718" cy="281937"/>
              </a:xfrm>
              <a:prstGeom prst="rect">
                <a:avLst/>
              </a:prstGeom>
              <a:blipFill>
                <a:blip r:embed="rId3"/>
                <a:stretch>
                  <a:fillRect l="-17391" t="-4348" r="-6522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C704157E-D7B9-0371-951E-89CDDDA9F54B}"/>
                  </a:ext>
                </a:extLst>
              </p:cNvPr>
              <p:cNvSpPr txBox="1"/>
              <p:nvPr/>
            </p:nvSpPr>
            <p:spPr>
              <a:xfrm>
                <a:off x="9648079" y="4475607"/>
                <a:ext cx="500330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C704157E-D7B9-0371-951E-89CDDDA9F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079" y="4475607"/>
                <a:ext cx="500330" cy="281937"/>
              </a:xfrm>
              <a:prstGeom prst="rect">
                <a:avLst/>
              </a:prstGeom>
              <a:blipFill>
                <a:blip r:embed="rId4"/>
                <a:stretch>
                  <a:fillRect l="-9756" t="-4348" r="-3659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7886FBFE-54A8-6F37-31FB-9AACD443DFA2}"/>
                  </a:ext>
                </a:extLst>
              </p:cNvPr>
              <p:cNvSpPr txBox="1"/>
              <p:nvPr/>
            </p:nvSpPr>
            <p:spPr>
              <a:xfrm>
                <a:off x="10573036" y="4475217"/>
                <a:ext cx="537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7886FBFE-54A8-6F37-31FB-9AACD443D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3036" y="4475217"/>
                <a:ext cx="537263" cy="276999"/>
              </a:xfrm>
              <a:prstGeom prst="rect">
                <a:avLst/>
              </a:prstGeom>
              <a:blipFill>
                <a:blip r:embed="rId5"/>
                <a:stretch>
                  <a:fillRect l="-10112" r="-8989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FED48D1C-5117-536B-9C55-387092F89AA4}"/>
                  </a:ext>
                </a:extLst>
              </p:cNvPr>
              <p:cNvSpPr txBox="1"/>
              <p:nvPr/>
            </p:nvSpPr>
            <p:spPr>
              <a:xfrm>
                <a:off x="8495235" y="2583833"/>
                <a:ext cx="621452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FED48D1C-5117-536B-9C55-387092F89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235" y="2583833"/>
                <a:ext cx="621452" cy="312650"/>
              </a:xfrm>
              <a:prstGeom prst="rect">
                <a:avLst/>
              </a:prstGeom>
              <a:blipFill>
                <a:blip r:embed="rId6"/>
                <a:stretch>
                  <a:fillRect l="-12745" b="-274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5C504EEC-5BDC-DC14-58D6-E4E00E530199}"/>
                  </a:ext>
                </a:extLst>
              </p:cNvPr>
              <p:cNvSpPr txBox="1"/>
              <p:nvPr/>
            </p:nvSpPr>
            <p:spPr>
              <a:xfrm>
                <a:off x="9512494" y="2763471"/>
                <a:ext cx="841064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5C504EEC-5BDC-DC14-58D6-E4E00E530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494" y="2763471"/>
                <a:ext cx="841064" cy="312650"/>
              </a:xfrm>
              <a:prstGeom prst="rect">
                <a:avLst/>
              </a:prstGeom>
              <a:blipFill>
                <a:blip r:embed="rId7"/>
                <a:stretch>
                  <a:fillRect l="-9420"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D285C161-9699-24BF-51F5-A4BB262FD70E}"/>
                  </a:ext>
                </a:extLst>
              </p:cNvPr>
              <p:cNvSpPr txBox="1"/>
              <p:nvPr/>
            </p:nvSpPr>
            <p:spPr>
              <a:xfrm>
                <a:off x="8005777" y="2311069"/>
                <a:ext cx="674031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D285C161-9699-24BF-51F5-A4BB262FD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777" y="2311069"/>
                <a:ext cx="674031" cy="312650"/>
              </a:xfrm>
              <a:prstGeom prst="rect">
                <a:avLst/>
              </a:prstGeom>
              <a:blipFill>
                <a:blip r:embed="rId8"/>
                <a:stretch>
                  <a:fillRect l="-12613" b="-294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E50FDF93-A28A-0CB1-4240-4CF847813954}"/>
                  </a:ext>
                </a:extLst>
              </p:cNvPr>
              <p:cNvSpPr txBox="1"/>
              <p:nvPr/>
            </p:nvSpPr>
            <p:spPr>
              <a:xfrm>
                <a:off x="10308703" y="3012010"/>
                <a:ext cx="893643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b="0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b="0" i="1" smtClean="0">
                                  <a:solidFill>
                                    <a:srgbClr val="00FF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E50FDF93-A28A-0CB1-4240-4CF847813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8703" y="3012010"/>
                <a:ext cx="893643" cy="312650"/>
              </a:xfrm>
              <a:prstGeom prst="rect">
                <a:avLst/>
              </a:prstGeom>
              <a:blipFill>
                <a:blip r:embed="rId9"/>
                <a:stretch>
                  <a:fillRect l="-9524" b="-294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Ellipse 43">
            <a:extLst>
              <a:ext uri="{FF2B5EF4-FFF2-40B4-BE49-F238E27FC236}">
                <a16:creationId xmlns:a16="http://schemas.microsoft.com/office/drawing/2014/main" id="{C8BF2752-6AD4-7D8D-506B-B81E6F59ADDF}"/>
              </a:ext>
            </a:extLst>
          </p:cNvPr>
          <p:cNvSpPr/>
          <p:nvPr/>
        </p:nvSpPr>
        <p:spPr>
          <a:xfrm>
            <a:off x="7849075" y="2223995"/>
            <a:ext cx="1382899" cy="827999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142548AD-B534-8C3B-9067-545B8D16CAF6}"/>
              </a:ext>
            </a:extLst>
          </p:cNvPr>
          <p:cNvSpPr/>
          <p:nvPr/>
        </p:nvSpPr>
        <p:spPr>
          <a:xfrm>
            <a:off x="9452232" y="2617702"/>
            <a:ext cx="1796621" cy="903136"/>
          </a:xfrm>
          <a:prstGeom prst="ellipse">
            <a:avLst/>
          </a:prstGeom>
          <a:noFill/>
          <a:ln w="28575">
            <a:solidFill>
              <a:srgbClr val="00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5DADF201-47D0-D6EA-FA3C-D53CB5035BD2}"/>
              </a:ext>
            </a:extLst>
          </p:cNvPr>
          <p:cNvSpPr txBox="1"/>
          <p:nvPr/>
        </p:nvSpPr>
        <p:spPr>
          <a:xfrm>
            <a:off x="8089022" y="1921346"/>
            <a:ext cx="903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known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60A5049-F457-C5F8-47DE-50CB1612A64F}"/>
              </a:ext>
            </a:extLst>
          </p:cNvPr>
          <p:cNvSpPr txBox="1"/>
          <p:nvPr/>
        </p:nvSpPr>
        <p:spPr>
          <a:xfrm>
            <a:off x="9728866" y="2238559"/>
            <a:ext cx="118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</a:rPr>
              <a:t>unknown</a:t>
            </a:r>
          </a:p>
        </p:txBody>
      </p:sp>
    </p:spTree>
    <p:extLst>
      <p:ext uri="{BB962C8B-B14F-4D97-AF65-F5344CB8AC3E}">
        <p14:creationId xmlns:p14="http://schemas.microsoft.com/office/powerpoint/2010/main" val="333767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5" grpId="0" animBg="1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99225A-5CA1-9BDD-35AB-A775FCB3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integration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Inhaltsplatzhalter 4">
                <a:extLst>
                  <a:ext uri="{FF2B5EF4-FFF2-40B4-BE49-F238E27FC236}">
                    <a16:creationId xmlns:a16="http://schemas.microsoft.com/office/drawing/2014/main" id="{DBB77E12-DEF9-B951-5F8F-BCDB3B0C38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8647" y="1304131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Suppose we have a discretized PDE of type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:</a:t>
                </a:r>
              </a:p>
              <a:p>
                <a:r>
                  <a:rPr lang="en-US" dirty="0"/>
                  <a:t>We can integrate in time the following ways: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Semi-implicit (Crank-Nicolson scheme):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	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de-DE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i="1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de-DE" i="1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ym typeface="Wingdings" panose="05000000000000000000" pitchFamily="2" charset="2"/>
                  </a:rPr>
                  <a:t>	 iterative solution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	 </a:t>
                </a:r>
                <a:r>
                  <a:rPr lang="en-US" b="1" dirty="0">
                    <a:sym typeface="Wingdings" panose="05000000000000000000" pitchFamily="2" charset="2"/>
                  </a:rPr>
                  <a:t>Second</a:t>
                </a:r>
                <a:r>
                  <a:rPr lang="en-US" dirty="0">
                    <a:sym typeface="Wingdings" panose="05000000000000000000" pitchFamily="2" charset="2"/>
                  </a:rPr>
                  <a:t> order accurate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6" name="Inhaltsplatzhalter 4">
                <a:extLst>
                  <a:ext uri="{FF2B5EF4-FFF2-40B4-BE49-F238E27FC236}">
                    <a16:creationId xmlns:a16="http://schemas.microsoft.com/office/drawing/2014/main" id="{DBB77E12-DEF9-B951-5F8F-BCDB3B0C38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8647" y="1304131"/>
                <a:ext cx="8373201" cy="4249738"/>
              </a:xfrm>
              <a:blipFill>
                <a:blip r:embed="rId2"/>
                <a:stretch>
                  <a:fillRect l="-18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1B28D2F-6494-BAA7-0612-3034BDD1EB12}"/>
              </a:ext>
            </a:extLst>
          </p:cNvPr>
          <p:cNvGrpSpPr/>
          <p:nvPr/>
        </p:nvGrpSpPr>
        <p:grpSpPr>
          <a:xfrm>
            <a:off x="7528907" y="2290678"/>
            <a:ext cx="3774917" cy="2466866"/>
            <a:chOff x="5181123" y="2310840"/>
            <a:chExt cx="3774917" cy="2466866"/>
          </a:xfrm>
        </p:grpSpPr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91440923-4BE9-B402-8111-BA84E61E56E4}"/>
                </a:ext>
              </a:extLst>
            </p:cNvPr>
            <p:cNvCxnSpPr/>
            <p:nvPr/>
          </p:nvCxnSpPr>
          <p:spPr>
            <a:xfrm flipV="1">
              <a:off x="5199888" y="2310840"/>
              <a:ext cx="0" cy="21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4CF0BB38-A2B4-55B1-CCEA-D7880EE2D1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1123" y="4465898"/>
              <a:ext cx="37749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BAF9BA26-F749-884B-993C-0F9B2FFC41F8}"/>
                </a:ext>
              </a:extLst>
            </p:cNvPr>
            <p:cNvSpPr/>
            <p:nvPr/>
          </p:nvSpPr>
          <p:spPr>
            <a:xfrm>
              <a:off x="5199888" y="2712720"/>
              <a:ext cx="3083560" cy="756920"/>
            </a:xfrm>
            <a:custGeom>
              <a:avLst/>
              <a:gdLst>
                <a:gd name="connsiteX0" fmla="*/ 0 w 3083560"/>
                <a:gd name="connsiteY0" fmla="*/ 756920 h 756920"/>
                <a:gd name="connsiteX1" fmla="*/ 680720 w 3083560"/>
                <a:gd name="connsiteY1" fmla="*/ 91440 h 756920"/>
                <a:gd name="connsiteX2" fmla="*/ 1762760 w 3083560"/>
                <a:gd name="connsiteY2" fmla="*/ 523240 h 756920"/>
                <a:gd name="connsiteX3" fmla="*/ 2631440 w 3083560"/>
                <a:gd name="connsiteY3" fmla="*/ 411480 h 756920"/>
                <a:gd name="connsiteX4" fmla="*/ 3083560 w 3083560"/>
                <a:gd name="connsiteY4" fmla="*/ 0 h 756920"/>
                <a:gd name="connsiteX0" fmla="*/ 0 w 3083560"/>
                <a:gd name="connsiteY0" fmla="*/ 756920 h 756920"/>
                <a:gd name="connsiteX1" fmla="*/ 680720 w 3083560"/>
                <a:gd name="connsiteY1" fmla="*/ 91440 h 756920"/>
                <a:gd name="connsiteX2" fmla="*/ 1717040 w 3083560"/>
                <a:gd name="connsiteY2" fmla="*/ 683260 h 756920"/>
                <a:gd name="connsiteX3" fmla="*/ 2631440 w 3083560"/>
                <a:gd name="connsiteY3" fmla="*/ 411480 h 756920"/>
                <a:gd name="connsiteX4" fmla="*/ 3083560 w 3083560"/>
                <a:gd name="connsiteY4" fmla="*/ 0 h 756920"/>
                <a:gd name="connsiteX0" fmla="*/ 0 w 3083560"/>
                <a:gd name="connsiteY0" fmla="*/ 756920 h 756920"/>
                <a:gd name="connsiteX1" fmla="*/ 680720 w 3083560"/>
                <a:gd name="connsiteY1" fmla="*/ 91440 h 756920"/>
                <a:gd name="connsiteX2" fmla="*/ 1621790 w 3083560"/>
                <a:gd name="connsiteY2" fmla="*/ 732790 h 756920"/>
                <a:gd name="connsiteX3" fmla="*/ 2631440 w 3083560"/>
                <a:gd name="connsiteY3" fmla="*/ 411480 h 756920"/>
                <a:gd name="connsiteX4" fmla="*/ 3083560 w 3083560"/>
                <a:gd name="connsiteY4" fmla="*/ 0 h 756920"/>
                <a:gd name="connsiteX0" fmla="*/ 0 w 3083560"/>
                <a:gd name="connsiteY0" fmla="*/ 756920 h 756920"/>
                <a:gd name="connsiteX1" fmla="*/ 732155 w 3083560"/>
                <a:gd name="connsiteY1" fmla="*/ 81915 h 756920"/>
                <a:gd name="connsiteX2" fmla="*/ 1621790 w 3083560"/>
                <a:gd name="connsiteY2" fmla="*/ 732790 h 756920"/>
                <a:gd name="connsiteX3" fmla="*/ 2631440 w 3083560"/>
                <a:gd name="connsiteY3" fmla="*/ 411480 h 756920"/>
                <a:gd name="connsiteX4" fmla="*/ 3083560 w 3083560"/>
                <a:gd name="connsiteY4" fmla="*/ 0 h 756920"/>
                <a:gd name="connsiteX0" fmla="*/ 0 w 3083560"/>
                <a:gd name="connsiteY0" fmla="*/ 756920 h 756920"/>
                <a:gd name="connsiteX1" fmla="*/ 732155 w 3083560"/>
                <a:gd name="connsiteY1" fmla="*/ 81915 h 756920"/>
                <a:gd name="connsiteX2" fmla="*/ 1671320 w 3083560"/>
                <a:gd name="connsiteY2" fmla="*/ 668020 h 756920"/>
                <a:gd name="connsiteX3" fmla="*/ 2631440 w 3083560"/>
                <a:gd name="connsiteY3" fmla="*/ 411480 h 756920"/>
                <a:gd name="connsiteX4" fmla="*/ 3083560 w 3083560"/>
                <a:gd name="connsiteY4" fmla="*/ 0 h 756920"/>
                <a:gd name="connsiteX0" fmla="*/ 0 w 3083560"/>
                <a:gd name="connsiteY0" fmla="*/ 756920 h 756920"/>
                <a:gd name="connsiteX1" fmla="*/ 732155 w 3083560"/>
                <a:gd name="connsiteY1" fmla="*/ 81915 h 756920"/>
                <a:gd name="connsiteX2" fmla="*/ 1690370 w 3083560"/>
                <a:gd name="connsiteY2" fmla="*/ 645160 h 756920"/>
                <a:gd name="connsiteX3" fmla="*/ 2631440 w 3083560"/>
                <a:gd name="connsiteY3" fmla="*/ 411480 h 756920"/>
                <a:gd name="connsiteX4" fmla="*/ 3083560 w 3083560"/>
                <a:gd name="connsiteY4" fmla="*/ 0 h 75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3560" h="756920">
                  <a:moveTo>
                    <a:pt x="0" y="756920"/>
                  </a:moveTo>
                  <a:cubicBezTo>
                    <a:pt x="193463" y="443653"/>
                    <a:pt x="450427" y="100542"/>
                    <a:pt x="732155" y="81915"/>
                  </a:cubicBezTo>
                  <a:cubicBezTo>
                    <a:pt x="1013883" y="63288"/>
                    <a:pt x="1373823" y="590233"/>
                    <a:pt x="1690370" y="645160"/>
                  </a:cubicBezTo>
                  <a:cubicBezTo>
                    <a:pt x="2006917" y="700087"/>
                    <a:pt x="2411307" y="498687"/>
                    <a:pt x="2631440" y="411480"/>
                  </a:cubicBezTo>
                  <a:cubicBezTo>
                    <a:pt x="2851573" y="324273"/>
                    <a:pt x="2967566" y="162136"/>
                    <a:pt x="3083560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E8526594-2764-C8B6-2619-2F20A960584B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5811090" y="2608936"/>
              <a:ext cx="1127920" cy="82800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FA83B04-E8DC-F88F-9381-3650988E5722}"/>
                </a:ext>
              </a:extLst>
            </p:cNvPr>
            <p:cNvSpPr/>
            <p:nvPr/>
          </p:nvSpPr>
          <p:spPr>
            <a:xfrm>
              <a:off x="6281370" y="295093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948A973B-E7B1-6288-CBAA-7C9DD5F84F13}"/>
                </a:ext>
              </a:extLst>
            </p:cNvPr>
            <p:cNvSpPr/>
            <p:nvPr/>
          </p:nvSpPr>
          <p:spPr>
            <a:xfrm>
              <a:off x="7506285" y="320268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865CDDBE-28E4-3E9E-F63A-6DD909651C77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6939011" y="2937067"/>
              <a:ext cx="1289616" cy="576000"/>
            </a:xfrm>
            <a:prstGeom prst="line">
              <a:avLst/>
            </a:prstGeom>
            <a:ln w="254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0B0A417C-96FB-656A-D5CD-F695817A73C8}"/>
                </a:ext>
              </a:extLst>
            </p:cNvPr>
            <p:cNvCxnSpPr>
              <a:cxnSpLocks/>
              <a:endCxn id="8" idx="4"/>
            </p:cNvCxnSpPr>
            <p:nvPr/>
          </p:nvCxnSpPr>
          <p:spPr>
            <a:xfrm flipV="1">
              <a:off x="6317370" y="3022936"/>
              <a:ext cx="0" cy="1442962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5755490E-FB15-E78E-ABE6-67426993D9C7}"/>
                </a:ext>
              </a:extLst>
            </p:cNvPr>
            <p:cNvCxnSpPr>
              <a:cxnSpLocks/>
              <a:endCxn id="9" idx="4"/>
            </p:cNvCxnSpPr>
            <p:nvPr/>
          </p:nvCxnSpPr>
          <p:spPr>
            <a:xfrm flipV="1">
              <a:off x="7542285" y="3274686"/>
              <a:ext cx="0" cy="1191212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CE6CA7D9-0C00-A07E-0DA7-CBF36C42474C}"/>
                    </a:ext>
                  </a:extLst>
                </p:cNvPr>
                <p:cNvSpPr txBox="1"/>
                <p:nvPr/>
              </p:nvSpPr>
              <p:spPr>
                <a:xfrm>
                  <a:off x="6185186" y="4495379"/>
                  <a:ext cx="280718" cy="2819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feld 54">
                  <a:extLst>
                    <a:ext uri="{FF2B5EF4-FFF2-40B4-BE49-F238E27FC236}">
                      <a16:creationId xmlns:a16="http://schemas.microsoft.com/office/drawing/2014/main" id="{2F564B8C-1501-4440-A98E-591B723DEA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5186" y="4495379"/>
                  <a:ext cx="280718" cy="281937"/>
                </a:xfrm>
                <a:prstGeom prst="rect">
                  <a:avLst/>
                </a:prstGeom>
                <a:blipFill>
                  <a:blip r:embed="rId4"/>
                  <a:stretch>
                    <a:fillRect l="-17391" t="-4255" r="-6522" b="-42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CB93165-B5C5-4F81-BF61-9DCA2DDC499B}"/>
                    </a:ext>
                  </a:extLst>
                </p:cNvPr>
                <p:cNvSpPr txBox="1"/>
                <p:nvPr/>
              </p:nvSpPr>
              <p:spPr>
                <a:xfrm>
                  <a:off x="7300295" y="4495769"/>
                  <a:ext cx="500330" cy="2819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E52592D6-E398-426F-80B0-8570466DD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0295" y="4495769"/>
                  <a:ext cx="500330" cy="281937"/>
                </a:xfrm>
                <a:prstGeom prst="rect">
                  <a:avLst/>
                </a:prstGeom>
                <a:blipFill>
                  <a:blip r:embed="rId5"/>
                  <a:stretch>
                    <a:fillRect l="-9756" t="-4255" r="-3659" b="-42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34E6D5FC-3AE4-5304-3C93-C53EB9294C61}"/>
                    </a:ext>
                  </a:extLst>
                </p:cNvPr>
                <p:cNvSpPr txBox="1"/>
                <p:nvPr/>
              </p:nvSpPr>
              <p:spPr>
                <a:xfrm>
                  <a:off x="8225252" y="4495379"/>
                  <a:ext cx="5372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feld 57">
                  <a:extLst>
                    <a:ext uri="{FF2B5EF4-FFF2-40B4-BE49-F238E27FC236}">
                      <a16:creationId xmlns:a16="http://schemas.microsoft.com/office/drawing/2014/main" id="{5DF06F93-6AE2-4D82-B737-97C4BEDD3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5252" y="4495379"/>
                  <a:ext cx="53726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0227" r="-1022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B649F6D8-C974-6962-3C77-2A701F53B059}"/>
                    </a:ext>
                  </a:extLst>
                </p:cNvPr>
                <p:cNvSpPr txBox="1"/>
                <p:nvPr/>
              </p:nvSpPr>
              <p:spPr>
                <a:xfrm>
                  <a:off x="6147451" y="2603995"/>
                  <a:ext cx="621452" cy="312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feld 58">
                  <a:extLst>
                    <a:ext uri="{FF2B5EF4-FFF2-40B4-BE49-F238E27FC236}">
                      <a16:creationId xmlns:a16="http://schemas.microsoft.com/office/drawing/2014/main" id="{AECFEF8B-DDC1-417C-9CD0-732D867005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7451" y="2603995"/>
                  <a:ext cx="621452" cy="312650"/>
                </a:xfrm>
                <a:prstGeom prst="rect">
                  <a:avLst/>
                </a:prstGeom>
                <a:blipFill>
                  <a:blip r:embed="rId7"/>
                  <a:stretch>
                    <a:fillRect l="-12745" b="-27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05FA297C-85C3-F4D2-6B9F-8E3444FA3490}"/>
                    </a:ext>
                  </a:extLst>
                </p:cNvPr>
                <p:cNvSpPr txBox="1"/>
                <p:nvPr/>
              </p:nvSpPr>
              <p:spPr>
                <a:xfrm>
                  <a:off x="7164710" y="2783633"/>
                  <a:ext cx="841064" cy="312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ECB54C4E-0074-4C22-81D6-817ACA5AE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710" y="2783633"/>
                  <a:ext cx="841064" cy="312650"/>
                </a:xfrm>
                <a:prstGeom prst="rect">
                  <a:avLst/>
                </a:prstGeom>
                <a:blipFill>
                  <a:blip r:embed="rId8"/>
                  <a:stretch>
                    <a:fillRect l="-9420" b="-27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5695FF4F-A229-EC61-E25B-0AE9C4DC5213}"/>
                    </a:ext>
                  </a:extLst>
                </p:cNvPr>
                <p:cNvSpPr txBox="1"/>
                <p:nvPr/>
              </p:nvSpPr>
              <p:spPr>
                <a:xfrm>
                  <a:off x="5657993" y="2331231"/>
                  <a:ext cx="674031" cy="312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57B46450-58B0-411E-B8B4-A9B68C634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7993" y="2331231"/>
                  <a:ext cx="674031" cy="312650"/>
                </a:xfrm>
                <a:prstGeom prst="rect">
                  <a:avLst/>
                </a:prstGeom>
                <a:blipFill>
                  <a:blip r:embed="rId9"/>
                  <a:stretch>
                    <a:fillRect l="-12613" b="-26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9F0922DE-1CD6-E2C9-D663-2E22BAAD4B14}"/>
                    </a:ext>
                  </a:extLst>
                </p:cNvPr>
                <p:cNvSpPr txBox="1"/>
                <p:nvPr/>
              </p:nvSpPr>
              <p:spPr>
                <a:xfrm>
                  <a:off x="7960919" y="3032172"/>
                  <a:ext cx="893643" cy="312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de-DE" b="0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de-DE" b="0" i="1" smtClean="0">
                                    <a:solidFill>
                                      <a:srgbClr val="00FF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00FF0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feld 62">
                  <a:extLst>
                    <a:ext uri="{FF2B5EF4-FFF2-40B4-BE49-F238E27FC236}">
                      <a16:creationId xmlns:a16="http://schemas.microsoft.com/office/drawing/2014/main" id="{E478CA51-F0A2-42ED-A9FE-CF2F1A8CD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0919" y="3032172"/>
                  <a:ext cx="893643" cy="312650"/>
                </a:xfrm>
                <a:prstGeom prst="rect">
                  <a:avLst/>
                </a:prstGeom>
                <a:blipFill>
                  <a:blip r:embed="rId10"/>
                  <a:stretch>
                    <a:fillRect l="-9524" b="-26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Ellipse 19">
            <a:extLst>
              <a:ext uri="{FF2B5EF4-FFF2-40B4-BE49-F238E27FC236}">
                <a16:creationId xmlns:a16="http://schemas.microsoft.com/office/drawing/2014/main" id="{BC3D4E7E-CF5D-6C2A-9A65-1AE38002010D}"/>
              </a:ext>
            </a:extLst>
          </p:cNvPr>
          <p:cNvSpPr/>
          <p:nvPr/>
        </p:nvSpPr>
        <p:spPr>
          <a:xfrm>
            <a:off x="7849075" y="2223995"/>
            <a:ext cx="1382899" cy="827999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8DBCF44-EBC8-08EC-E3FA-4D1E745AE5A2}"/>
              </a:ext>
            </a:extLst>
          </p:cNvPr>
          <p:cNvSpPr/>
          <p:nvPr/>
        </p:nvSpPr>
        <p:spPr>
          <a:xfrm>
            <a:off x="9452232" y="2617702"/>
            <a:ext cx="1796621" cy="903136"/>
          </a:xfrm>
          <a:prstGeom prst="ellipse">
            <a:avLst/>
          </a:prstGeom>
          <a:noFill/>
          <a:ln w="28575">
            <a:solidFill>
              <a:srgbClr val="00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DAEAF5C-8C43-1A47-BDD5-14D59093927E}"/>
              </a:ext>
            </a:extLst>
          </p:cNvPr>
          <p:cNvSpPr txBox="1"/>
          <p:nvPr/>
        </p:nvSpPr>
        <p:spPr>
          <a:xfrm>
            <a:off x="8089022" y="1921346"/>
            <a:ext cx="903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known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DAEA514-8A36-1E56-2F04-09A343502F62}"/>
              </a:ext>
            </a:extLst>
          </p:cNvPr>
          <p:cNvSpPr txBox="1"/>
          <p:nvPr/>
        </p:nvSpPr>
        <p:spPr>
          <a:xfrm>
            <a:off x="9728866" y="2238559"/>
            <a:ext cx="118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</a:rPr>
              <a:t>unknown</a:t>
            </a:r>
          </a:p>
        </p:txBody>
      </p:sp>
    </p:spTree>
    <p:extLst>
      <p:ext uri="{BB962C8B-B14F-4D97-AF65-F5344CB8AC3E}">
        <p14:creationId xmlns:p14="http://schemas.microsoft.com/office/powerpoint/2010/main" val="133306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50675-84E6-14F3-D381-E26C5AE7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integration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</p:txBody>
      </p:sp>
      <p:pic>
        <p:nvPicPr>
          <p:cNvPr id="4" name="Inhaltsplatzhalter 6">
            <a:extLst>
              <a:ext uri="{FF2B5EF4-FFF2-40B4-BE49-F238E27FC236}">
                <a16:creationId xmlns:a16="http://schemas.microsoft.com/office/drawing/2014/main" id="{5C09FED0-F7DC-9E27-DB14-19B7F09BC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51"/>
          <a:stretch/>
        </p:blipFill>
        <p:spPr>
          <a:xfrm>
            <a:off x="3436620" y="983932"/>
            <a:ext cx="5318760" cy="5272496"/>
          </a:xfrm>
        </p:spPr>
      </p:pic>
    </p:spTree>
    <p:extLst>
      <p:ext uri="{BB962C8B-B14F-4D97-AF65-F5344CB8AC3E}">
        <p14:creationId xmlns:p14="http://schemas.microsoft.com/office/powerpoint/2010/main" val="209982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0415E0-29FC-5950-1FC4-99D1BF6D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integration method 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944FD90C-05EB-A741-60D1-58CE441715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09763" y="1260000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Forward time - centered space (FTCS)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  <a:tabLst>
                    <a:tab pos="27146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Euler forward (1</a:t>
                </a:r>
                <a:r>
                  <a:rPr lang="en-US" baseline="30000" dirty="0">
                    <a:sym typeface="Wingdings" panose="05000000000000000000" pitchFamily="2" charset="2"/>
                  </a:rPr>
                  <a:t>st</a:t>
                </a:r>
                <a:r>
                  <a:rPr lang="en-US" dirty="0">
                    <a:sym typeface="Wingdings" panose="05000000000000000000" pitchFamily="2" charset="2"/>
                  </a:rPr>
                  <a:t> order accurate) in time and</a:t>
                </a:r>
              </a:p>
              <a:p>
                <a:pPr>
                  <a:tabLst>
                    <a:tab pos="27146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	 central differences (2</a:t>
                </a:r>
                <a:r>
                  <a:rPr lang="en-US" baseline="30000" dirty="0">
                    <a:sym typeface="Wingdings" panose="05000000000000000000" pitchFamily="2" charset="2"/>
                  </a:rPr>
                  <a:t>nd</a:t>
                </a:r>
                <a:r>
                  <a:rPr lang="en-US" dirty="0">
                    <a:sym typeface="Wingdings" panose="05000000000000000000" pitchFamily="2" charset="2"/>
                  </a:rPr>
                  <a:t> order accurate) in space</a:t>
                </a:r>
              </a:p>
              <a:p>
                <a:pPr>
                  <a:tabLst>
                    <a:tab pos="271463" algn="l"/>
                  </a:tabLst>
                </a:pPr>
                <a:endParaRPr lang="en-US" dirty="0"/>
              </a:p>
              <a:p>
                <a:r>
                  <a:rPr lang="en-US" dirty="0"/>
                  <a:t>Example: Diffusion equation (1D)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/>
                  <a:t> </a:t>
                </a:r>
                <a:endParaRPr lang="en-US" dirty="0"/>
              </a:p>
              <a:p>
                <a:r>
                  <a:rPr lang="en-US" dirty="0"/>
                  <a:t>can be discretized to</a:t>
                </a: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de-DE" sz="20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groupChr>
                      </m:e>
                      <m:lim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𝐸𝑢𝑙𝑒𝑟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𝑓𝑜𝑟𝑤𝑎𝑟𝑑</m:t>
                        </m:r>
                      </m:lim>
                    </m:limLow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f>
                              <m:f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de-DE" sz="20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p>
                                  <m:sSup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groupChr>
                      </m:e>
                      <m:lim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𝑐𝑒𝑛𝑡𝑟𝑎𝑙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𝑑𝑖𝑓𝑓𝑒𝑟𝑒𝑛𝑐𝑒𝑠</m:t>
                        </m:r>
                      </m:lim>
                    </m:limLow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e-DE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sz="20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ym typeface="Wingdings" panose="05000000000000000000" pitchFamily="2" charset="2"/>
                </a:endParaRPr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944FD90C-05EB-A741-60D1-58CE44171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9763" y="1260000"/>
                <a:ext cx="8373201" cy="4249738"/>
              </a:xfrm>
              <a:blipFill>
                <a:blip r:embed="rId2"/>
                <a:stretch>
                  <a:fillRect l="-1820" t="-1865" b="-106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AFAF07B-04AD-E6A2-4F5C-D97DCDA22989}"/>
              </a:ext>
            </a:extLst>
          </p:cNvPr>
          <p:cNvGrpSpPr/>
          <p:nvPr/>
        </p:nvGrpSpPr>
        <p:grpSpPr>
          <a:xfrm>
            <a:off x="8877228" y="1951673"/>
            <a:ext cx="3078552" cy="2052471"/>
            <a:chOff x="5789544" y="1307904"/>
            <a:chExt cx="3078552" cy="2052471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B5FE2EDB-BA13-4290-8522-AD1EF7E3EA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5667" y="2601504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8D5C34D7-F120-DA89-EFBF-BAF791369B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46067" y="2601504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5C88982-38C5-DE42-3E9D-120DAC2F10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00467" y="2601504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B1D83BE0-6F38-15FC-8106-F16CC9B67A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46358" y="1666512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C4C11019-F035-3FE0-A838-F188FC2162C0}"/>
                    </a:ext>
                  </a:extLst>
                </p:cNvPr>
                <p:cNvSpPr txBox="1"/>
                <p:nvPr/>
              </p:nvSpPr>
              <p:spPr>
                <a:xfrm>
                  <a:off x="7146068" y="3077123"/>
                  <a:ext cx="3602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28CC6ED6-82E9-4B54-9664-9BCE68BB2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6068" y="3077123"/>
                  <a:ext cx="36029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5254" r="-13559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14F27AB5-4128-D3A6-FBC2-6C16254246C8}"/>
                    </a:ext>
                  </a:extLst>
                </p:cNvPr>
                <p:cNvSpPr txBox="1"/>
                <p:nvPr/>
              </p:nvSpPr>
              <p:spPr>
                <a:xfrm>
                  <a:off x="8103848" y="3083376"/>
                  <a:ext cx="7642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2C74E267-1941-48D3-AD2E-A77025334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3848" y="3083376"/>
                  <a:ext cx="76424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7200" r="-640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9FA2ECCA-1112-258E-17E5-A96112C2555F}"/>
                    </a:ext>
                  </a:extLst>
                </p:cNvPr>
                <p:cNvSpPr txBox="1"/>
                <p:nvPr/>
              </p:nvSpPr>
              <p:spPr>
                <a:xfrm>
                  <a:off x="5789544" y="3083376"/>
                  <a:ext cx="76424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05C43A50-6A9B-4916-A33D-745B2F4F8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9544" y="3083376"/>
                  <a:ext cx="76424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7143" r="-555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4E00A98A-6850-C64F-5AFE-C0B76F060604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6345667" y="2781504"/>
              <a:ext cx="80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1AF1415A-7D0F-83A6-CB63-4953FB25A5AB}"/>
                </a:ext>
              </a:extLst>
            </p:cNvPr>
            <p:cNvCxnSpPr/>
            <p:nvPr/>
          </p:nvCxnSpPr>
          <p:spPr>
            <a:xfrm>
              <a:off x="7506067" y="2781504"/>
              <a:ext cx="80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D7C378A9-E9F1-B728-A68C-E72B5C8E6B55}"/>
                </a:ext>
              </a:extLst>
            </p:cNvPr>
            <p:cNvCxnSpPr>
              <a:cxnSpLocks/>
            </p:cNvCxnSpPr>
            <p:nvPr/>
          </p:nvCxnSpPr>
          <p:spPr>
            <a:xfrm>
              <a:off x="7326358" y="2038704"/>
              <a:ext cx="0" cy="562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88736621-17A4-C950-AE4B-C3959D4C341A}"/>
                    </a:ext>
                  </a:extLst>
                </p:cNvPr>
                <p:cNvSpPr txBox="1"/>
                <p:nvPr/>
              </p:nvSpPr>
              <p:spPr>
                <a:xfrm>
                  <a:off x="6943943" y="1307904"/>
                  <a:ext cx="7642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6D96DA8-2FC0-49B6-BA49-FDC1E5C546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3943" y="1307904"/>
                  <a:ext cx="76424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7200" r="-6400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03718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B4E11-2CDB-C7CD-37B5-BE71E4CA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method</a:t>
            </a:r>
            <a:endParaRPr lang="de-DE" dirty="0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E0A9FB61-72C3-FC8C-6D36-A832484FE287}"/>
              </a:ext>
            </a:extLst>
          </p:cNvPr>
          <p:cNvGrpSpPr/>
          <p:nvPr/>
        </p:nvGrpSpPr>
        <p:grpSpPr>
          <a:xfrm>
            <a:off x="8667894" y="1974586"/>
            <a:ext cx="3472526" cy="2067837"/>
            <a:chOff x="5580953" y="1309056"/>
            <a:chExt cx="3472526" cy="2067837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6589A390-2FAC-9ADA-C94F-8BD5146EDA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5958" y="1658900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CBAB536-9206-26CF-3067-B4A11306B7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46358" y="1658900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7E89C2FD-A133-1E39-A177-CF6E3F0064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00758" y="1658900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936CDA1-5815-15E5-A093-2B3FAB2769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46358" y="2581700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DFF05866-A531-76B4-554E-23206E154C55}"/>
                    </a:ext>
                  </a:extLst>
                </p:cNvPr>
                <p:cNvSpPr txBox="1"/>
                <p:nvPr/>
              </p:nvSpPr>
              <p:spPr>
                <a:xfrm>
                  <a:off x="6944234" y="1309057"/>
                  <a:ext cx="7642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05955E5F-ED5C-4FE2-BFD3-2E2A7B14A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234" y="1309057"/>
                  <a:ext cx="76424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7200" r="-6400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4A12FF15-8123-4B64-2C6D-092528E1CDC6}"/>
                    </a:ext>
                  </a:extLst>
                </p:cNvPr>
                <p:cNvSpPr txBox="1"/>
                <p:nvPr/>
              </p:nvSpPr>
              <p:spPr>
                <a:xfrm>
                  <a:off x="7885274" y="1309056"/>
                  <a:ext cx="11682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4A12FF15-8123-4B64-2C6D-092528E1C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5274" y="1309056"/>
                  <a:ext cx="11682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167" r="-3646" b="-888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4157EA92-653D-5065-5DA8-3C7C3BC74E4F}"/>
                    </a:ext>
                  </a:extLst>
                </p:cNvPr>
                <p:cNvSpPr txBox="1"/>
                <p:nvPr/>
              </p:nvSpPr>
              <p:spPr>
                <a:xfrm>
                  <a:off x="5580953" y="1322956"/>
                  <a:ext cx="11682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CCE230F9-22B7-47A1-BDAE-CDADA6E2CC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953" y="1322956"/>
                  <a:ext cx="116820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4167" r="-4167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3BBE3CB-A735-E963-45D1-F86E2014C988}"/>
                </a:ext>
              </a:extLst>
            </p:cNvPr>
            <p:cNvCxnSpPr>
              <a:stCxn id="20" idx="6"/>
              <a:endCxn id="21" idx="2"/>
            </p:cNvCxnSpPr>
            <p:nvPr/>
          </p:nvCxnSpPr>
          <p:spPr>
            <a:xfrm>
              <a:off x="6345958" y="1838900"/>
              <a:ext cx="80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561868CA-493D-D808-A467-87528A8802BE}"/>
                </a:ext>
              </a:extLst>
            </p:cNvPr>
            <p:cNvCxnSpPr/>
            <p:nvPr/>
          </p:nvCxnSpPr>
          <p:spPr>
            <a:xfrm>
              <a:off x="7506358" y="1838900"/>
              <a:ext cx="80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52B739E9-BC8E-A8ED-8065-51E67DD17EFC}"/>
                </a:ext>
              </a:extLst>
            </p:cNvPr>
            <p:cNvCxnSpPr>
              <a:cxnSpLocks/>
              <a:stCxn id="21" idx="4"/>
              <a:endCxn id="23" idx="0"/>
            </p:cNvCxnSpPr>
            <p:nvPr/>
          </p:nvCxnSpPr>
          <p:spPr>
            <a:xfrm>
              <a:off x="7326358" y="2018900"/>
              <a:ext cx="0" cy="562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F04EBD8B-1BA1-7DCD-4F79-A624940BB586}"/>
                    </a:ext>
                  </a:extLst>
                </p:cNvPr>
                <p:cNvSpPr txBox="1"/>
                <p:nvPr/>
              </p:nvSpPr>
              <p:spPr>
                <a:xfrm>
                  <a:off x="7146358" y="3099894"/>
                  <a:ext cx="3602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957F3B02-C4F6-4D35-AAD9-B96187E7F1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6358" y="3099894"/>
                  <a:ext cx="360291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254" r="-13559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Inhaltsplatzhalter 3">
                <a:extLst>
                  <a:ext uri="{FF2B5EF4-FFF2-40B4-BE49-F238E27FC236}">
                    <a16:creationId xmlns:a16="http://schemas.microsoft.com/office/drawing/2014/main" id="{C6936E3F-AF6B-8A34-B492-C4D7B9F3C3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09763" y="1260000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Backward difference in time - centered space (BCTS)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  <a:tabLst>
                    <a:tab pos="27146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Euler backward (1</a:t>
                </a:r>
                <a:r>
                  <a:rPr lang="en-US" baseline="30000" dirty="0">
                    <a:sym typeface="Wingdings" panose="05000000000000000000" pitchFamily="2" charset="2"/>
                  </a:rPr>
                  <a:t>st</a:t>
                </a:r>
                <a:r>
                  <a:rPr lang="en-US" dirty="0">
                    <a:sym typeface="Wingdings" panose="05000000000000000000" pitchFamily="2" charset="2"/>
                  </a:rPr>
                  <a:t> order accurate) in time and</a:t>
                </a:r>
              </a:p>
              <a:p>
                <a:pPr>
                  <a:tabLst>
                    <a:tab pos="27146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	 central differences (2</a:t>
                </a:r>
                <a:r>
                  <a:rPr lang="en-US" baseline="30000" dirty="0">
                    <a:sym typeface="Wingdings" panose="05000000000000000000" pitchFamily="2" charset="2"/>
                  </a:rPr>
                  <a:t>nd</a:t>
                </a:r>
                <a:r>
                  <a:rPr lang="en-US" dirty="0">
                    <a:sym typeface="Wingdings" panose="05000000000000000000" pitchFamily="2" charset="2"/>
                  </a:rPr>
                  <a:t> order accurate) in space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  <a:tabLst>
                    <a:tab pos="271463" algn="l"/>
                  </a:tabLst>
                </a:pPr>
                <a:r>
                  <a:rPr lang="en-US" dirty="0"/>
                  <a:t>Needs iterative solver</a:t>
                </a:r>
              </a:p>
              <a:p>
                <a:r>
                  <a:rPr lang="en-US" dirty="0"/>
                  <a:t>Example: Diffusion equation (1D)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/>
                  <a:t> </a:t>
                </a:r>
                <a:endParaRPr lang="en-US" dirty="0"/>
              </a:p>
              <a:p>
                <a:r>
                  <a:rPr lang="en-US" dirty="0"/>
                  <a:t>can be discretized to</a:t>
                </a:r>
              </a:p>
              <a:p>
                <a:pPr algn="ctr"/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1" name="Inhaltsplatzhalter 3">
                <a:extLst>
                  <a:ext uri="{FF2B5EF4-FFF2-40B4-BE49-F238E27FC236}">
                    <a16:creationId xmlns:a16="http://schemas.microsoft.com/office/drawing/2014/main" id="{C6936E3F-AF6B-8A34-B492-C4D7B9F3C3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9763" y="1260000"/>
                <a:ext cx="8373201" cy="4249738"/>
              </a:xfrm>
              <a:blipFill>
                <a:blip r:embed="rId7"/>
                <a:stretch>
                  <a:fillRect l="-1820" t="-18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B92F3B1-AA28-410F-98BD-154603FD4789}"/>
                  </a:ext>
                </a:extLst>
              </p:cNvPr>
              <p:cNvSpPr txBox="1"/>
              <p:nvPr/>
            </p:nvSpPr>
            <p:spPr>
              <a:xfrm>
                <a:off x="4182242" y="4400642"/>
                <a:ext cx="5069754" cy="1616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de-DE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bSup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de-DE" sz="18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𝐸𝑢𝑙𝑒𝑟</m:t>
                          </m:r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𝑏𝑎𝑐𝑘𝑤𝑎𝑟𝑑</m:t>
                          </m:r>
                        </m:lim>
                      </m:limLow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DE" sz="18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f>
                                <m:fPr>
                                  <m:ctrlPr>
                                    <a:rPr lang="de-DE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bSup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bSup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de-DE" sz="18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groupChr>
                        </m:e>
                        <m:lim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𝑐𝑒𝑛𝑡𝑟𝑎𝑙</m:t>
                          </m:r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𝑑𝑖𝑓𝑓𝑒𝑟𝑒𝑛𝑐𝑒𝑠</m:t>
                          </m:r>
                        </m:lim>
                      </m:limLow>
                    </m:oMath>
                  </m:oMathPara>
                </a14:m>
                <a:endParaRPr lang="en-US" sz="1800" dirty="0">
                  <a:sym typeface="Wingdings" panose="05000000000000000000" pitchFamily="2" charset="2"/>
                </a:endParaRPr>
              </a:p>
              <a:p>
                <a:pPr algn="ctr"/>
                <a:endParaRPr lang="en-US" sz="1800" dirty="0">
                  <a:sym typeface="Wingdings" panose="05000000000000000000" pitchFamily="2" charset="2"/>
                </a:endParaRPr>
              </a:p>
              <a:p>
                <a:pPr algn="ctr"/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800" b="0" i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f>
                          <m:f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m:rPr>
                                <m:sty m:val="p"/>
                              </m:rPr>
                              <a:rPr lang="de-DE" sz="18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de-DE" sz="18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p>
                              <m:sSupPr>
                                <m:ctrlPr>
                                  <a:rPr lang="de-DE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sSubSup>
                      <m:sSubSup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sz="18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8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sz="18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8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de-DE" sz="18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B92F3B1-AA28-410F-98BD-154603FD4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242" y="4400642"/>
                <a:ext cx="5069754" cy="16160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921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98EB5-716D-C9DB-FE94-DCF41F6E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Crank</a:t>
            </a:r>
            <a:r>
              <a:rPr lang="de-DE" dirty="0"/>
              <a:t>-Nicolson </a:t>
            </a:r>
            <a:r>
              <a:rPr lang="de-DE" dirty="0" err="1"/>
              <a:t>method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D0AA6C6-3C6F-BD2C-47AD-BA59156AA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21668" y="1260000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Central difference in time - centered space (CTCS)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  <a:tabLst>
                    <a:tab pos="27146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Central difference (2</a:t>
                </a:r>
                <a:r>
                  <a:rPr lang="en-US" baseline="30000" dirty="0">
                    <a:sym typeface="Wingdings" panose="05000000000000000000" pitchFamily="2" charset="2"/>
                  </a:rPr>
                  <a:t>nd</a:t>
                </a:r>
                <a:r>
                  <a:rPr lang="en-US" dirty="0">
                    <a:sym typeface="Wingdings" panose="05000000000000000000" pitchFamily="2" charset="2"/>
                  </a:rPr>
                  <a:t>  order accurate) in time and</a:t>
                </a:r>
              </a:p>
              <a:p>
                <a:pPr>
                  <a:tabLst>
                    <a:tab pos="27146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	 central differences (2</a:t>
                </a:r>
                <a:r>
                  <a:rPr lang="en-US" baseline="30000" dirty="0">
                    <a:sym typeface="Wingdings" panose="05000000000000000000" pitchFamily="2" charset="2"/>
                  </a:rPr>
                  <a:t>nd</a:t>
                </a:r>
                <a:r>
                  <a:rPr lang="en-US" dirty="0">
                    <a:sym typeface="Wingdings" panose="05000000000000000000" pitchFamily="2" charset="2"/>
                  </a:rPr>
                  <a:t> order accurate) in space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  <a:tabLst>
                    <a:tab pos="271463" algn="l"/>
                  </a:tabLst>
                </a:pPr>
                <a:r>
                  <a:rPr lang="en-US" dirty="0"/>
                  <a:t>Higher order scheme with iterative solver</a:t>
                </a:r>
              </a:p>
              <a:p>
                <a:r>
                  <a:rPr lang="en-US" dirty="0"/>
                  <a:t>Example: Diffusion equation (1D)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/>
                  <a:t> </a:t>
                </a:r>
                <a:endParaRPr lang="en-US" dirty="0"/>
              </a:p>
              <a:p>
                <a:r>
                  <a:rPr lang="en-US" dirty="0"/>
                  <a:t>can be discretized to</a:t>
                </a:r>
              </a:p>
              <a:p>
                <a:pPr algn="ctr"/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D0AA6C6-3C6F-BD2C-47AD-BA59156AA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1668" y="1260000"/>
                <a:ext cx="8373201" cy="4249738"/>
              </a:xfrm>
              <a:blipFill>
                <a:blip r:embed="rId2"/>
                <a:stretch>
                  <a:fillRect l="-1820" t="-18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6754A95-B61B-4CE9-608F-9C94DC491C2F}"/>
                  </a:ext>
                </a:extLst>
              </p:cNvPr>
              <p:cNvSpPr txBox="1"/>
              <p:nvPr/>
            </p:nvSpPr>
            <p:spPr>
              <a:xfrm>
                <a:off x="1372225" y="4463383"/>
                <a:ext cx="8654401" cy="1554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limLow>
                      <m:limLow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de-DE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de-DE" sz="18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groupChr>
                      </m:e>
                      <m:lim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𝐸𝑢𝑙𝑒𝑟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𝑏𝑎𝑐𝑘𝑤𝑎𝑟𝑑</m:t>
                        </m:r>
                      </m:lim>
                    </m:limLow>
                    <m:r>
                      <a:rPr lang="de-DE" sz="18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de-DE" sz="18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sz="180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f>
                              <m:f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p>
                                    </m:sSubSup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p>
                                    </m:sSubSup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  <m:sup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de-DE" sz="18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de-DE" sz="180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p>
                                      <m:sSupPr>
                                        <m:ctrlP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  <m:sup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Sup>
                                      <m:sSubSup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  <m:sup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de-DE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p>
                                      <m:sSup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groupChr>
                      </m:e>
                      <m:lim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𝑐𝑒𝑛𝑡𝑟𝑎𝑙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𝑑𝑖𝑓𝑓𝑒𝑟𝑒𝑛𝑐𝑒𝑠</m:t>
                        </m:r>
                      </m:lim>
                    </m:limLow>
                  </m:oMath>
                </a14:m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</a:p>
              <a:p>
                <a:pPr algn="r"/>
                <a:endParaRPr lang="en-US" sz="1800" dirty="0">
                  <a:sym typeface="Wingdings" panose="05000000000000000000" pitchFamily="2" charset="2"/>
                </a:endParaRPr>
              </a:p>
              <a:p>
                <a:pPr algn="ctr"/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f>
                          <m:f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m:rPr>
                                <m:sty m:val="p"/>
                              </m:rPr>
                              <a:rPr lang="de-DE" sz="18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de-DE" sz="18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p>
                              <m:sSupPr>
                                <m:ctrlPr>
                                  <a:rPr lang="de-DE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sSubSup>
                      <m:sSubSup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sz="18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8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sz="18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8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de-DE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6754A95-B61B-4CE9-608F-9C94DC491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225" y="4463383"/>
                <a:ext cx="8654401" cy="1554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BAEFE62-E0CA-5589-82FD-71145B19BFB6}"/>
              </a:ext>
            </a:extLst>
          </p:cNvPr>
          <p:cNvGrpSpPr/>
          <p:nvPr/>
        </p:nvGrpSpPr>
        <p:grpSpPr>
          <a:xfrm>
            <a:off x="8681374" y="1932963"/>
            <a:ext cx="3449666" cy="2074224"/>
            <a:chOff x="5458114" y="1544343"/>
            <a:chExt cx="3449666" cy="2074224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3FB1A350-04D6-750A-2359-9FC7E89BDE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5090" y="2859696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D8AA9A6-14B0-48D1-1C55-EB8696036A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5490" y="2859696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6A793856-0417-6BBC-4F51-61BB4E808B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9890" y="2859696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DB26F9A0-0884-7F90-FDCB-F7C137DA27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5781" y="1924704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786035DC-BA60-2C52-633B-43975E10BD67}"/>
                    </a:ext>
                  </a:extLst>
                </p:cNvPr>
                <p:cNvSpPr txBox="1"/>
                <p:nvPr/>
              </p:nvSpPr>
              <p:spPr>
                <a:xfrm>
                  <a:off x="7005491" y="3335315"/>
                  <a:ext cx="3602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54B74352-628E-4CB6-8FA2-1526C2B6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5491" y="3335315"/>
                  <a:ext cx="36029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5254" r="-13559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B962BAE1-730E-1CBD-EA8F-657D8A807111}"/>
                    </a:ext>
                  </a:extLst>
                </p:cNvPr>
                <p:cNvSpPr txBox="1"/>
                <p:nvPr/>
              </p:nvSpPr>
              <p:spPr>
                <a:xfrm>
                  <a:off x="7963271" y="3341568"/>
                  <a:ext cx="7642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C1BB02C3-7606-4446-A5DB-ADA125EFED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3271" y="3341568"/>
                  <a:ext cx="76424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7143" r="-555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8697C04E-2C06-3E37-5FD6-CF2E0120DB02}"/>
                    </a:ext>
                  </a:extLst>
                </p:cNvPr>
                <p:cNvSpPr txBox="1"/>
                <p:nvPr/>
              </p:nvSpPr>
              <p:spPr>
                <a:xfrm>
                  <a:off x="5648967" y="3341568"/>
                  <a:ext cx="76424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B2B115FC-D452-44C4-84C1-934B8C4AF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8967" y="3341568"/>
                  <a:ext cx="764247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7200" r="-6400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FF5F9957-1227-B471-CE40-D29B0E3BFA29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6205090" y="3039696"/>
              <a:ext cx="80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B95A03F-4691-296C-47CF-F6FE6455E61D}"/>
                </a:ext>
              </a:extLst>
            </p:cNvPr>
            <p:cNvCxnSpPr/>
            <p:nvPr/>
          </p:nvCxnSpPr>
          <p:spPr>
            <a:xfrm>
              <a:off x="7365490" y="3039696"/>
              <a:ext cx="80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1134429-9E20-110C-5043-6D4FA05DE640}"/>
                </a:ext>
              </a:extLst>
            </p:cNvPr>
            <p:cNvCxnSpPr>
              <a:cxnSpLocks/>
            </p:cNvCxnSpPr>
            <p:nvPr/>
          </p:nvCxnSpPr>
          <p:spPr>
            <a:xfrm>
              <a:off x="7185781" y="2296896"/>
              <a:ext cx="0" cy="562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F013AD8-8A18-D595-EF89-522E0DF1588B}"/>
                    </a:ext>
                  </a:extLst>
                </p:cNvPr>
                <p:cNvSpPr txBox="1"/>
                <p:nvPr/>
              </p:nvSpPr>
              <p:spPr>
                <a:xfrm>
                  <a:off x="6803366" y="1566096"/>
                  <a:ext cx="7642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C1EDD722-7ADA-49C4-8ED7-B9CB4BD53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366" y="1566096"/>
                  <a:ext cx="76424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7200" r="-720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506EA2B8-D249-1450-FD4D-0230A54BD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5090" y="1932192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343EA346-85C5-F3BA-8CB5-01D838CCAC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9890" y="1932192"/>
              <a:ext cx="360000" cy="36000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61096C15-FD50-3D01-91E5-6D6164AE6B7B}"/>
                </a:ext>
              </a:extLst>
            </p:cNvPr>
            <p:cNvCxnSpPr/>
            <p:nvPr/>
          </p:nvCxnSpPr>
          <p:spPr>
            <a:xfrm>
              <a:off x="7365490" y="2112192"/>
              <a:ext cx="80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AE0533BC-9897-699A-D7F7-B715642C7035}"/>
                </a:ext>
              </a:extLst>
            </p:cNvPr>
            <p:cNvCxnSpPr/>
            <p:nvPr/>
          </p:nvCxnSpPr>
          <p:spPr>
            <a:xfrm>
              <a:off x="6205090" y="2107488"/>
              <a:ext cx="800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DCF6CF6E-0DF9-C338-3D89-1176558A6121}"/>
                    </a:ext>
                  </a:extLst>
                </p:cNvPr>
                <p:cNvSpPr txBox="1"/>
                <p:nvPr/>
              </p:nvSpPr>
              <p:spPr>
                <a:xfrm>
                  <a:off x="7739575" y="1544343"/>
                  <a:ext cx="11682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DCF6CF6E-0DF9-C338-3D89-1176558A6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9575" y="1544343"/>
                  <a:ext cx="1168205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4167" r="-4167" b="-652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B43AE836-2B90-9599-B6E7-C53CBA046DDF}"/>
                    </a:ext>
                  </a:extLst>
                </p:cNvPr>
                <p:cNvSpPr txBox="1"/>
                <p:nvPr/>
              </p:nvSpPr>
              <p:spPr>
                <a:xfrm>
                  <a:off x="5458114" y="1558243"/>
                  <a:ext cx="11682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feld 44">
                  <a:extLst>
                    <a:ext uri="{FF2B5EF4-FFF2-40B4-BE49-F238E27FC236}">
                      <a16:creationId xmlns:a16="http://schemas.microsoft.com/office/drawing/2014/main" id="{2CC44916-1FE9-4507-891F-456B78C4A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114" y="1558243"/>
                  <a:ext cx="116820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4167" r="-4167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21593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E382F-7DF8-24C5-581D-7874C9F95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time-integration schemes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1B001F57-941D-286C-1BD8-85158EB3B3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9183" y="1440000"/>
                <a:ext cx="10030777" cy="4249738"/>
              </a:xfrm>
            </p:spPr>
            <p:txBody>
              <a:bodyPr/>
              <a:lstStyle/>
              <a:p>
                <a:r>
                  <a:rPr lang="en-US" dirty="0"/>
                  <a:t>Multipoint method (Adams-</a:t>
                </a:r>
                <a:r>
                  <a:rPr lang="en-US" dirty="0" err="1"/>
                  <a:t>Bashforth</a:t>
                </a:r>
                <a:r>
                  <a:rPr lang="en-US" dirty="0"/>
                  <a:t> scheme)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polynomial fit  through the last data points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ym typeface="Wingdings" panose="05000000000000000000" pitchFamily="2" charset="2"/>
                  </a:rPr>
                  <a:t>nd</a:t>
                </a:r>
                <a:r>
                  <a:rPr lang="en-US" dirty="0">
                    <a:sym typeface="Wingdings" panose="05000000000000000000" pitchFamily="2" charset="2"/>
                  </a:rPr>
                  <a:t> order accurate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+1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r>
                  <a:rPr lang="de-DE" b="0" dirty="0">
                    <a:sym typeface="Wingdings" panose="05000000000000000000" pitchFamily="2" charset="2"/>
                  </a:rPr>
                  <a:t> 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/>
                  <a:t>3</a:t>
                </a:r>
                <a:r>
                  <a:rPr lang="en-US" baseline="30000" dirty="0"/>
                  <a:t>rd</a:t>
                </a:r>
                <a:r>
                  <a:rPr lang="en-US" dirty="0"/>
                  <a:t> order accurate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+1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23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−16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+5</m:t>
                        </m:r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−2</m:t>
                                </m:r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r>
                  <a:rPr lang="de-DE" b="0" dirty="0">
                    <a:sym typeface="Wingdings" panose="05000000000000000000" pitchFamily="2" charset="2"/>
                  </a:rPr>
                  <a:t> </a:t>
                </a:r>
                <a:endParaRPr lang="de-DE" dirty="0">
                  <a:sym typeface="Wingdings" panose="05000000000000000000" pitchFamily="2" charset="2"/>
                </a:endParaRPr>
              </a:p>
              <a:p>
                <a:r>
                  <a:rPr lang="de-DE" dirty="0">
                    <a:sym typeface="Wingdings" panose="05000000000000000000" pitchFamily="2" charset="2"/>
                  </a:rPr>
                  <a:t>4</a:t>
                </a:r>
                <a:r>
                  <a:rPr lang="de-DE" baseline="30000" dirty="0">
                    <a:sym typeface="Wingdings" panose="05000000000000000000" pitchFamily="2" charset="2"/>
                  </a:rPr>
                  <a:t>th</a:t>
                </a:r>
                <a:r>
                  <a:rPr lang="de-DE" dirty="0">
                    <a:sym typeface="Wingdings" panose="05000000000000000000" pitchFamily="2" charset="2"/>
                  </a:rPr>
                  <a:t> </a:t>
                </a:r>
                <a:r>
                  <a:rPr lang="de-DE" dirty="0" err="1">
                    <a:sym typeface="Wingdings" panose="05000000000000000000" pitchFamily="2" charset="2"/>
                  </a:rPr>
                  <a:t>order</a:t>
                </a:r>
                <a:r>
                  <a:rPr lang="de-DE" dirty="0">
                    <a:sym typeface="Wingdings" panose="05000000000000000000" pitchFamily="2" charset="2"/>
                  </a:rPr>
                  <a:t> </a:t>
                </a:r>
                <a:r>
                  <a:rPr lang="de-DE" dirty="0" err="1">
                    <a:sym typeface="Wingdings" panose="05000000000000000000" pitchFamily="2" charset="2"/>
                  </a:rPr>
                  <a:t>accurate</a:t>
                </a:r>
                <a:endParaRPr lang="de-DE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+1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24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55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−59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37</m:t>
                        </m:r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−2</m:t>
                                </m:r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−2</m:t>
                                </m:r>
                              </m:sup>
                            </m:sSup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</m:t>
                        </m:r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−3</m:t>
                                </m:r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−3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r>
                  <a:rPr lang="de-DE" b="0" dirty="0">
                    <a:sym typeface="Wingdings" panose="05000000000000000000" pitchFamily="2" charset="2"/>
                  </a:rPr>
                  <a:t> </a:t>
                </a:r>
              </a:p>
              <a:p>
                <a:endParaRPr lang="de-DE" b="0" dirty="0">
                  <a:sym typeface="Wingdings" panose="05000000000000000000" pitchFamily="2" charset="2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1B001F57-941D-286C-1BD8-85158EB3B3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9183" y="1440000"/>
                <a:ext cx="10030777" cy="4249738"/>
              </a:xfrm>
              <a:blipFill>
                <a:blip r:embed="rId2"/>
                <a:stretch>
                  <a:fillRect l="-1519" t="-1865" b="-5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CD3DB1F5-620D-6E53-816B-C25086AE5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878" y="978128"/>
            <a:ext cx="4204502" cy="260184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644BD32-AD47-046D-9337-462A9622D915}"/>
              </a:ext>
            </a:extLst>
          </p:cNvPr>
          <p:cNvSpPr txBox="1"/>
          <p:nvPr/>
        </p:nvSpPr>
        <p:spPr>
          <a:xfrm>
            <a:off x="9931980" y="3060561"/>
            <a:ext cx="217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200" dirty="0"/>
              <a:t>[</a:t>
            </a:r>
            <a:r>
              <a:rPr lang="de-DE" sz="1200" dirty="0" err="1"/>
              <a:t>Tostado‐Véliz</a:t>
            </a:r>
            <a:r>
              <a:rPr lang="de-DE" sz="1200" dirty="0"/>
              <a:t> et al., 2019]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0161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8AD45-205D-D14F-FA03-261FB928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Runge </a:t>
            </a:r>
            <a:r>
              <a:rPr lang="en-US" dirty="0" err="1"/>
              <a:t>Kutta</a:t>
            </a:r>
            <a:r>
              <a:rPr lang="en-US" dirty="0"/>
              <a:t> time-integration schemes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2472BA76-B183-F18C-1EE9-44AED01E3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0000" y="1440000"/>
                <a:ext cx="9969000" cy="4249738"/>
              </a:xfrm>
            </p:spPr>
            <p:txBody>
              <a:bodyPr/>
              <a:lstStyle/>
              <a:p>
                <a:r>
                  <a:rPr lang="en-US" dirty="0"/>
                  <a:t>Idea: 	Instead of using </a:t>
                </a:r>
                <a:r>
                  <a:rPr lang="en-US" dirty="0" err="1"/>
                  <a:t>multipoints</a:t>
                </a:r>
                <a:r>
                  <a:rPr lang="en-US" dirty="0"/>
                  <a:t>, divide timestep into </a:t>
                </a:r>
                <a:r>
                  <a:rPr lang="en-US" dirty="0" err="1"/>
                  <a:t>substeps</a:t>
                </a:r>
                <a:r>
                  <a:rPr lang="en-US" dirty="0"/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	 easier to start time integration</a:t>
                </a:r>
              </a:p>
              <a:p>
                <a:r>
                  <a:rPr lang="en-US" dirty="0"/>
                  <a:t>Predictor-corrector schemes (2</a:t>
                </a:r>
                <a:r>
                  <a:rPr lang="en-US" baseline="30000" dirty="0"/>
                  <a:t>nd</a:t>
                </a:r>
                <a:r>
                  <a:rPr lang="en-US" dirty="0"/>
                  <a:t> order accurate)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Explicit predictor step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𝜙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endParaRPr lang="de-DE" b="0" i="1" dirty="0">
                  <a:sym typeface="Wingdings" panose="05000000000000000000" pitchFamily="2" charset="2"/>
                </a:endParaRP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/>
                  <a:t>Midpoint rule corrector 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+1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de-DE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𝜙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endParaRPr lang="de-DE" i="1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2472BA76-B183-F18C-1EE9-44AED01E3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0000" y="1440000"/>
                <a:ext cx="9969000" cy="4249738"/>
              </a:xfrm>
              <a:blipFill>
                <a:blip r:embed="rId2"/>
                <a:stretch>
                  <a:fillRect l="-1529" t="-18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7D4E495B-E3A1-78CE-8C9A-E9C8EA0D201D}"/>
              </a:ext>
            </a:extLst>
          </p:cNvPr>
          <p:cNvSpPr txBox="1"/>
          <p:nvPr/>
        </p:nvSpPr>
        <p:spPr>
          <a:xfrm>
            <a:off x="8896471" y="4783783"/>
            <a:ext cx="268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[</a:t>
            </a:r>
            <a:r>
              <a:rPr lang="en-US" sz="1000" dirty="0" err="1"/>
              <a:t>Fadlisah</a:t>
            </a:r>
            <a:r>
              <a:rPr lang="en-US" sz="1000" dirty="0"/>
              <a:t>, 2014]</a:t>
            </a:r>
          </a:p>
        </p:txBody>
      </p:sp>
      <p:pic>
        <p:nvPicPr>
          <p:cNvPr id="4" name="Grafik 3" descr="Ein Bild, das Reihe, Diagramm, Steigung, Text enthält.&#10;&#10;KI-generierte Inhalte können fehlerhaft sein.">
            <a:extLst>
              <a:ext uri="{FF2B5EF4-FFF2-40B4-BE49-F238E27FC236}">
                <a16:creationId xmlns:a16="http://schemas.microsoft.com/office/drawing/2014/main" id="{90DA5914-4CE1-5B15-87F5-37068F968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74"/>
          <a:stretch/>
        </p:blipFill>
        <p:spPr>
          <a:xfrm>
            <a:off x="8207573" y="1979229"/>
            <a:ext cx="3607118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5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8AD45-205D-D14F-FA03-261FB928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Runge </a:t>
            </a:r>
            <a:r>
              <a:rPr lang="en-US" dirty="0" err="1"/>
              <a:t>Kutta</a:t>
            </a:r>
            <a:r>
              <a:rPr lang="en-US" dirty="0"/>
              <a:t> time-integration schemes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2472BA76-B183-F18C-1EE9-44AED01E3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0000" y="1440000"/>
                <a:ext cx="9969000" cy="4249738"/>
              </a:xfrm>
            </p:spPr>
            <p:txBody>
              <a:bodyPr/>
              <a:lstStyle/>
              <a:p>
                <a:r>
                  <a:rPr lang="en-US" dirty="0"/>
                  <a:t>Idea: 	Instead of using </a:t>
                </a:r>
                <a:r>
                  <a:rPr lang="en-US" dirty="0" err="1"/>
                  <a:t>multipoints</a:t>
                </a:r>
                <a:r>
                  <a:rPr lang="en-US" dirty="0"/>
                  <a:t>, divide timestep into </a:t>
                </a:r>
                <a:r>
                  <a:rPr lang="en-US" dirty="0" err="1"/>
                  <a:t>substeps</a:t>
                </a:r>
                <a:r>
                  <a:rPr lang="en-US" dirty="0"/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	 easier to start time integration</a:t>
                </a:r>
              </a:p>
              <a:p>
                <a:r>
                  <a:rPr lang="en-US" dirty="0"/>
                  <a:t>Predictor-corrector schemes (4</a:t>
                </a:r>
                <a:r>
                  <a:rPr lang="en-US" baseline="30000" dirty="0"/>
                  <a:t>th</a:t>
                </a:r>
                <a:r>
                  <a:rPr lang="en-US" dirty="0"/>
                  <a:t> order accurate)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Explicit predictor step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f>
                          <m:f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,∗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𝜙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endParaRPr lang="de-DE" b="0" i="1" dirty="0">
                  <a:sym typeface="Wingdings" panose="05000000000000000000" pitchFamily="2" charset="2"/>
                </a:endParaRP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/>
                  <a:t>Implicit corrector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f>
                          <m:f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de-DE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𝜙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endParaRPr lang="de-DE" b="0" i="1" dirty="0">
                  <a:sym typeface="Wingdings" panose="05000000000000000000" pitchFamily="2" charset="2"/>
                </a:endParaRP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Midpoint rule predictor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+1,∗∗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𝜙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endParaRPr lang="de-DE" b="0" i="1" dirty="0">
                  <a:sym typeface="Wingdings" panose="05000000000000000000" pitchFamily="2" charset="2"/>
                </a:endParaRPr>
              </a:p>
              <a:p>
                <a:pPr marL="3683000" indent="-3683000">
                  <a:tabLst>
                    <a:tab pos="266700" algn="l"/>
                    <a:tab pos="277971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Simpson’s rule corrector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+1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+2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,∗</m:t>
                                </m:r>
                              </m:sup>
                            </m:sSup>
                          </m:e>
                        </m:d>
                        <m:r>
                          <a:rPr lang="de-DE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                                2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  <m:r>
                          <a:rPr lang="de-DE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𝑘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+1,∗∗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2472BA76-B183-F18C-1EE9-44AED01E3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0000" y="1440000"/>
                <a:ext cx="9969000" cy="4249738"/>
              </a:xfrm>
              <a:blipFill>
                <a:blip r:embed="rId2"/>
                <a:stretch>
                  <a:fillRect l="-1529" t="-1865" b="-149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fik 3" descr="Ein Bild, das Reihe, Diagramm, Steigung, Text enthält.&#10;&#10;KI-generierte Inhalte können fehlerhaft sein.">
            <a:extLst>
              <a:ext uri="{FF2B5EF4-FFF2-40B4-BE49-F238E27FC236}">
                <a16:creationId xmlns:a16="http://schemas.microsoft.com/office/drawing/2014/main" id="{64702368-68B0-38FA-83D2-B98A34034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61"/>
          <a:stretch/>
        </p:blipFill>
        <p:spPr>
          <a:xfrm>
            <a:off x="8013383" y="1976600"/>
            <a:ext cx="3565088" cy="27051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7D2CFB9-0C70-0F5B-B3FA-CBA8F2A6ADFB}"/>
              </a:ext>
            </a:extLst>
          </p:cNvPr>
          <p:cNvSpPr txBox="1"/>
          <p:nvPr/>
        </p:nvSpPr>
        <p:spPr>
          <a:xfrm>
            <a:off x="8896471" y="4783783"/>
            <a:ext cx="268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[</a:t>
            </a:r>
            <a:r>
              <a:rPr lang="en-US" sz="1000" dirty="0" err="1"/>
              <a:t>Fadlisah</a:t>
            </a:r>
            <a:r>
              <a:rPr lang="en-US" sz="1000" dirty="0"/>
              <a:t>, 2014]</a:t>
            </a:r>
          </a:p>
        </p:txBody>
      </p:sp>
    </p:spTree>
    <p:extLst>
      <p:ext uri="{BB962C8B-B14F-4D97-AF65-F5344CB8AC3E}">
        <p14:creationId xmlns:p14="http://schemas.microsoft.com/office/powerpoint/2010/main" val="3421644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3600" b="0" strike="noStrike" spc="-1" dirty="0" err="1">
                <a:solidFill>
                  <a:schemeClr val="lt1"/>
                </a:solidFill>
                <a:latin typeface="Open Sans Light"/>
                <a:ea typeface="Open Sans Light"/>
              </a:rPr>
              <a:t>Numerical</a:t>
            </a:r>
            <a:r>
              <a:rPr lang="de-DE" sz="3600" b="0" strike="noStrike" spc="-1" dirty="0">
                <a:solidFill>
                  <a:schemeClr val="lt1"/>
                </a:solidFill>
                <a:latin typeface="Open Sans Light"/>
                <a:ea typeface="Open Sans Light"/>
              </a:rPr>
              <a:t> </a:t>
            </a:r>
            <a:r>
              <a:rPr lang="de-DE" sz="3600" b="0" strike="noStrike" spc="-1" dirty="0" err="1">
                <a:solidFill>
                  <a:schemeClr val="lt1"/>
                </a:solidFill>
                <a:latin typeface="Open Sans Light"/>
                <a:ea typeface="Open Sans Light"/>
              </a:rPr>
              <a:t>properties</a:t>
            </a:r>
            <a:endParaRPr lang="de-DE" sz="3600" b="0" strike="noStrike" spc="-1" dirty="0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0DE5C1C8-3C0F-6AE6-78A5-B98B848E98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773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A62B53-76B0-8331-E733-08147B58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Initial </a:t>
            </a:r>
            <a:r>
              <a:rPr lang="de-DE" dirty="0" err="1"/>
              <a:t>conditions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90ED612-0487-CF80-4D04-6AA82890B95A}"/>
                  </a:ext>
                </a:extLst>
              </p:cNvPr>
              <p:cNvSpPr txBox="1"/>
              <p:nvPr/>
            </p:nvSpPr>
            <p:spPr>
              <a:xfrm>
                <a:off x="1080000" y="1440000"/>
                <a:ext cx="5835150" cy="5007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Every derivative in time requires initial conditions</a:t>
                </a:r>
              </a:p>
              <a:p>
                <a:pPr marL="266700" indent="-266700">
                  <a:spcBef>
                    <a:spcPts val="600"/>
                  </a:spcBef>
                  <a:spcAft>
                    <a:spcPts val="1200"/>
                  </a:spcAft>
                  <a:tabLst>
                    <a:tab pos="266700" algn="l"/>
                  </a:tabLst>
                </a:pPr>
                <a:r>
                  <a:rPr lang="de-DE" sz="2000" b="0" dirty="0"/>
                  <a:t>	</a:t>
                </a:r>
                <a:r>
                  <a:rPr lang="de-DE" sz="2000" b="0" dirty="0" err="1"/>
                  <a:t>For</a:t>
                </a:r>
                <a:r>
                  <a:rPr lang="de-DE" sz="2000" b="0" dirty="0"/>
                  <a:t> </a:t>
                </a:r>
                <a:r>
                  <a:rPr lang="de-DE" sz="2000" b="0" dirty="0" err="1"/>
                  <a:t>example</a:t>
                </a:r>
                <a:r>
                  <a:rPr lang="de-DE" sz="2000" b="0" dirty="0"/>
                  <a:t>:</a:t>
                </a:r>
              </a:p>
              <a:p>
                <a:pPr marL="266700" indent="-266700">
                  <a:spcBef>
                    <a:spcPts val="600"/>
                  </a:spcBef>
                  <a:spcAft>
                    <a:spcPts val="1200"/>
                  </a:spcAft>
                  <a:tabLst>
                    <a:tab pos="266700" algn="l"/>
                  </a:tabLst>
                </a:pPr>
                <a:r>
                  <a:rPr lang="de-DE" sz="2000" dirty="0"/>
                  <a:t>	</a:t>
                </a:r>
                <a:r>
                  <a:rPr lang="de-DE" sz="20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000" dirty="0"/>
                  <a:t> in discrete form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000" dirty="0"/>
                  <a:t> needs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/>
              </a:p>
              <a:p>
                <a:pPr marL="285750" indent="-285750">
                  <a:spcBef>
                    <a:spcPts val="600"/>
                  </a:spcBef>
                  <a:spcAft>
                    <a:spcPts val="1200"/>
                  </a:spcAft>
                  <a:buFontTx/>
                  <a:buChar char="-"/>
                </a:pPr>
                <a:r>
                  <a:rPr lang="en-US" sz="2000" dirty="0"/>
                  <a:t>Impact of initial conditions should decay over time (stability)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1200"/>
                  </a:spcAft>
                  <a:buFontTx/>
                  <a:buChar char="-"/>
                </a:pPr>
                <a:r>
                  <a:rPr lang="en-US" sz="2000" dirty="0"/>
                  <a:t>Example: process that have a steady state should find this state regardless of initial conditions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1200"/>
                  </a:spcAft>
                  <a:buFontTx/>
                  <a:buChar char="-"/>
                </a:pPr>
                <a:endParaRPr lang="en-US" sz="2000" dirty="0"/>
              </a:p>
              <a:p>
                <a:pPr marL="285750" indent="-285750">
                  <a:spcBef>
                    <a:spcPts val="600"/>
                  </a:spcBef>
                  <a:spcAft>
                    <a:spcPts val="1200"/>
                  </a:spcAft>
                  <a:buFontTx/>
                  <a:buChar char="-"/>
                </a:pPr>
                <a:endParaRPr lang="en-US" sz="20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90ED612-0487-CF80-4D04-6AA82890B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0" y="1440000"/>
                <a:ext cx="5835150" cy="5007653"/>
              </a:xfrm>
              <a:prstGeom prst="rect">
                <a:avLst/>
              </a:prstGeom>
              <a:blipFill>
                <a:blip r:embed="rId2"/>
                <a:stretch>
                  <a:fillRect l="-1463" t="-6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D0175FA-316D-AC6A-EC14-86457C33F5B4}"/>
              </a:ext>
            </a:extLst>
          </p:cNvPr>
          <p:cNvGrpSpPr/>
          <p:nvPr/>
        </p:nvGrpSpPr>
        <p:grpSpPr>
          <a:xfrm>
            <a:off x="6819900" y="1887884"/>
            <a:ext cx="5133793" cy="4111884"/>
            <a:chOff x="1815794" y="2922736"/>
            <a:chExt cx="3823006" cy="3051694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3246068C-126A-6888-3CF8-1FF8B40D0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1680" y="2922736"/>
              <a:ext cx="3627120" cy="2763519"/>
            </a:xfrm>
            <a:prstGeom prst="rect">
              <a:avLst/>
            </a:prstGeom>
          </p:spPr>
        </p:pic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23188952-0A1A-8616-CBE8-02CDE968AF2A}"/>
                </a:ext>
              </a:extLst>
            </p:cNvPr>
            <p:cNvSpPr/>
            <p:nvPr/>
          </p:nvSpPr>
          <p:spPr>
            <a:xfrm>
              <a:off x="3096680" y="2930356"/>
              <a:ext cx="2529840" cy="1706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DC15A221-430F-2CBB-D5C1-1BFB217BB8F8}"/>
                    </a:ext>
                  </a:extLst>
                </p:cNvPr>
                <p:cNvSpPr txBox="1"/>
                <p:nvPr/>
              </p:nvSpPr>
              <p:spPr>
                <a:xfrm>
                  <a:off x="4963892" y="5697431"/>
                  <a:ext cx="5372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59751A1F-69EB-44E8-B943-7B44528D5D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892" y="5697431"/>
                  <a:ext cx="53726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0227" r="-10227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B38AB3A-5AB5-8E63-6C6D-92D34F14A4BF}"/>
                    </a:ext>
                  </a:extLst>
                </p:cNvPr>
                <p:cNvSpPr txBox="1"/>
                <p:nvPr/>
              </p:nvSpPr>
              <p:spPr>
                <a:xfrm>
                  <a:off x="1815794" y="2926509"/>
                  <a:ext cx="1981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372FEB46-44CC-4DCE-BB71-CC9326B90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5794" y="2926509"/>
                  <a:ext cx="19819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625" r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387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A617C3-252E-69D7-0358-3F05D4980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A26C0143-8020-8A00-616A-008456EFE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0000" y="1440000"/>
                <a:ext cx="10864350" cy="4862008"/>
              </a:xfrm>
            </p:spPr>
            <p:txBody>
              <a:bodyPr/>
              <a:lstStyle/>
              <a:p>
                <a:pPr>
                  <a:tabLst>
                    <a:tab pos="1431925" algn="l"/>
                    <a:tab pos="1616075" algn="l"/>
                  </a:tabLst>
                </a:pPr>
                <a:r>
                  <a:rPr lang="de-DE" dirty="0"/>
                  <a:t>e.g. Euler </a:t>
                </a:r>
                <a:r>
                  <a:rPr lang="de-DE" dirty="0" err="1"/>
                  <a:t>forward</a:t>
                </a:r>
                <a:endParaRPr lang="de-DE" dirty="0"/>
              </a:p>
              <a:p>
                <a:pPr>
                  <a:tabLst>
                    <a:tab pos="1431925" algn="l"/>
                    <a:tab pos="1616075" algn="l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de-D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sSupPr>
                        <m:ctrlPr>
                          <a:rPr lang="de-DE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de-DE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de-DE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endParaRPr lang="en-US" dirty="0">
                  <a:solidFill>
                    <a:srgbClr val="92D050"/>
                  </a:solidFill>
                </a:endParaRPr>
              </a:p>
              <a:p>
                <a:pPr>
                  <a:tabLst>
                    <a:tab pos="1431925" algn="l"/>
                    <a:tab pos="1616075" algn="l"/>
                  </a:tabLst>
                </a:pPr>
                <a:r>
                  <a:rPr lang="en-US" dirty="0"/>
                  <a:t>Consistency	</a:t>
                </a:r>
                <a:r>
                  <a:rPr lang="en-US" dirty="0">
                    <a:sym typeface="Wingdings" panose="05000000000000000000" pitchFamily="2" charset="2"/>
                  </a:rPr>
                  <a:t> truncation errors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Δ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Δ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</a:p>
              <a:p>
                <a:pPr>
                  <a:tabLst>
                    <a:tab pos="170656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	decay to zero for infinitesimal step size</a:t>
                </a:r>
              </a:p>
              <a:p>
                <a:pPr>
                  <a:tabLst>
                    <a:tab pos="1706563" algn="l"/>
                  </a:tabLst>
                </a:pPr>
                <a:r>
                  <a:rPr lang="en-US" b="1" dirty="0">
                    <a:sym typeface="Wingdings" panose="05000000000000000000" pitchFamily="2" charset="2"/>
                  </a:rPr>
                  <a:t>Order of convergence</a:t>
                </a:r>
                <a:r>
                  <a:rPr lang="en-US" dirty="0">
                    <a:sym typeface="Wingdings" panose="05000000000000000000" pitchFamily="2" charset="2"/>
                  </a:rPr>
                  <a:t>  expressed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</m:oMath>
                </a14:m>
                <a:endParaRPr lang="en-US" dirty="0"/>
              </a:p>
              <a:p>
                <a:pPr marL="228600" indent="-228600">
                  <a:buFont typeface="+mj-lt"/>
                  <a:buAutoNum type="arabicPeriod"/>
                  <a:tabLst>
                    <a:tab pos="1431925" algn="l"/>
                  </a:tabLst>
                </a:pPr>
                <a:r>
                  <a:rPr lang="en-US" sz="1800" dirty="0"/>
                  <a:t>Choose a reference value (e.g. analytical solution or solution with highest resolution)</a:t>
                </a:r>
              </a:p>
              <a:p>
                <a:pPr marL="228600" indent="-228600">
                  <a:buFont typeface="+mj-lt"/>
                  <a:buAutoNum type="arabicPeriod"/>
                  <a:tabLst>
                    <a:tab pos="1431925" algn="l"/>
                  </a:tabLst>
                </a:pPr>
                <a:r>
                  <a:rPr lang="en-US" sz="1800" dirty="0"/>
                  <a:t>Rerun your simulation with different discretization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80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)</a:t>
                </a:r>
                <a:r>
                  <a:rPr lang="en-US" sz="1800" dirty="0">
                    <a:sym typeface="Wingdings" panose="05000000000000000000" pitchFamily="2" charset="2"/>
                  </a:rPr>
                  <a:t> vary only one at a time!</a:t>
                </a:r>
                <a:endParaRPr lang="en-US" sz="1800" dirty="0"/>
              </a:p>
              <a:p>
                <a:pPr marL="228600" indent="-228600">
                  <a:buFont typeface="+mj-lt"/>
                  <a:buAutoNum type="arabicPeriod"/>
                  <a:tabLst>
                    <a:tab pos="1431925" algn="l"/>
                  </a:tabLst>
                </a:pPr>
                <a:r>
                  <a:rPr lang="en-US" sz="1800" dirty="0"/>
                  <a:t>Compute truncation error as </a:t>
                </a:r>
                <a14:m>
                  <m:oMath xmlns:m="http://schemas.openxmlformats.org/officeDocument/2006/math"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de-DE" sz="180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1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80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800" dirty="0"/>
              </a:p>
              <a:p>
                <a:pPr marL="228600" indent="-228600">
                  <a:buFont typeface="+mj-lt"/>
                  <a:buAutoNum type="arabicPeriod"/>
                  <a:tabLst>
                    <a:tab pos="1431925" algn="l"/>
                  </a:tabLst>
                </a:pPr>
                <a:r>
                  <a:rPr lang="en-US" sz="1800" dirty="0"/>
                  <a:t>Plot </a:t>
                </a:r>
                <a14:m>
                  <m:oMath xmlns:m="http://schemas.openxmlformats.org/officeDocument/2006/math"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de-DE" sz="1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de-DE" sz="1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in log-log plot and fit a linear regression </a:t>
                </a:r>
                <a14:m>
                  <m:oMath xmlns:m="http://schemas.openxmlformats.org/officeDocument/2006/math"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</m:oMath>
                </a14:m>
                <a:r>
                  <a:rPr lang="en-US" sz="1800" dirty="0">
                    <a:sym typeface="Wingdings" panose="05000000000000000000" pitchFamily="2" charset="2"/>
                  </a:rPr>
                  <a:t>  order of convergence</a:t>
                </a:r>
                <a:endParaRPr lang="en-US" sz="1800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A26C0143-8020-8A00-616A-008456EFE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0000" y="1440000"/>
                <a:ext cx="10864350" cy="4862008"/>
              </a:xfrm>
              <a:blipFill>
                <a:blip r:embed="rId2"/>
                <a:stretch>
                  <a:fillRect l="-1459" t="-16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00E63EE-530E-49EA-F870-1F9CD82BF795}"/>
              </a:ext>
            </a:extLst>
          </p:cNvPr>
          <p:cNvGrpSpPr>
            <a:grpSpLocks noChangeAspect="1"/>
          </p:cNvGrpSpPr>
          <p:nvPr/>
        </p:nvGrpSpPr>
        <p:grpSpPr>
          <a:xfrm>
            <a:off x="8296275" y="551189"/>
            <a:ext cx="3796420" cy="3397250"/>
            <a:chOff x="2084661" y="1556792"/>
            <a:chExt cx="3927500" cy="1378361"/>
          </a:xfrm>
        </p:grpSpPr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4AF0383A-B0CA-8120-72E3-C617DEA92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840" y="1556792"/>
              <a:ext cx="0" cy="115212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ABEA33C2-7838-CAC1-ECEF-4901FE599D73}"/>
                </a:ext>
              </a:extLst>
            </p:cNvPr>
            <p:cNvCxnSpPr>
              <a:cxnSpLocks/>
            </p:cNvCxnSpPr>
            <p:nvPr/>
          </p:nvCxnSpPr>
          <p:spPr>
            <a:xfrm>
              <a:off x="3131840" y="2708920"/>
              <a:ext cx="288032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828F7E98-8771-AF87-2042-09C8E0799C6F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56" y="1700808"/>
              <a:ext cx="2527594" cy="86409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16A61E03-ADDC-36DC-F9EF-551E95C61B0E}"/>
                    </a:ext>
                  </a:extLst>
                </p:cNvPr>
                <p:cNvSpPr txBox="1"/>
                <p:nvPr/>
              </p:nvSpPr>
              <p:spPr>
                <a:xfrm>
                  <a:off x="2084661" y="1605465"/>
                  <a:ext cx="1088807" cy="3371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>
                      <a:latin typeface="+mj-lt"/>
                    </a:rPr>
                    <a:t>Truncation </a:t>
                  </a:r>
                </a:p>
                <a:p>
                  <a:r>
                    <a:rPr lang="en-US" b="0" dirty="0">
                      <a:latin typeface="+mj-lt"/>
                    </a:rPr>
                    <a:t>Error</a:t>
                  </a:r>
                </a:p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16A61E03-ADDC-36DC-F9EF-551E95C61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4661" y="1605465"/>
                  <a:ext cx="1088807" cy="337159"/>
                </a:xfrm>
                <a:prstGeom prst="rect">
                  <a:avLst/>
                </a:prstGeom>
                <a:blipFill>
                  <a:blip r:embed="rId3"/>
                  <a:stretch>
                    <a:fillRect l="-13873" t="-9559" r="-12139" b="-1102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362432B8-218E-AAB9-F451-FBBAF833048C}"/>
                    </a:ext>
                  </a:extLst>
                </p:cNvPr>
                <p:cNvSpPr txBox="1"/>
                <p:nvPr/>
              </p:nvSpPr>
              <p:spPr>
                <a:xfrm>
                  <a:off x="3585927" y="2766964"/>
                  <a:ext cx="1706443" cy="1681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a14:m>
                  <a:r>
                    <a:rPr lang="en-US" dirty="0"/>
                    <a:t>,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362432B8-218E-AAB9-F451-FBBAF8330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5927" y="2766964"/>
                  <a:ext cx="1706443" cy="168189"/>
                </a:xfrm>
                <a:prstGeom prst="rect">
                  <a:avLst/>
                </a:prstGeom>
                <a:blipFill>
                  <a:blip r:embed="rId4"/>
                  <a:stretch>
                    <a:fillRect l="-6642" t="-1471" b="-1764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8390ADD4-460D-5C1E-B820-7BC2A25F0DA6}"/>
                </a:ext>
              </a:extLst>
            </p:cNvPr>
            <p:cNvCxnSpPr>
              <a:stCxn id="10" idx="1"/>
              <a:endCxn id="10" idx="1"/>
            </p:cNvCxnSpPr>
            <p:nvPr/>
          </p:nvCxnSpPr>
          <p:spPr>
            <a:xfrm>
              <a:off x="3585927" y="2851058"/>
              <a:ext cx="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DED95F35-AB72-917A-E17D-5B5BDE3CD26F}"/>
                </a:ext>
              </a:extLst>
            </p:cNvPr>
            <p:cNvCxnSpPr/>
            <p:nvPr/>
          </p:nvCxnSpPr>
          <p:spPr>
            <a:xfrm>
              <a:off x="3707904" y="1844824"/>
              <a:ext cx="936104" cy="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7F9B0D4B-4174-93F0-14CA-1DF2EF1C2686}"/>
                </a:ext>
              </a:extLst>
            </p:cNvPr>
            <p:cNvCxnSpPr>
              <a:cxnSpLocks/>
            </p:cNvCxnSpPr>
            <p:nvPr/>
          </p:nvCxnSpPr>
          <p:spPr>
            <a:xfrm>
              <a:off x="4644008" y="1844824"/>
              <a:ext cx="0" cy="32400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D5E51DA6-F187-5C74-3882-83B359E13915}"/>
                    </a:ext>
                  </a:extLst>
                </p:cNvPr>
                <p:cNvSpPr txBox="1"/>
                <p:nvPr/>
              </p:nvSpPr>
              <p:spPr>
                <a:xfrm>
                  <a:off x="4440558" y="1822390"/>
                  <a:ext cx="15132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57EE20F-34DA-40A5-A7D7-A2DA37094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558" y="1822390"/>
                  <a:ext cx="151323" cy="215444"/>
                </a:xfrm>
                <a:prstGeom prst="rect">
                  <a:avLst/>
                </a:prstGeom>
                <a:blipFill>
                  <a:blip r:embed="rId16"/>
                  <a:stretch>
                    <a:fillRect l="-71429" r="-9285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hteck 14">
            <a:extLst>
              <a:ext uri="{FF2B5EF4-FFF2-40B4-BE49-F238E27FC236}">
                <a16:creationId xmlns:a16="http://schemas.microsoft.com/office/drawing/2014/main" id="{F44E1CBD-F240-BB89-B0C2-8866775759BD}"/>
              </a:ext>
            </a:extLst>
          </p:cNvPr>
          <p:cNvSpPr/>
          <p:nvPr/>
        </p:nvSpPr>
        <p:spPr>
          <a:xfrm>
            <a:off x="3075324" y="2019170"/>
            <a:ext cx="941621" cy="443328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7605352-7D77-9866-B444-896179FDE1B7}"/>
              </a:ext>
            </a:extLst>
          </p:cNvPr>
          <p:cNvSpPr txBox="1"/>
          <p:nvPr/>
        </p:nvSpPr>
        <p:spPr>
          <a:xfrm>
            <a:off x="4324043" y="2093166"/>
            <a:ext cx="2643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Truncation error</a:t>
            </a:r>
          </a:p>
        </p:txBody>
      </p:sp>
    </p:spTree>
    <p:extLst>
      <p:ext uri="{BB962C8B-B14F-4D97-AF65-F5344CB8AC3E}">
        <p14:creationId xmlns:p14="http://schemas.microsoft.com/office/powerpoint/2010/main" val="9984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A617C3-252E-69D7-0358-3F05D4980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numerical properties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A26C0143-8020-8A00-616A-008456EFE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0000" y="1440000"/>
                <a:ext cx="11112000" cy="4862008"/>
              </a:xfrm>
            </p:spPr>
            <p:txBody>
              <a:bodyPr/>
              <a:lstStyle/>
              <a:p>
                <a:pPr>
                  <a:tabLst>
                    <a:tab pos="1431925" algn="l"/>
                    <a:tab pos="1616075" algn="l"/>
                  </a:tabLst>
                </a:pPr>
                <a:r>
                  <a:rPr lang="en-US" dirty="0"/>
                  <a:t>Consistency	</a:t>
                </a:r>
                <a:r>
                  <a:rPr lang="en-US" dirty="0">
                    <a:sym typeface="Wingdings" panose="05000000000000000000" pitchFamily="2" charset="2"/>
                  </a:rPr>
                  <a:t> truncation errors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Δ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Δ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decay to zero for infinitesimal step size</a:t>
                </a:r>
              </a:p>
              <a:p>
                <a:pPr>
                  <a:tabLst>
                    <a:tab pos="1431925" algn="l"/>
                    <a:tab pos="1616075" algn="l"/>
                  </a:tabLst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>
                  <a:tabLst>
                    <a:tab pos="1431925" algn="l"/>
                  </a:tabLst>
                </a:pPr>
                <a:r>
                  <a:rPr lang="en-US" dirty="0"/>
                  <a:t>Stability 	</a:t>
                </a:r>
                <a:r>
                  <a:rPr lang="en-US" dirty="0">
                    <a:sym typeface="Wingdings" panose="05000000000000000000" pitchFamily="2" charset="2"/>
                  </a:rPr>
                  <a:t> Errors do not magnify over time</a:t>
                </a:r>
                <a:endParaRPr lang="en-US" dirty="0"/>
              </a:p>
              <a:p>
                <a:endParaRPr lang="en-US" sz="1200" dirty="0"/>
              </a:p>
              <a:p>
                <a:r>
                  <a:rPr lang="en-US" dirty="0"/>
                  <a:t>Convergence </a:t>
                </a:r>
                <a:r>
                  <a:rPr lang="en-US" dirty="0">
                    <a:sym typeface="Wingdings" panose="05000000000000000000" pitchFamily="2" charset="2"/>
                  </a:rPr>
                  <a:t> Consistent and stable</a:t>
                </a:r>
              </a:p>
              <a:p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/>
                  <a:t>Conservation </a:t>
                </a:r>
                <a:r>
                  <a:rPr lang="en-US" dirty="0">
                    <a:sym typeface="Wingdings" panose="05000000000000000000" pitchFamily="2" charset="2"/>
                  </a:rPr>
                  <a:t> Solution should reflect the underlying conservation laws</a:t>
                </a:r>
                <a:endParaRPr lang="en-US" dirty="0"/>
              </a:p>
              <a:p>
                <a:endParaRPr lang="en-US" sz="1200" dirty="0"/>
              </a:p>
              <a:p>
                <a:r>
                  <a:rPr lang="en-US" dirty="0"/>
                  <a:t>Boundedness </a:t>
                </a:r>
                <a:r>
                  <a:rPr lang="en-US" dirty="0">
                    <a:sym typeface="Wingdings" panose="05000000000000000000" pitchFamily="2" charset="2"/>
                  </a:rPr>
                  <a:t> Solution within proper bounds (e.g. no negative density possible)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A26C0143-8020-8A00-616A-008456EFE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0000" y="1440000"/>
                <a:ext cx="11112000" cy="4862008"/>
              </a:xfrm>
              <a:blipFill>
                <a:blip r:embed="rId2"/>
                <a:stretch>
                  <a:fillRect l="-1371" t="-16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59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D44F2-3AF5-F31F-8610-8E241A0C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of a </a:t>
            </a:r>
            <a:r>
              <a:rPr lang="de-DE" dirty="0" err="1"/>
              <a:t>consistent</a:t>
            </a:r>
            <a:r>
              <a:rPr lang="de-DE" dirty="0"/>
              <a:t> </a:t>
            </a:r>
            <a:r>
              <a:rPr lang="de-DE" dirty="0" err="1"/>
              <a:t>solution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1">
                <a:extLst>
                  <a:ext uri="{FF2B5EF4-FFF2-40B4-BE49-F238E27FC236}">
                    <a16:creationId xmlns:a16="http://schemas.microsoft.com/office/drawing/2014/main" id="{9B17A369-A22F-2EE5-AD17-C2593752C5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" y="1484313"/>
                <a:ext cx="11939587" cy="4249738"/>
              </a:xfrm>
            </p:spPr>
            <p:txBody>
              <a:bodyPr/>
              <a:lstStyle/>
              <a:p>
                <a:r>
                  <a:rPr lang="de-DE" b="0" dirty="0"/>
                  <a:t>Given </a:t>
                </a:r>
                <a:r>
                  <a:rPr lang="de-DE" b="0" dirty="0" err="1"/>
                  <a:t>the</a:t>
                </a:r>
                <a:r>
                  <a:rPr lang="de-DE" b="0" dirty="0"/>
                  <a:t> </a:t>
                </a:r>
                <a:r>
                  <a:rPr lang="de-DE" b="0" dirty="0" err="1"/>
                  <a:t>function</a:t>
                </a:r>
                <a:r>
                  <a:rPr lang="de-DE" b="0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we want to determine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de-DE" b="0" dirty="0"/>
                  <a:t> </a:t>
                </a:r>
              </a:p>
              <a:p>
                <a:r>
                  <a:rPr lang="de-DE" b="0" dirty="0">
                    <a:sym typeface="Wingdings" panose="05000000000000000000" pitchFamily="2" charset="2"/>
                  </a:rPr>
                  <a:t> </a:t>
                </a:r>
                <a:r>
                  <a:rPr lang="de-DE" b="0" dirty="0"/>
                  <a:t>Euler </a:t>
                </a:r>
                <a:r>
                  <a:rPr lang="de-DE" b="0" dirty="0" err="1"/>
                  <a:t>forward</a:t>
                </a:r>
                <a:r>
                  <a:rPr lang="de-DE" b="0" dirty="0"/>
                  <a:t>: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de-D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de-DE" b="0" dirty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de-DE" dirty="0"/>
                  <a:t>: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16−4</m:t>
                        </m:r>
                      </m:num>
                      <m:den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de-DE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b="0" dirty="0"/>
                  <a:t>: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9−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de-DE" b="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de-DE" b="0" dirty="0"/>
                  <a:t>: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2.5</m:t>
                            </m:r>
                          </m:e>
                        </m:d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6.25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endParaRPr lang="de-DE" b="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de-DE" b="0" dirty="0"/>
                  <a:t>: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2.25</m:t>
                            </m:r>
                          </m:e>
                        </m:d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0.25</m:t>
                        </m:r>
                      </m:den>
                    </m:f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5.0625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0.25</m:t>
                        </m:r>
                      </m:den>
                    </m:f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=4.25</m:t>
                    </m:r>
                  </m:oMath>
                </a14:m>
                <a:endParaRPr lang="de-DE" b="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𝑓𝑖𝑛𝑒</m:t>
                        </m:r>
                      </m:sub>
                    </m:sSub>
                  </m:oMath>
                </a14:m>
                <a:endParaRPr lang="de-DE" dirty="0">
                  <a:solidFill>
                    <a:schemeClr val="tx1"/>
                  </a:solidFill>
                </a:endParaRPr>
              </a:p>
              <a:p>
                <a:endParaRPr lang="de-DE" b="0" dirty="0">
                  <a:solidFill>
                    <a:schemeClr val="tx1"/>
                  </a:solidFill>
                </a:endParaRPr>
              </a:p>
              <a:p>
                <a:endParaRPr lang="de-DE" b="0" dirty="0">
                  <a:solidFill>
                    <a:schemeClr val="tx1"/>
                  </a:solidFill>
                </a:endParaRPr>
              </a:p>
              <a:p>
                <a:endParaRPr lang="de-DE" b="0" dirty="0"/>
              </a:p>
              <a:p>
                <a:endParaRPr lang="de-DE" b="0" dirty="0"/>
              </a:p>
              <a:p>
                <a:pPr marL="342900" indent="-342900">
                  <a:buAutoNum type="arabicPeriod"/>
                </a:pPr>
                <a:endParaRPr lang="de-DE" b="0" dirty="0"/>
              </a:p>
            </p:txBody>
          </p:sp>
        </mc:Choice>
        <mc:Fallback xmlns="">
          <p:sp>
            <p:nvSpPr>
              <p:cNvPr id="4" name="Inhaltsplatzhalter 1">
                <a:extLst>
                  <a:ext uri="{FF2B5EF4-FFF2-40B4-BE49-F238E27FC236}">
                    <a16:creationId xmlns:a16="http://schemas.microsoft.com/office/drawing/2014/main" id="{9B17A369-A22F-2EE5-AD17-C2593752C5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" y="1484313"/>
                <a:ext cx="11939587" cy="4249738"/>
              </a:xfrm>
              <a:blipFill>
                <a:blip r:embed="rId2"/>
                <a:stretch>
                  <a:fillRect l="-1276" t="-143" b="-64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7">
                <a:extLst>
                  <a:ext uri="{FF2B5EF4-FFF2-40B4-BE49-F238E27FC236}">
                    <a16:creationId xmlns:a16="http://schemas.microsoft.com/office/drawing/2014/main" id="{55E793B9-3A00-9A30-74BD-370CF9FB48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5662585"/>
                  </p:ext>
                </p:extLst>
              </p:nvPr>
            </p:nvGraphicFramePr>
            <p:xfrm>
              <a:off x="8758964" y="1380544"/>
              <a:ext cx="3069146" cy="2368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2468">
                      <a:extLst>
                        <a:ext uri="{9D8B030D-6E8A-4147-A177-3AD203B41FA5}">
                          <a16:colId xmlns:a16="http://schemas.microsoft.com/office/drawing/2014/main" val="2031839278"/>
                        </a:ext>
                      </a:extLst>
                    </a:gridCol>
                    <a:gridCol w="2376678">
                      <a:extLst>
                        <a:ext uri="{9D8B030D-6E8A-4147-A177-3AD203B41FA5}">
                          <a16:colId xmlns:a16="http://schemas.microsoft.com/office/drawing/2014/main" val="37047520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/>
                            <a:t>Truncation error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=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de-DE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e-DE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de-DE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e-DE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Δ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de-DE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de-DE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𝑒</m:t>
                                      </m:r>
                                    </m:sub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618725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3936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36174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124078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6806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7">
                <a:extLst>
                  <a:ext uri="{FF2B5EF4-FFF2-40B4-BE49-F238E27FC236}">
                    <a16:creationId xmlns:a16="http://schemas.microsoft.com/office/drawing/2014/main" id="{55E793B9-3A00-9A30-74BD-370CF9FB48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5662585"/>
                  </p:ext>
                </p:extLst>
              </p:nvPr>
            </p:nvGraphicFramePr>
            <p:xfrm>
              <a:off x="8758964" y="1380544"/>
              <a:ext cx="3069146" cy="2368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2468">
                      <a:extLst>
                        <a:ext uri="{9D8B030D-6E8A-4147-A177-3AD203B41FA5}">
                          <a16:colId xmlns:a16="http://schemas.microsoft.com/office/drawing/2014/main" val="2031839278"/>
                        </a:ext>
                      </a:extLst>
                    </a:gridCol>
                    <a:gridCol w="2376678">
                      <a:extLst>
                        <a:ext uri="{9D8B030D-6E8A-4147-A177-3AD203B41FA5}">
                          <a16:colId xmlns:a16="http://schemas.microsoft.com/office/drawing/2014/main" val="370475207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877" t="-4762" r="-344737" b="-27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29412" t="-4762" r="-512" b="-27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618725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3936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36174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124078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6806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ADCA595-898A-A2DC-E754-6C3A05E7AAEC}"/>
                  </a:ext>
                </a:extLst>
              </p:cNvPr>
              <p:cNvSpPr txBox="1"/>
              <p:nvPr/>
            </p:nvSpPr>
            <p:spPr>
              <a:xfrm>
                <a:off x="5620477" y="4788998"/>
                <a:ext cx="6495324" cy="1376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b="1" dirty="0">
                    <a:solidFill>
                      <a:schemeClr val="tx1"/>
                    </a:solidFill>
                  </a:rPr>
                  <a:t>Richardson </a:t>
                </a:r>
                <a:r>
                  <a:rPr lang="de-DE" b="1" dirty="0" err="1">
                    <a:solidFill>
                      <a:schemeClr val="tx1"/>
                    </a:solidFill>
                  </a:rPr>
                  <a:t>extrapolation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to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approximate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exact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solution</a:t>
                </a:r>
                <a:r>
                  <a:rPr lang="de-DE" b="0" dirty="0">
                    <a:solidFill>
                      <a:schemeClr val="tx1"/>
                    </a:solidFill>
                  </a:rPr>
                  <a:t>: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𝑓𝑖𝑛𝑒</m:t>
                                </m:r>
                              </m:sub>
                            </m:sSub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𝑓𝑖𝑛𝑒</m:t>
                                </m:r>
                              </m:sub>
                            </m:sSub>
                          </m:e>
                        </m:d>
                      </m:num>
                      <m:den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2⋅4.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−4.5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2−1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de-DE" b="0" i="1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de-DE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de-DE" b="0" dirty="0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truncation</a:t>
                </a:r>
                <a:r>
                  <a:rPr lang="de-DE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error</a:t>
                </a:r>
                <a:r>
                  <a:rPr lang="de-DE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𝜖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  <m:sup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Δ</m:t>
                            </m:r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Sup>
                          <m:sSubSupPr>
                            <m:ctrlP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sub>
                          <m:sup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de-DE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pPr>
                  <a:tabLst>
                    <a:tab pos="266700" algn="l"/>
                  </a:tabLst>
                </a:pPr>
                <a:r>
                  <a:rPr lang="de-DE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	</a:t>
                </a:r>
                <a:r>
                  <a:rPr lang="de-DE" dirty="0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where</a:t>
                </a:r>
                <a:r>
                  <a:rPr lang="de-DE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</m:oMath>
                </a14:m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is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the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order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of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the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method</a:t>
                </a:r>
                <a:r>
                  <a:rPr lang="de-DE" b="0" dirty="0">
                    <a:solidFill>
                      <a:schemeClr val="tx1"/>
                    </a:solidFill>
                  </a:rPr>
                  <a:t>,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here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ADCA595-898A-A2DC-E754-6C3A05E7A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77" y="4788998"/>
                <a:ext cx="6495324" cy="1376915"/>
              </a:xfrm>
              <a:prstGeom prst="rect">
                <a:avLst/>
              </a:prstGeom>
              <a:blipFill>
                <a:blip r:embed="rId4"/>
                <a:stretch>
                  <a:fillRect l="-844" t="-2667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09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72D831-6F5E-3BD1-E40C-2850E5AC4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Consistency </a:t>
            </a:r>
            <a:r>
              <a:rPr lang="de-DE" dirty="0" err="1"/>
              <a:t>criterion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7F969D1-5780-58AE-95E1-B32DCE480C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" y="872043"/>
                <a:ext cx="11806237" cy="4862008"/>
              </a:xfrm>
            </p:spPr>
            <p:txBody>
              <a:bodyPr/>
              <a:lstStyle/>
              <a:p>
                <a:endParaRPr lang="en-US" dirty="0"/>
              </a:p>
              <a:p>
                <a:pPr>
                  <a:tabLst>
                    <a:tab pos="265113" algn="l"/>
                  </a:tabLst>
                </a:pPr>
                <a:r>
                  <a:rPr lang="en-US" b="1" dirty="0">
                    <a:sym typeface="Wingdings" panose="05000000000000000000" pitchFamily="2" charset="2"/>
                  </a:rPr>
                  <a:t>Von Neumann stability criterion</a:t>
                </a:r>
                <a:r>
                  <a:rPr lang="en-US" dirty="0">
                    <a:sym typeface="Wingdings" panose="05000000000000000000" pitchFamily="2" charset="2"/>
                  </a:rPr>
                  <a:t> for convergence, e.g. heat equation</a:t>
                </a:r>
              </a:p>
              <a:p>
                <a:pPr>
                  <a:tabLst>
                    <a:tab pos="26511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 For example, FTCS yields: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285750" indent="-285750">
                  <a:buFont typeface="Wingdings" panose="05000000000000000000" pitchFamily="2" charset="2"/>
                  <a:buChar char="à"/>
                  <a:tabLst>
                    <a:tab pos="26511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Errors do not magnify over time</a:t>
                </a:r>
              </a:p>
              <a:p>
                <a:pPr>
                  <a:tabLst>
                    <a:tab pos="265113" algn="l"/>
                  </a:tabLst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7F969D1-5780-58AE-95E1-B32DCE480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" y="872043"/>
                <a:ext cx="11806237" cy="4862008"/>
              </a:xfrm>
              <a:blipFill>
                <a:blip r:embed="rId2"/>
                <a:stretch>
                  <a:fillRect l="-1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F4C3817E-ADD0-0B7A-1CCA-5792FCF162D1}"/>
                  </a:ext>
                </a:extLst>
              </p:cNvPr>
              <p:cNvSpPr txBox="1"/>
              <p:nvPr/>
            </p:nvSpPr>
            <p:spPr>
              <a:xfrm>
                <a:off x="7150697" y="3736796"/>
                <a:ext cx="3522326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200" b="0" i="0" kern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1200" b="0" i="1" kern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sz="1200" b="0" i="1" kern="0" dirty="0"/>
                  <a:t>…	</a:t>
                </a:r>
                <a:r>
                  <a:rPr lang="de-DE" sz="1200" kern="0" dirty="0"/>
                  <a:t>time </a:t>
                </a:r>
                <a:r>
                  <a:rPr lang="de-DE" sz="1200" kern="0" dirty="0" err="1"/>
                  <a:t>step</a:t>
                </a:r>
                <a:endParaRPr lang="de-DE" sz="1200" kern="0" dirty="0"/>
              </a:p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200" b="0" i="0" kern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1200" b="0" i="1" kern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e-DE" sz="1200" kern="0" dirty="0"/>
                  <a:t>… 	</a:t>
                </a:r>
                <a:r>
                  <a:rPr lang="de-DE" sz="1200" kern="0" dirty="0" err="1"/>
                  <a:t>grid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size</a:t>
                </a:r>
                <a:endParaRPr lang="de-DE" sz="1200" kern="0" dirty="0"/>
              </a:p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kern="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sz="1200" b="0" i="1" kern="0" dirty="0" smtClean="0">
                            <a:latin typeface="Cambria Math" panose="02040503050406030204" pitchFamily="18" charset="0"/>
                          </a:rPr>
                          <m:t>𝑐h𝑎𝑟</m:t>
                        </m:r>
                      </m:sub>
                    </m:sSub>
                  </m:oMath>
                </a14:m>
                <a:r>
                  <a:rPr lang="de-DE" sz="1200" kern="0" dirty="0"/>
                  <a:t>…	</a:t>
                </a:r>
                <a:r>
                  <a:rPr lang="de-DE" sz="1200" kern="0" dirty="0" err="1"/>
                  <a:t>characteristic</a:t>
                </a:r>
                <a:r>
                  <a:rPr lang="de-DE" sz="1200" kern="0" dirty="0"/>
                  <a:t> time</a:t>
                </a:r>
              </a:p>
              <a:p>
                <a:pPr lvl="1"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kern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1200" b="0" i="1" kern="0" dirty="0" smtClean="0">
                            <a:latin typeface="Cambria Math" panose="02040503050406030204" pitchFamily="18" charset="0"/>
                          </a:rPr>
                          <m:t>𝑐h𝑎𝑟</m:t>
                        </m:r>
                      </m:sub>
                    </m:sSub>
                  </m:oMath>
                </a14:m>
                <a:r>
                  <a:rPr lang="de-DE" sz="1200" kern="0" dirty="0"/>
                  <a:t>…	</a:t>
                </a:r>
                <a:r>
                  <a:rPr lang="de-DE" sz="1200" kern="0" dirty="0" err="1"/>
                  <a:t>characteristic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length</a:t>
                </a:r>
                <a:endParaRPr lang="de-DE" sz="1200" kern="0" dirty="0"/>
              </a:p>
              <a:p>
                <a:pPr lvl="1"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kern="0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1200" b="0" i="1" kern="0" dirty="0" smtClean="0">
                            <a:latin typeface="Cambria Math" panose="02040503050406030204" pitchFamily="18" charset="0"/>
                          </a:rPr>
                          <m:t>𝑐h𝑎𝑟</m:t>
                        </m:r>
                      </m:sub>
                    </m:sSub>
                  </m:oMath>
                </a14:m>
                <a:r>
                  <a:rPr lang="de-DE" sz="1200" kern="0" dirty="0"/>
                  <a:t>…	</a:t>
                </a:r>
                <a:r>
                  <a:rPr lang="de-DE" sz="1200" kern="0" dirty="0" err="1"/>
                  <a:t>characteristic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velocity</a:t>
                </a:r>
                <a:endParaRPr lang="de-DE" sz="1200" kern="0" dirty="0"/>
              </a:p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0" i="1" kern="0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1200" kern="0" dirty="0"/>
                  <a:t>…	Diffusion </a:t>
                </a:r>
                <a:r>
                  <a:rPr lang="de-DE" sz="1200" kern="0" dirty="0" err="1"/>
                  <a:t>coefficient</a:t>
                </a:r>
                <a:endParaRPr lang="de-DE" sz="1200" kern="0" dirty="0"/>
              </a:p>
              <a:p>
                <a:pPr lvl="1"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0" i="1" kern="0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de-DE" sz="1200" kern="0" dirty="0"/>
                  <a:t>…	</a:t>
                </a:r>
                <a:r>
                  <a:rPr lang="de-DE" sz="1200" kern="0" dirty="0" err="1"/>
                  <a:t>wave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propogation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velocity</a:t>
                </a:r>
                <a:endParaRPr lang="de-DE" sz="1200" kern="0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F4C3817E-ADD0-0B7A-1CCA-5792FCF16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697" y="3736796"/>
                <a:ext cx="3522326" cy="1384995"/>
              </a:xfrm>
              <a:prstGeom prst="rect">
                <a:avLst/>
              </a:prstGeom>
              <a:blipFill>
                <a:blip r:embed="rId3"/>
                <a:stretch>
                  <a:fillRect t="-441" b="-26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769D073E-83CE-8722-13E9-8909E006DAF7}"/>
                  </a:ext>
                </a:extLst>
              </p:cNvPr>
              <p:cNvSpPr txBox="1"/>
              <p:nvPr/>
            </p:nvSpPr>
            <p:spPr>
              <a:xfrm>
                <a:off x="443129" y="3835510"/>
                <a:ext cx="5652871" cy="1187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265113" algn="l"/>
                  </a:tabLst>
                </a:pPr>
                <a:r>
                  <a:rPr lang="en-US" dirty="0"/>
                  <a:t>Heat equation: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𝑐h𝑎𝑟</m:t>
                        </m:r>
                      </m:sub>
                    </m:sSub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>
                  <a:tabLst>
                    <a:tab pos="26511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Fourier number: 	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𝐹𝑜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𝑐h𝑎𝑟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⋅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𝑐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𝐿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𝑐h𝑎𝑟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≤1</m:t>
                    </m:r>
                  </m:oMath>
                </a14:m>
                <a:endParaRPr lang="de-DE" b="0" dirty="0">
                  <a:sym typeface="Wingdings" panose="05000000000000000000" pitchFamily="2" charset="2"/>
                </a:endParaRPr>
              </a:p>
              <a:p>
                <a:pPr>
                  <a:tabLst>
                    <a:tab pos="265113" algn="l"/>
                  </a:tabLst>
                </a:pPr>
                <a:r>
                  <a:rPr lang="en-US" dirty="0"/>
                  <a:t>Wave equation: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𝑐h𝑎𝑟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769D073E-83CE-8722-13E9-8909E006D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29" y="3835510"/>
                <a:ext cx="5652871" cy="1187569"/>
              </a:xfrm>
              <a:prstGeom prst="rect">
                <a:avLst/>
              </a:prstGeom>
              <a:blipFill>
                <a:blip r:embed="rId4"/>
                <a:stretch>
                  <a:fillRect l="-971" b="-71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28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01F455-3E9D-D2DF-FC33-392DCBF3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CFL-</a:t>
            </a:r>
            <a:r>
              <a:rPr lang="de-DE" dirty="0" err="1"/>
              <a:t>criterion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4116C88-6E49-5E7B-2AE8-03772D04C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Courant-Friedrichs-Lewy (CFL) criterion for consistency: 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𝐶𝐹𝐿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Fluid information exchanged per timestep </a:t>
                </a:r>
              </a:p>
              <a:p>
                <a:pPr>
                  <a:tabLst>
                    <a:tab pos="26511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	can only be passed in between neighboring cells</a:t>
                </a:r>
              </a:p>
              <a:p>
                <a:pPr>
                  <a:tabLst>
                    <a:tab pos="265113" algn="l"/>
                  </a:tabLst>
                </a:pPr>
                <a:r>
                  <a:rPr lang="en-US" dirty="0">
                    <a:sym typeface="Wingdings" panose="05000000000000000000" pitchFamily="2" charset="2"/>
                  </a:rPr>
                  <a:t>	Stability condition for fluid momentum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4116C88-6E49-5E7B-2AE8-03772D04C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9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163A8BE-6BD9-5F12-D4C6-EFE518B85B8C}"/>
              </a:ext>
            </a:extLst>
          </p:cNvPr>
          <p:cNvGrpSpPr>
            <a:grpSpLocks noChangeAspect="1"/>
          </p:cNvGrpSpPr>
          <p:nvPr/>
        </p:nvGrpSpPr>
        <p:grpSpPr>
          <a:xfrm>
            <a:off x="7361301" y="1231900"/>
            <a:ext cx="4730484" cy="2114550"/>
            <a:chOff x="4752641" y="4717708"/>
            <a:chExt cx="3494746" cy="1562169"/>
          </a:xfrm>
        </p:grpSpPr>
        <p:sp>
          <p:nvSpPr>
            <p:cNvPr id="6" name="Pfeil: nach rechts 5">
              <a:extLst>
                <a:ext uri="{FF2B5EF4-FFF2-40B4-BE49-F238E27FC236}">
                  <a16:creationId xmlns:a16="http://schemas.microsoft.com/office/drawing/2014/main" id="{C9045DAE-1EC1-29EE-CCF7-6733E7267442}"/>
                </a:ext>
              </a:extLst>
            </p:cNvPr>
            <p:cNvSpPr/>
            <p:nvPr/>
          </p:nvSpPr>
          <p:spPr>
            <a:xfrm>
              <a:off x="5544641" y="5669737"/>
              <a:ext cx="288000" cy="252000"/>
            </a:xfrm>
            <a:prstGeom prst="rightArrow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EA16A109-4418-10A1-F430-999E19EB1AF0}"/>
                </a:ext>
              </a:extLst>
            </p:cNvPr>
            <p:cNvSpPr/>
            <p:nvPr/>
          </p:nvSpPr>
          <p:spPr>
            <a:xfrm>
              <a:off x="5940641" y="4958734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4622D50-3A81-3A6D-FB7F-6260CB037A32}"/>
                </a:ext>
              </a:extLst>
            </p:cNvPr>
            <p:cNvSpPr/>
            <p:nvPr/>
          </p:nvSpPr>
          <p:spPr>
            <a:xfrm>
              <a:off x="7020272" y="4958734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637068A2-4F01-8221-6CF2-5E5C0247348C}"/>
                </a:ext>
              </a:extLst>
            </p:cNvPr>
            <p:cNvSpPr/>
            <p:nvPr/>
          </p:nvSpPr>
          <p:spPr>
            <a:xfrm>
              <a:off x="4860277" y="4958734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AFB1E36C-D8F0-6EFA-91CA-05B96E821CB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52641" y="5669737"/>
                  <a:ext cx="252000" cy="252028"/>
                </a:xfrm>
                <a:prstGeom prst="ellipse">
                  <a:avLst/>
                </a:prstGeom>
                <a:solidFill>
                  <a:srgbClr val="92D050"/>
                </a:solid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8" name="Ellipse 7">
                  <a:extLst>
                    <a:ext uri="{FF2B5EF4-FFF2-40B4-BE49-F238E27FC236}">
                      <a16:creationId xmlns:a16="http://schemas.microsoft.com/office/drawing/2014/main" id="{50C642CD-2D7A-4531-B3F8-2878B84307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641" y="5669737"/>
                  <a:ext cx="252000" cy="25202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16FB872C-561B-CBB3-7CAE-A73DCECA07A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292641" y="5669737"/>
                  <a:ext cx="252000" cy="252028"/>
                </a:xfrm>
                <a:prstGeom prst="ellipse">
                  <a:avLst/>
                </a:prstGeom>
                <a:solidFill>
                  <a:srgbClr val="92D050"/>
                </a:solid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6EF374F1-7C47-4D6A-96E8-BEDDE0559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2641" y="5669737"/>
                  <a:ext cx="252000" cy="25202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106489DF-430D-F684-FD8B-7C072877D6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32641" y="5669737"/>
                  <a:ext cx="252000" cy="252028"/>
                </a:xfrm>
                <a:prstGeom prst="ellipse">
                  <a:avLst/>
                </a:prstGeom>
                <a:solidFill>
                  <a:srgbClr val="92D050"/>
                </a:solid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1200" b="0" dirty="0"/>
                </a:p>
              </p:txBody>
            </p:sp>
          </mc:Choice>
          <mc:Fallback xmlns=""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8B840F84-86F6-4172-9CAA-845C8FC3EA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2641" y="5669737"/>
                  <a:ext cx="252000" cy="252028"/>
                </a:xfrm>
                <a:prstGeom prst="ellipse">
                  <a:avLst/>
                </a:prstGeom>
                <a:blipFill>
                  <a:blip r:embed="rId6"/>
                  <a:stretch>
                    <a:fillRect l="-2273"/>
                  </a:stretch>
                </a:blip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Pfeil: nach rechts 12">
              <a:extLst>
                <a:ext uri="{FF2B5EF4-FFF2-40B4-BE49-F238E27FC236}">
                  <a16:creationId xmlns:a16="http://schemas.microsoft.com/office/drawing/2014/main" id="{94532FE6-5D49-E6FA-A9BC-46EF35C1D358}"/>
                </a:ext>
              </a:extLst>
            </p:cNvPr>
            <p:cNvSpPr/>
            <p:nvPr/>
          </p:nvSpPr>
          <p:spPr>
            <a:xfrm>
              <a:off x="5004641" y="5669737"/>
              <a:ext cx="288000" cy="252000"/>
            </a:xfrm>
            <a:prstGeom prst="rightArrow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feil: nach rechts 13">
              <a:extLst>
                <a:ext uri="{FF2B5EF4-FFF2-40B4-BE49-F238E27FC236}">
                  <a16:creationId xmlns:a16="http://schemas.microsoft.com/office/drawing/2014/main" id="{821F254D-8509-8130-EAC2-A3127FFF9B34}"/>
                </a:ext>
              </a:extLst>
            </p:cNvPr>
            <p:cNvSpPr/>
            <p:nvPr/>
          </p:nvSpPr>
          <p:spPr>
            <a:xfrm>
              <a:off x="6628851" y="5670371"/>
              <a:ext cx="288000" cy="252000"/>
            </a:xfrm>
            <a:prstGeom prst="rightArrow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472A7EFD-D32A-FD34-0129-2A8C58473D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76851" y="5670371"/>
                  <a:ext cx="252000" cy="252028"/>
                </a:xfrm>
                <a:prstGeom prst="ellipse">
                  <a:avLst/>
                </a:prstGeom>
                <a:solidFill>
                  <a:srgbClr val="92D050"/>
                </a:solid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2B57A5DD-C592-4483-9F94-AF04CFF64A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6851" y="5670371"/>
                  <a:ext cx="252000" cy="252028"/>
                </a:xfrm>
                <a:prstGeom prst="ellipse">
                  <a:avLst/>
                </a:prstGeom>
                <a:blipFill>
                  <a:blip r:embed="rId7"/>
                  <a:stretch>
                    <a:fillRect l="-2273"/>
                  </a:stretch>
                </a:blip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B46A83C3-1B62-3D4D-35C0-87E87E04B5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916851" y="5670371"/>
                  <a:ext cx="252000" cy="252028"/>
                </a:xfrm>
                <a:prstGeom prst="ellipse">
                  <a:avLst/>
                </a:prstGeom>
                <a:solidFill>
                  <a:srgbClr val="92D050"/>
                </a:solid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sz="1200" b="0" dirty="0"/>
                </a:p>
              </p:txBody>
            </p:sp>
          </mc:Choice>
          <mc:Fallback xmlns=""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B2B813B4-C6C2-4FB2-B2E5-7CECFE6A4D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6851" y="5670371"/>
                  <a:ext cx="252000" cy="252028"/>
                </a:xfrm>
                <a:prstGeom prst="ellipse">
                  <a:avLst/>
                </a:prstGeom>
                <a:blipFill>
                  <a:blip r:embed="rId8"/>
                  <a:stretch>
                    <a:fillRect l="-2273"/>
                  </a:stretch>
                </a:blip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Pfeil: nach rechts 16">
              <a:extLst>
                <a:ext uri="{FF2B5EF4-FFF2-40B4-BE49-F238E27FC236}">
                  <a16:creationId xmlns:a16="http://schemas.microsoft.com/office/drawing/2014/main" id="{84E49214-61CC-9A17-23B2-B653D0374F2A}"/>
                </a:ext>
              </a:extLst>
            </p:cNvPr>
            <p:cNvSpPr/>
            <p:nvPr/>
          </p:nvSpPr>
          <p:spPr>
            <a:xfrm>
              <a:off x="6088851" y="5670371"/>
              <a:ext cx="288000" cy="252000"/>
            </a:xfrm>
            <a:prstGeom prst="rightArrow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feil: nach rechts 17">
              <a:extLst>
                <a:ext uri="{FF2B5EF4-FFF2-40B4-BE49-F238E27FC236}">
                  <a16:creationId xmlns:a16="http://schemas.microsoft.com/office/drawing/2014/main" id="{F5872A43-8B4C-648B-4C9E-8BB3FDC5E134}"/>
                </a:ext>
              </a:extLst>
            </p:cNvPr>
            <p:cNvSpPr/>
            <p:nvPr/>
          </p:nvSpPr>
          <p:spPr>
            <a:xfrm>
              <a:off x="7707387" y="5671674"/>
              <a:ext cx="288000" cy="252000"/>
            </a:xfrm>
            <a:prstGeom prst="rightArrow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C73FD5D2-2E0C-211F-000C-8CC33BA81B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55387" y="5671674"/>
                  <a:ext cx="252000" cy="252028"/>
                </a:xfrm>
                <a:prstGeom prst="ellipse">
                  <a:avLst/>
                </a:prstGeom>
                <a:solidFill>
                  <a:srgbClr val="92D050"/>
                </a:solid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95EA3F70-9D6A-4962-A8BD-2F224E4FB1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5387" y="5671674"/>
                  <a:ext cx="252000" cy="252028"/>
                </a:xfrm>
                <a:prstGeom prst="ellipse">
                  <a:avLst/>
                </a:prstGeom>
                <a:blipFill>
                  <a:blip r:embed="rId9"/>
                  <a:stretch>
                    <a:fillRect l="-2273"/>
                  </a:stretch>
                </a:blip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id="{D715A7E4-FBCA-2B18-634C-0476B742F9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995387" y="5671674"/>
                  <a:ext cx="252000" cy="252028"/>
                </a:xfrm>
                <a:prstGeom prst="ellipse">
                  <a:avLst/>
                </a:prstGeom>
                <a:solidFill>
                  <a:srgbClr val="92D050"/>
                </a:solid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sz="1200" b="0" dirty="0"/>
                </a:p>
              </p:txBody>
            </p:sp>
          </mc:Choice>
          <mc:Fallback xmlns=""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88D50A8C-8E14-4F74-858A-798231EFBC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5387" y="5671674"/>
                  <a:ext cx="252000" cy="252028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Pfeil: nach rechts 20">
              <a:extLst>
                <a:ext uri="{FF2B5EF4-FFF2-40B4-BE49-F238E27FC236}">
                  <a16:creationId xmlns:a16="http://schemas.microsoft.com/office/drawing/2014/main" id="{D10CB471-C022-7F96-5EDD-F386574D15CD}"/>
                </a:ext>
              </a:extLst>
            </p:cNvPr>
            <p:cNvSpPr/>
            <p:nvPr/>
          </p:nvSpPr>
          <p:spPr>
            <a:xfrm>
              <a:off x="7167387" y="5671674"/>
              <a:ext cx="288000" cy="252000"/>
            </a:xfrm>
            <a:prstGeom prst="rightArrow">
              <a:avLst/>
            </a:prstGeom>
            <a:ln w="190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317A90E8-38DA-F9E8-DA06-9CC776B559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10562" y="5200405"/>
                  <a:ext cx="252000" cy="252028"/>
                </a:xfrm>
                <a:prstGeom prst="ellipse">
                  <a:avLst/>
                </a:prstGeom>
                <a:solidFill>
                  <a:srgbClr val="FF0000"/>
                </a:solidFill>
                <a:ln w="19050"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id="{2768CD88-B225-44BC-ADE4-DCAF29F9E2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562" y="5200405"/>
                  <a:ext cx="252000" cy="252028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CBAD23EC-F824-68D3-A144-AB3068D997E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393349" y="5200405"/>
                  <a:ext cx="252000" cy="252028"/>
                </a:xfrm>
                <a:prstGeom prst="ellipse">
                  <a:avLst/>
                </a:prstGeom>
                <a:solidFill>
                  <a:srgbClr val="FF0000"/>
                </a:solidFill>
                <a:ln w="19050"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605D583A-8489-4862-B481-A40440B63A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349" y="5200405"/>
                  <a:ext cx="252000" cy="252028"/>
                </a:xfrm>
                <a:prstGeom prst="ellipse">
                  <a:avLst/>
                </a:prstGeom>
                <a:blipFill>
                  <a:blip r:embed="rId12"/>
                  <a:stretch>
                    <a:fillRect l="-2273"/>
                  </a:stretch>
                </a:blipFill>
                <a:ln w="19050"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Pfeil: nach rechts 23">
              <a:extLst>
                <a:ext uri="{FF2B5EF4-FFF2-40B4-BE49-F238E27FC236}">
                  <a16:creationId xmlns:a16="http://schemas.microsoft.com/office/drawing/2014/main" id="{1F24DB1D-8BDB-8371-C5B4-715DB26AD53B}"/>
                </a:ext>
              </a:extLst>
            </p:cNvPr>
            <p:cNvSpPr/>
            <p:nvPr/>
          </p:nvSpPr>
          <p:spPr>
            <a:xfrm>
              <a:off x="5762562" y="5200405"/>
              <a:ext cx="1620000" cy="252000"/>
            </a:xfrm>
            <a:prstGeom prst="rightArrow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770C4A50-7CB8-7DE2-EA63-E37480606595}"/>
                    </a:ext>
                  </a:extLst>
                </p:cNvPr>
                <p:cNvSpPr txBox="1"/>
                <p:nvPr/>
              </p:nvSpPr>
              <p:spPr>
                <a:xfrm>
                  <a:off x="6152979" y="6064433"/>
                  <a:ext cx="6997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𝐶𝐹𝐿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DF0E1882-F82F-45BB-B658-AE3BEE5B6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2979" y="6064433"/>
                  <a:ext cx="699743" cy="215444"/>
                </a:xfrm>
                <a:prstGeom prst="rect">
                  <a:avLst/>
                </a:prstGeom>
                <a:blipFill>
                  <a:blip r:embed="rId13"/>
                  <a:stretch>
                    <a:fillRect l="-5217" r="-434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079AB238-CF3B-1026-D92E-C078DE00FA6D}"/>
                    </a:ext>
                  </a:extLst>
                </p:cNvPr>
                <p:cNvSpPr txBox="1"/>
                <p:nvPr/>
              </p:nvSpPr>
              <p:spPr>
                <a:xfrm>
                  <a:off x="6133539" y="4717708"/>
                  <a:ext cx="6997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𝐶𝐹𝐿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&gt;1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0B50A062-5835-44EF-966B-E60D40BA7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3539" y="4717708"/>
                  <a:ext cx="699743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5217" r="-4348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0908B179-E2C5-D3D3-D4AD-CDE7F998DCD6}"/>
              </a:ext>
            </a:extLst>
          </p:cNvPr>
          <p:cNvGrpSpPr>
            <a:grpSpLocks noChangeAspect="1"/>
          </p:cNvGrpSpPr>
          <p:nvPr/>
        </p:nvGrpSpPr>
        <p:grpSpPr>
          <a:xfrm>
            <a:off x="7506998" y="3580583"/>
            <a:ext cx="4261582" cy="2278141"/>
            <a:chOff x="6850579" y="3637779"/>
            <a:chExt cx="5042639" cy="2695675"/>
          </a:xfrm>
        </p:grpSpPr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45E5AE3D-2932-7773-86D0-297A5072A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599" r="50182"/>
            <a:stretch/>
          </p:blipFill>
          <p:spPr>
            <a:xfrm flipH="1">
              <a:off x="6850579" y="3637779"/>
              <a:ext cx="2530745" cy="2695675"/>
            </a:xfrm>
            <a:prstGeom prst="rect">
              <a:avLst/>
            </a:prstGeom>
          </p:spPr>
        </p:pic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E8D65968-FDEA-48DA-C3E6-9AB974D7E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63" t="19599"/>
            <a:stretch/>
          </p:blipFill>
          <p:spPr>
            <a:xfrm flipH="1">
              <a:off x="9366577" y="3637779"/>
              <a:ext cx="2526641" cy="26956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40110738-097D-2143-F477-CFE2CF6A3588}"/>
                    </a:ext>
                  </a:extLst>
                </p:cNvPr>
                <p:cNvSpPr txBox="1"/>
                <p:nvPr/>
              </p:nvSpPr>
              <p:spPr>
                <a:xfrm>
                  <a:off x="7610604" y="5925891"/>
                  <a:ext cx="69653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𝐶𝐹𝐿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40110738-097D-2143-F477-CFE2CF6A3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604" y="5925891"/>
                  <a:ext cx="696536" cy="215444"/>
                </a:xfrm>
                <a:prstGeom prst="rect">
                  <a:avLst/>
                </a:prstGeom>
                <a:blipFill>
                  <a:blip r:embed="rId16"/>
                  <a:stretch>
                    <a:fillRect l="-10417" r="-19792" b="-3103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D94C0F2F-5A3B-2C56-D38F-0EDAA6101D14}"/>
                    </a:ext>
                  </a:extLst>
                </p:cNvPr>
                <p:cNvSpPr txBox="1"/>
                <p:nvPr/>
              </p:nvSpPr>
              <p:spPr>
                <a:xfrm>
                  <a:off x="10136127" y="5941914"/>
                  <a:ext cx="69653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𝐶𝐹𝐿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&gt;1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D94C0F2F-5A3B-2C56-D38F-0EDAA6101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6127" y="5941914"/>
                  <a:ext cx="696537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10309" r="-18557" b="-2666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3746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3600" b="0" strike="noStrike" spc="-1" dirty="0">
                <a:solidFill>
                  <a:schemeClr val="lt1"/>
                </a:solidFill>
                <a:latin typeface="Open Sans Light"/>
                <a:ea typeface="Open Sans Light"/>
              </a:rPr>
              <a:t>The </a:t>
            </a:r>
            <a:r>
              <a:rPr lang="de-DE" sz="3600" b="0" strike="noStrike" spc="-1" dirty="0" err="1">
                <a:solidFill>
                  <a:schemeClr val="lt1"/>
                </a:solidFill>
                <a:latin typeface="Open Sans Light"/>
                <a:ea typeface="Open Sans Light"/>
              </a:rPr>
              <a:t>algebraic</a:t>
            </a:r>
            <a:r>
              <a:rPr lang="de-DE" sz="3600" b="0" strike="noStrike" spc="-1" dirty="0">
                <a:solidFill>
                  <a:schemeClr val="lt1"/>
                </a:solidFill>
                <a:latin typeface="Open Sans Light"/>
                <a:ea typeface="Open Sans Light"/>
              </a:rPr>
              <a:t> </a:t>
            </a:r>
            <a:r>
              <a:rPr lang="de-DE" sz="3600" b="0" strike="noStrike" spc="-1" dirty="0" err="1">
                <a:solidFill>
                  <a:schemeClr val="lt1"/>
                </a:solidFill>
                <a:latin typeface="Open Sans Light"/>
                <a:ea typeface="Open Sans Light"/>
              </a:rPr>
              <a:t>equation</a:t>
            </a:r>
            <a:r>
              <a:rPr lang="de-DE" sz="3600" b="0" strike="noStrike" spc="-1" dirty="0">
                <a:solidFill>
                  <a:schemeClr val="lt1"/>
                </a:solidFill>
                <a:latin typeface="Open Sans Light"/>
                <a:ea typeface="Open Sans Light"/>
              </a:rPr>
              <a:t> </a:t>
            </a:r>
            <a:r>
              <a:rPr lang="de-DE" sz="3600" b="0" strike="noStrike" spc="-1" dirty="0" err="1">
                <a:solidFill>
                  <a:schemeClr val="lt1"/>
                </a:solidFill>
                <a:latin typeface="Open Sans Light"/>
                <a:ea typeface="Open Sans Light"/>
              </a:rPr>
              <a:t>system</a:t>
            </a:r>
            <a:endParaRPr lang="de-DE" sz="3600" b="0" strike="noStrike" spc="-1" dirty="0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0DE5C1C8-3C0F-6AE6-78A5-B98B848E98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6971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819D2-CE7D-F3BD-C299-F84A66AE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algebraic equation system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11BE91A6-2961-D567-DE63-C6D3E6475D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799" y="1042989"/>
                <a:ext cx="10741019" cy="4258220"/>
              </a:xfrm>
            </p:spPr>
            <p:txBody>
              <a:bodyPr/>
              <a:lstStyle/>
              <a:p>
                <a:r>
                  <a:rPr lang="en-US" dirty="0"/>
                  <a:t>Given a staggered grid, a computational grid cell P changes over time by exchange with its neighbors </a:t>
                </a:r>
                <a:r>
                  <a:rPr lang="en-US" dirty="0">
                    <a:sym typeface="Wingdings" panose="05000000000000000000" pitchFamily="2" charset="2"/>
                  </a:rPr>
                  <a:t> compass notation N: North; E: East, S: South and W: West</a:t>
                </a:r>
                <a:r>
                  <a:rPr lang="en-US" dirty="0"/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This yields the a system of linear algebraic equations:</a:t>
                </a: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𝑝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𝑙𝑜𝑐𝑎𝑙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𝑐h𝑎𝑛𝑔𝑒</m:t>
                        </m:r>
                      </m:lim>
                    </m:limLow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limLow>
                      <m:limLow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groupChr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naryPr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𝑙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𝑙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nary>
                          </m:e>
                        </m:groupChr>
                      </m:e>
                      <m:li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𝑁𝑒𝑖𝑔h𝑏𝑜𝑢𝑟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𝑒𝑥h𝑎𝑛𝑔𝑒</m:t>
                        </m:r>
                      </m:lim>
                    </m:limLow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limLow>
                      <m:limLow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𝑝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𝐾𝑛𝑜𝑤𝑛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𝑣𝑎𝑙𝑢𝑒𝑠</m:t>
                        </m:r>
                      </m:lim>
                    </m:limLow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One equation for each grid node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>
                  <a:tabLst>
                    <a:tab pos="266700" algn="l"/>
                  </a:tabLst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Sparse system of linear algebraic equations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Matrix form: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𝑨</m:t>
                    </m:r>
                    <m:r>
                      <a:rPr lang="de-DE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𝝓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𝑸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11BE91A6-2961-D567-DE63-C6D3E6475D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799" y="1042989"/>
                <a:ext cx="10741019" cy="4258220"/>
              </a:xfrm>
              <a:blipFill>
                <a:blip r:embed="rId2"/>
                <a:stretch>
                  <a:fillRect l="-1476" t="-1860" b="-50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698E01DB-D0AF-D085-D48B-EC033F5033F1}"/>
              </a:ext>
            </a:extLst>
          </p:cNvPr>
          <p:cNvGrpSpPr>
            <a:grpSpLocks noChangeAspect="1"/>
          </p:cNvGrpSpPr>
          <p:nvPr/>
        </p:nvGrpSpPr>
        <p:grpSpPr>
          <a:xfrm>
            <a:off x="7714975" y="1690689"/>
            <a:ext cx="4391300" cy="4015510"/>
            <a:chOff x="8667974" y="2009291"/>
            <a:chExt cx="3209976" cy="2935279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614F9EDA-6D02-4CA4-8ABD-ABF8AB0BBA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95563" y="2319880"/>
              <a:ext cx="0" cy="2305555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1324C770-1564-CB53-9B03-C2E72FB3D4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8567" y="3501791"/>
              <a:ext cx="2279429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F5946599-E244-B354-7794-0CC952E04C95}"/>
                </a:ext>
              </a:extLst>
            </p:cNvPr>
            <p:cNvSpPr/>
            <p:nvPr/>
          </p:nvSpPr>
          <p:spPr>
            <a:xfrm>
              <a:off x="9911303" y="3128409"/>
              <a:ext cx="768520" cy="768518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F70EDCF-E45F-CA88-AC65-24024A7C0A79}"/>
                </a:ext>
              </a:extLst>
            </p:cNvPr>
            <p:cNvSpPr/>
            <p:nvPr/>
          </p:nvSpPr>
          <p:spPr>
            <a:xfrm>
              <a:off x="10679475" y="3128409"/>
              <a:ext cx="768520" cy="768518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8118F1A7-88B5-5B99-70D9-11668162228D}"/>
                </a:ext>
              </a:extLst>
            </p:cNvPr>
            <p:cNvSpPr/>
            <p:nvPr/>
          </p:nvSpPr>
          <p:spPr>
            <a:xfrm>
              <a:off x="9911303" y="2359891"/>
              <a:ext cx="768520" cy="768518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9B1A3CF-4F67-4C2B-5421-B53B204E1C8F}"/>
                </a:ext>
              </a:extLst>
            </p:cNvPr>
            <p:cNvSpPr/>
            <p:nvPr/>
          </p:nvSpPr>
          <p:spPr>
            <a:xfrm>
              <a:off x="10679475" y="2359891"/>
              <a:ext cx="768520" cy="768518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18503F8-9049-4FAE-6C71-4BC117FD4F59}"/>
                </a:ext>
              </a:extLst>
            </p:cNvPr>
            <p:cNvSpPr/>
            <p:nvPr/>
          </p:nvSpPr>
          <p:spPr>
            <a:xfrm>
              <a:off x="9911303" y="3896928"/>
              <a:ext cx="768520" cy="768518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E19CAAD-8B67-FD85-9113-9B4337DF880E}"/>
                </a:ext>
              </a:extLst>
            </p:cNvPr>
            <p:cNvSpPr/>
            <p:nvPr/>
          </p:nvSpPr>
          <p:spPr>
            <a:xfrm>
              <a:off x="10679475" y="3896928"/>
              <a:ext cx="768520" cy="768518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DA3AB6F-3006-C344-42FF-FD54691D9339}"/>
                </a:ext>
              </a:extLst>
            </p:cNvPr>
            <p:cNvSpPr/>
            <p:nvPr/>
          </p:nvSpPr>
          <p:spPr>
            <a:xfrm>
              <a:off x="9142609" y="3128409"/>
              <a:ext cx="768520" cy="768518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C3C0A12B-0CB0-470A-9C0E-A3113C61F703}"/>
                </a:ext>
              </a:extLst>
            </p:cNvPr>
            <p:cNvSpPr/>
            <p:nvPr/>
          </p:nvSpPr>
          <p:spPr>
            <a:xfrm>
              <a:off x="9142609" y="2359891"/>
              <a:ext cx="768520" cy="768518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6EFEBC9-F4BF-DFA1-127A-F21AAF8A67FC}"/>
                </a:ext>
              </a:extLst>
            </p:cNvPr>
            <p:cNvSpPr/>
            <p:nvPr/>
          </p:nvSpPr>
          <p:spPr>
            <a:xfrm>
              <a:off x="9142609" y="3896928"/>
              <a:ext cx="768520" cy="768518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55A589F3-5B3B-F5A9-2272-56EB76051F84}"/>
                </a:ext>
              </a:extLst>
            </p:cNvPr>
            <p:cNvCxnSpPr>
              <a:cxnSpLocks/>
            </p:cNvCxnSpPr>
            <p:nvPr/>
          </p:nvCxnSpPr>
          <p:spPr>
            <a:xfrm>
              <a:off x="9159435" y="2733051"/>
              <a:ext cx="2292726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3D980362-FEA4-D075-2E7F-0DCC170E3C87}"/>
                </a:ext>
              </a:extLst>
            </p:cNvPr>
            <p:cNvCxnSpPr>
              <a:cxnSpLocks/>
            </p:cNvCxnSpPr>
            <p:nvPr/>
          </p:nvCxnSpPr>
          <p:spPr>
            <a:xfrm>
              <a:off x="9159435" y="4290175"/>
              <a:ext cx="2292726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8503AFD1-46ED-46EC-A687-0A301F6E9DE8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H="1">
              <a:off x="11063735" y="2359890"/>
              <a:ext cx="0" cy="2305556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322605B-E81A-99F8-6BEE-1C535929C6B5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H="1">
              <a:off x="9526869" y="2359889"/>
              <a:ext cx="0" cy="2305557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ACED5CA-04C0-B9BE-0970-DFBA195ABA4E}"/>
                    </a:ext>
                  </a:extLst>
                </p:cNvPr>
                <p:cNvSpPr txBox="1"/>
                <p:nvPr/>
              </p:nvSpPr>
              <p:spPr>
                <a:xfrm>
                  <a:off x="8667974" y="3418334"/>
                  <a:ext cx="10201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ACED5CA-04C0-B9BE-0970-DFBA195AB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7974" y="3418334"/>
                  <a:ext cx="102016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18182" r="-2272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D40CB2F0-924E-40D7-AC09-0BF3A60B765E}"/>
                    </a:ext>
                  </a:extLst>
                </p:cNvPr>
                <p:cNvSpPr txBox="1"/>
                <p:nvPr/>
              </p:nvSpPr>
              <p:spPr>
                <a:xfrm>
                  <a:off x="10258835" y="4759904"/>
                  <a:ext cx="9624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D40CB2F0-924E-40D7-AC09-0BF3A60B76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8835" y="4759904"/>
                  <a:ext cx="96245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14286" r="-476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8D7C00BE-0460-995C-42F4-C46D91E7B730}"/>
                    </a:ext>
                  </a:extLst>
                </p:cNvPr>
                <p:cNvSpPr txBox="1"/>
                <p:nvPr/>
              </p:nvSpPr>
              <p:spPr>
                <a:xfrm>
                  <a:off x="10921018" y="4759904"/>
                  <a:ext cx="36497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8D7C00BE-0460-995C-42F4-C46D91E7B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1018" y="4759904"/>
                  <a:ext cx="364972" cy="18466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5BCF8B32-80FF-5D7C-F359-AD381EEF49E4}"/>
                    </a:ext>
                  </a:extLst>
                </p:cNvPr>
                <p:cNvSpPr txBox="1"/>
                <p:nvPr/>
              </p:nvSpPr>
              <p:spPr>
                <a:xfrm>
                  <a:off x="9356910" y="4759682"/>
                  <a:ext cx="36497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5BCF8B32-80FF-5D7C-F359-AD381EEF4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6910" y="4759682"/>
                  <a:ext cx="364972" cy="18466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AB0849C6-F733-21B4-8EBA-98F3EB1504C3}"/>
                    </a:ext>
                  </a:extLst>
                </p:cNvPr>
                <p:cNvSpPr txBox="1"/>
                <p:nvPr/>
              </p:nvSpPr>
              <p:spPr>
                <a:xfrm>
                  <a:off x="8667974" y="4201217"/>
                  <a:ext cx="37074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AB0849C6-F733-21B4-8EBA-98F3EB150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7974" y="4201217"/>
                  <a:ext cx="370743" cy="18466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F608C3A8-9D4A-98F2-2135-4B13B86D12BB}"/>
                    </a:ext>
                  </a:extLst>
                </p:cNvPr>
                <p:cNvSpPr txBox="1"/>
                <p:nvPr/>
              </p:nvSpPr>
              <p:spPr>
                <a:xfrm>
                  <a:off x="8667974" y="2648877"/>
                  <a:ext cx="37074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F608C3A8-9D4A-98F2-2135-4B13B86D1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7974" y="2648877"/>
                  <a:ext cx="370743" cy="18466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4B9FDBD9-9C3E-495C-E3EC-6FA5E5E2D140}"/>
                    </a:ext>
                  </a:extLst>
                </p:cNvPr>
                <p:cNvSpPr txBox="1"/>
                <p:nvPr/>
              </p:nvSpPr>
              <p:spPr>
                <a:xfrm>
                  <a:off x="10206460" y="2009291"/>
                  <a:ext cx="184086" cy="1532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4B9FDBD9-9C3E-495C-E3EC-6FA5E5E2D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6460" y="2009291"/>
                  <a:ext cx="184086" cy="153291"/>
                </a:xfrm>
                <a:prstGeom prst="rect">
                  <a:avLst/>
                </a:prstGeom>
                <a:blipFill>
                  <a:blip r:embed="rId9"/>
                  <a:stretch>
                    <a:fillRect l="-14634" r="-4878" b="-8571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9A7C94DC-6A1A-96EB-55FC-1E7735A4033C}"/>
                    </a:ext>
                  </a:extLst>
                </p:cNvPr>
                <p:cNvSpPr txBox="1"/>
                <p:nvPr/>
              </p:nvSpPr>
              <p:spPr>
                <a:xfrm>
                  <a:off x="11616788" y="3395244"/>
                  <a:ext cx="26116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9A7C94DC-6A1A-96EB-55FC-1E7735A403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6788" y="3395244"/>
                  <a:ext cx="261162" cy="21544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3710EB09-0295-3538-A50E-213591F53419}"/>
                </a:ext>
              </a:extLst>
            </p:cNvPr>
            <p:cNvCxnSpPr/>
            <p:nvPr/>
          </p:nvCxnSpPr>
          <p:spPr>
            <a:xfrm>
              <a:off x="9910954" y="2222730"/>
              <a:ext cx="768435" cy="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7DCA9589-07A6-06C8-A55A-EF8EC94E72F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199867" y="3512710"/>
              <a:ext cx="768435" cy="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82A31167-4072-041E-EDBB-6DF5F936934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13231" y="2352634"/>
              <a:ext cx="1522465" cy="2298314"/>
              <a:chOff x="6871304" y="2423527"/>
              <a:chExt cx="1585085" cy="2392840"/>
            </a:xfrm>
          </p:grpSpPr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B86A4A28-DB48-477C-8B30-6B67A536B76A}"/>
                  </a:ext>
                </a:extLst>
              </p:cNvPr>
              <p:cNvSpPr/>
              <p:nvPr/>
            </p:nvSpPr>
            <p:spPr>
              <a:xfrm>
                <a:off x="6875622" y="2423527"/>
                <a:ext cx="787095" cy="787094"/>
              </a:xfrm>
              <a:prstGeom prst="rect">
                <a:avLst/>
              </a:prstGeom>
              <a:solidFill>
                <a:schemeClr val="bg1">
                  <a:alpha val="70000"/>
                </a:schemeClr>
              </a:solidFill>
              <a:ln w="2540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</a:t>
                </a:r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3C22881A-A230-F91A-FD42-2FAB647D998A}"/>
                  </a:ext>
                </a:extLst>
              </p:cNvPr>
              <p:cNvSpPr/>
              <p:nvPr/>
            </p:nvSpPr>
            <p:spPr>
              <a:xfrm>
                <a:off x="6871304" y="4029275"/>
                <a:ext cx="787095" cy="787092"/>
              </a:xfrm>
              <a:prstGeom prst="rect">
                <a:avLst/>
              </a:prstGeom>
              <a:solidFill>
                <a:schemeClr val="bg1">
                  <a:alpha val="70000"/>
                </a:schemeClr>
              </a:solidFill>
              <a:ln w="2540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</a:t>
                </a:r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4241D632-A8C4-1396-9BD9-E322028CDC8D}"/>
                  </a:ext>
                </a:extLst>
              </p:cNvPr>
              <p:cNvSpPr/>
              <p:nvPr/>
            </p:nvSpPr>
            <p:spPr>
              <a:xfrm>
                <a:off x="7669294" y="3223900"/>
                <a:ext cx="787095" cy="787095"/>
              </a:xfrm>
              <a:prstGeom prst="rect">
                <a:avLst/>
              </a:prstGeom>
              <a:solidFill>
                <a:schemeClr val="bg1">
                  <a:alpha val="70000"/>
                </a:schemeClr>
              </a:solidFill>
              <a:ln w="25400">
                <a:solidFill>
                  <a:srgbClr val="92D05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</p:grp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3D74DDF7-EE17-98F6-F627-F823EF27BAF4}"/>
                </a:ext>
              </a:extLst>
            </p:cNvPr>
            <p:cNvSpPr/>
            <p:nvPr/>
          </p:nvSpPr>
          <p:spPr>
            <a:xfrm>
              <a:off x="9145536" y="3121389"/>
              <a:ext cx="756000" cy="75600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25400"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C0D63F8D-3607-E1D5-CBD7-E4EF8C9DA7FB}"/>
                </a:ext>
              </a:extLst>
            </p:cNvPr>
            <p:cNvSpPr/>
            <p:nvPr/>
          </p:nvSpPr>
          <p:spPr>
            <a:xfrm>
              <a:off x="9920427" y="3126926"/>
              <a:ext cx="756000" cy="75600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25400">
              <a:solidFill>
                <a:srgbClr val="FFAA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05C1C7DB-9BEE-C9AE-67B7-32B9C902F2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3998" y="3504927"/>
              <a:ext cx="288000" cy="0"/>
            </a:xfrm>
            <a:prstGeom prst="straightConnector1">
              <a:avLst/>
            </a:prstGeom>
            <a:ln w="25400">
              <a:solidFill>
                <a:srgbClr val="92D05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E4B67A3B-8D62-EA56-51A6-98323E59AFE0}"/>
                </a:ext>
              </a:extLst>
            </p:cNvPr>
            <p:cNvCxnSpPr/>
            <p:nvPr/>
          </p:nvCxnSpPr>
          <p:spPr>
            <a:xfrm>
              <a:off x="9794033" y="3506309"/>
              <a:ext cx="288000" cy="0"/>
            </a:xfrm>
            <a:prstGeom prst="straightConnector1">
              <a:avLst/>
            </a:prstGeom>
            <a:ln w="25400">
              <a:solidFill>
                <a:srgbClr val="92D05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CE1F7020-DBF0-7C1D-AFC0-CD0F048327E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151435" y="3084800"/>
              <a:ext cx="28800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B4ED1686-F4F9-77E3-8C84-AD5B9D2C74D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151435" y="3868983"/>
              <a:ext cx="28800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06E66B67-D835-81E2-106C-AE57D4442153}"/>
                  </a:ext>
                </a:extLst>
              </p:cNvPr>
              <p:cNvSpPr txBox="1"/>
              <p:nvPr/>
            </p:nvSpPr>
            <p:spPr>
              <a:xfrm>
                <a:off x="4062588" y="5433964"/>
                <a:ext cx="722340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1" i="1" kern="0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de-DE" sz="1200" b="0" i="1" kern="0" dirty="0"/>
                  <a:t>…	</a:t>
                </a:r>
                <a:r>
                  <a:rPr lang="de-DE" sz="1200" kern="0" dirty="0" err="1"/>
                  <a:t>square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sparse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coefficient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matrix</a:t>
                </a:r>
                <a:endParaRPr lang="de-DE" sz="1200" kern="0" dirty="0"/>
              </a:p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1" i="1" kern="0" smtClean="0"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r>
                  <a:rPr lang="de-DE" sz="1200" kern="0" dirty="0"/>
                  <a:t>… 	</a:t>
                </a:r>
                <a:r>
                  <a:rPr lang="de-DE" sz="1200" kern="0" dirty="0" err="1"/>
                  <a:t>vector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of</a:t>
                </a:r>
                <a:r>
                  <a:rPr lang="de-DE" sz="1200" kern="0" dirty="0"/>
                  <a:t> variable </a:t>
                </a:r>
                <a:r>
                  <a:rPr lang="de-DE" sz="1200" kern="0" dirty="0" err="1"/>
                  <a:t>values</a:t>
                </a:r>
                <a:r>
                  <a:rPr lang="de-DE" sz="1200" kern="0" dirty="0"/>
                  <a:t> on </a:t>
                </a:r>
                <a:r>
                  <a:rPr lang="de-DE" sz="1200" kern="0" dirty="0" err="1"/>
                  <a:t>the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grid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nodes</a:t>
                </a:r>
                <a:endParaRPr lang="de-DE" sz="1200" kern="0" dirty="0"/>
              </a:p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1" i="1" kern="0" dirty="0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de-DE" sz="1200" kern="0" dirty="0"/>
                  <a:t>…	</a:t>
                </a:r>
                <a:r>
                  <a:rPr lang="de-DE" sz="1200" kern="0" dirty="0" err="1"/>
                  <a:t>vector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containing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known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values</a:t>
                </a:r>
                <a:r>
                  <a:rPr lang="de-DE" sz="1200" kern="0" dirty="0"/>
                  <a:t>, </a:t>
                </a:r>
                <a:r>
                  <a:rPr lang="de-DE" sz="1200" kern="0" dirty="0" err="1"/>
                  <a:t>boundary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conditions</a:t>
                </a:r>
                <a:r>
                  <a:rPr lang="de-DE" sz="1200" kern="0" dirty="0"/>
                  <a:t> and </a:t>
                </a:r>
                <a:r>
                  <a:rPr lang="de-DE" sz="1200" kern="0" dirty="0" err="1"/>
                  <a:t>sources</a:t>
                </a:r>
                <a:r>
                  <a:rPr lang="de-DE" sz="1200" kern="0" dirty="0"/>
                  <a:t>/</a:t>
                </a:r>
                <a:r>
                  <a:rPr lang="de-DE" sz="1200" kern="0" dirty="0" err="1"/>
                  <a:t>sinks</a:t>
                </a:r>
                <a:endParaRPr lang="de-DE" sz="1200" kern="0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06E66B67-D835-81E2-106C-AE57D4442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588" y="5433964"/>
                <a:ext cx="7223402" cy="646331"/>
              </a:xfrm>
              <a:prstGeom prst="rect">
                <a:avLst/>
              </a:prstGeom>
              <a:blipFill>
                <a:blip r:embed="rId11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026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50675-84E6-14F3-D381-E26C5AE7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algebraic equation system</a:t>
            </a:r>
            <a:endParaRPr lang="de-DE" dirty="0"/>
          </a:p>
        </p:txBody>
      </p:sp>
      <p:pic>
        <p:nvPicPr>
          <p:cNvPr id="4" name="Inhaltsplatzhalter 6">
            <a:extLst>
              <a:ext uri="{FF2B5EF4-FFF2-40B4-BE49-F238E27FC236}">
                <a16:creationId xmlns:a16="http://schemas.microsoft.com/office/drawing/2014/main" id="{5C09FED0-F7DC-9E27-DB14-19B7F09BC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51"/>
          <a:stretch/>
        </p:blipFill>
        <p:spPr>
          <a:xfrm>
            <a:off x="3436620" y="983932"/>
            <a:ext cx="5318760" cy="5272496"/>
          </a:xfrm>
        </p:spPr>
      </p:pic>
    </p:spTree>
    <p:extLst>
      <p:ext uri="{BB962C8B-B14F-4D97-AF65-F5344CB8AC3E}">
        <p14:creationId xmlns:p14="http://schemas.microsoft.com/office/powerpoint/2010/main" val="2213930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7E16EC-5756-9172-38E3-F382F13F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algebraic equation system: 1D example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451ED157-CC59-DD93-0A18-09CAE7E4C1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799" y="1042989"/>
                <a:ext cx="10488617" cy="3283492"/>
              </a:xfrm>
            </p:spPr>
            <p:txBody>
              <a:bodyPr/>
              <a:lstStyle/>
              <a:p>
                <a:r>
                  <a:rPr lang="en-US" dirty="0"/>
                  <a:t>Suppose we have the diffusive flux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and apply a central difference scheme With BCTS, we obtain in 1D (W, P and E, only)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=0</a:t>
                </a:r>
              </a:p>
              <a:p>
                <a:r>
                  <a:rPr lang="en-US" dirty="0"/>
                  <a:t>This yields the coefficients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1+2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e-DE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/>
                  <a:t>  	to produce the matrix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451ED157-CC59-DD93-0A18-09CAE7E4C1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799" y="1042989"/>
                <a:ext cx="10488617" cy="3283492"/>
              </a:xfrm>
              <a:blipFill>
                <a:blip r:embed="rId2"/>
                <a:stretch>
                  <a:fillRect l="-1512" b="-473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DBF82C0-96DE-6623-8188-2861A7948857}"/>
              </a:ext>
            </a:extLst>
          </p:cNvPr>
          <p:cNvCxnSpPr>
            <a:cxnSpLocks/>
          </p:cNvCxnSpPr>
          <p:nvPr/>
        </p:nvCxnSpPr>
        <p:spPr>
          <a:xfrm flipH="1">
            <a:off x="8946283" y="1701791"/>
            <a:ext cx="0" cy="2305555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02EC25F-1659-45A4-0FDB-B82952E9F770}"/>
              </a:ext>
            </a:extLst>
          </p:cNvPr>
          <p:cNvCxnSpPr>
            <a:cxnSpLocks/>
          </p:cNvCxnSpPr>
          <p:nvPr/>
        </p:nvCxnSpPr>
        <p:spPr>
          <a:xfrm flipV="1">
            <a:off x="7819287" y="2883702"/>
            <a:ext cx="2279429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EC20FFA2-EBA0-030B-7E3A-BB767D3E7DA2}"/>
              </a:ext>
            </a:extLst>
          </p:cNvPr>
          <p:cNvSpPr/>
          <p:nvPr/>
        </p:nvSpPr>
        <p:spPr>
          <a:xfrm>
            <a:off x="8562023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553D772-9666-B89F-D433-956DE8F88D59}"/>
              </a:ext>
            </a:extLst>
          </p:cNvPr>
          <p:cNvSpPr/>
          <p:nvPr/>
        </p:nvSpPr>
        <p:spPr>
          <a:xfrm>
            <a:off x="9330195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310B1CD-1341-8B7E-FD0A-EA6E1F64706B}"/>
              </a:ext>
            </a:extLst>
          </p:cNvPr>
          <p:cNvSpPr/>
          <p:nvPr/>
        </p:nvSpPr>
        <p:spPr>
          <a:xfrm>
            <a:off x="7793329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726936E5-7337-7041-D0B9-D411B95F899B}"/>
              </a:ext>
            </a:extLst>
          </p:cNvPr>
          <p:cNvCxnSpPr>
            <a:cxnSpLocks/>
          </p:cNvCxnSpPr>
          <p:nvPr/>
        </p:nvCxnSpPr>
        <p:spPr>
          <a:xfrm flipH="1">
            <a:off x="9714455" y="1741801"/>
            <a:ext cx="0" cy="2305556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ACFB20A-372D-7F84-4B7A-3AE67F2399DD}"/>
              </a:ext>
            </a:extLst>
          </p:cNvPr>
          <p:cNvCxnSpPr>
            <a:cxnSpLocks/>
          </p:cNvCxnSpPr>
          <p:nvPr/>
        </p:nvCxnSpPr>
        <p:spPr>
          <a:xfrm flipH="1">
            <a:off x="8177589" y="1741800"/>
            <a:ext cx="0" cy="2305557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817AE3A-4FA0-EAE0-488A-387DDFD2CFA6}"/>
                  </a:ext>
                </a:extLst>
              </p:cNvPr>
              <p:cNvSpPr txBox="1"/>
              <p:nvPr/>
            </p:nvSpPr>
            <p:spPr>
              <a:xfrm>
                <a:off x="8909555" y="4141815"/>
                <a:ext cx="962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817AE3A-4FA0-EAE0-488A-387DDFD2C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555" y="4141815"/>
                <a:ext cx="96245" cy="184666"/>
              </a:xfrm>
              <a:prstGeom prst="rect">
                <a:avLst/>
              </a:prstGeom>
              <a:blipFill>
                <a:blip r:embed="rId3"/>
                <a:stretch>
                  <a:fillRect l="-33333" r="-33333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33600D-724B-DED4-9256-4682FD331D64}"/>
                  </a:ext>
                </a:extLst>
              </p:cNvPr>
              <p:cNvSpPr txBox="1"/>
              <p:nvPr/>
            </p:nvSpPr>
            <p:spPr>
              <a:xfrm>
                <a:off x="9571738" y="4141815"/>
                <a:ext cx="3649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33600D-724B-DED4-9256-4682FD331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738" y="4141815"/>
                <a:ext cx="364972" cy="184666"/>
              </a:xfrm>
              <a:prstGeom prst="rect">
                <a:avLst/>
              </a:prstGeom>
              <a:blipFill>
                <a:blip r:embed="rId4"/>
                <a:stretch>
                  <a:fillRect l="-6667" r="-8333" b="-96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5D5D4F3-4492-E834-E2BB-9928D6A4F22B}"/>
                  </a:ext>
                </a:extLst>
              </p:cNvPr>
              <p:cNvSpPr txBox="1"/>
              <p:nvPr/>
            </p:nvSpPr>
            <p:spPr>
              <a:xfrm>
                <a:off x="8007630" y="4141593"/>
                <a:ext cx="3649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5D5D4F3-4492-E834-E2BB-9928D6A4F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630" y="4141593"/>
                <a:ext cx="364972" cy="184666"/>
              </a:xfrm>
              <a:prstGeom prst="rect">
                <a:avLst/>
              </a:prstGeom>
              <a:blipFill>
                <a:blip r:embed="rId5"/>
                <a:stretch>
                  <a:fillRect l="-8475" r="-10169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9700B03-5D6A-7B02-3A6A-38A46737B907}"/>
                  </a:ext>
                </a:extLst>
              </p:cNvPr>
              <p:cNvSpPr txBox="1"/>
              <p:nvPr/>
            </p:nvSpPr>
            <p:spPr>
              <a:xfrm>
                <a:off x="8857180" y="1391202"/>
                <a:ext cx="184086" cy="15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9700B03-5D6A-7B02-3A6A-38A46737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180" y="1391202"/>
                <a:ext cx="184086" cy="153291"/>
              </a:xfrm>
              <a:prstGeom prst="rect">
                <a:avLst/>
              </a:prstGeom>
              <a:blipFill>
                <a:blip r:embed="rId6"/>
                <a:stretch>
                  <a:fillRect l="-33333" r="-30000" b="-5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1CF873C4-75C6-3A1E-BAED-C532BE7EB10A}"/>
              </a:ext>
            </a:extLst>
          </p:cNvPr>
          <p:cNvCxnSpPr/>
          <p:nvPr/>
        </p:nvCxnSpPr>
        <p:spPr>
          <a:xfrm>
            <a:off x="8561674" y="1604641"/>
            <a:ext cx="768435" cy="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564A17F8-5B5C-E342-53A5-544524C30BF5}"/>
              </a:ext>
            </a:extLst>
          </p:cNvPr>
          <p:cNvSpPr/>
          <p:nvPr/>
        </p:nvSpPr>
        <p:spPr>
          <a:xfrm>
            <a:off x="9330416" y="2503300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E657E50-2DF2-029C-FBB0-0E6B2C6796A0}"/>
              </a:ext>
            </a:extLst>
          </p:cNvPr>
          <p:cNvSpPr/>
          <p:nvPr/>
        </p:nvSpPr>
        <p:spPr>
          <a:xfrm>
            <a:off x="7796256" y="2503300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727E83F-3481-E725-5F22-187719C425D7}"/>
              </a:ext>
            </a:extLst>
          </p:cNvPr>
          <p:cNvSpPr/>
          <p:nvPr/>
        </p:nvSpPr>
        <p:spPr>
          <a:xfrm>
            <a:off x="8571147" y="2508837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FFAA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8275425-EE20-EEB7-1B73-D72D39C94D4D}"/>
              </a:ext>
            </a:extLst>
          </p:cNvPr>
          <p:cNvCxnSpPr>
            <a:cxnSpLocks/>
          </p:cNvCxnSpPr>
          <p:nvPr/>
        </p:nvCxnSpPr>
        <p:spPr>
          <a:xfrm flipV="1">
            <a:off x="9234718" y="2886838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38647D8-6629-B2B3-EC9C-FB9EC284F590}"/>
              </a:ext>
            </a:extLst>
          </p:cNvPr>
          <p:cNvCxnSpPr/>
          <p:nvPr/>
        </p:nvCxnSpPr>
        <p:spPr>
          <a:xfrm>
            <a:off x="8444753" y="2888220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A960629C-B24C-DD6A-2B25-77E4307F198E}"/>
                  </a:ext>
                </a:extLst>
              </p:cNvPr>
              <p:cNvSpPr txBox="1"/>
              <p:nvPr/>
            </p:nvSpPr>
            <p:spPr>
              <a:xfrm>
                <a:off x="-100643" y="5881686"/>
                <a:ext cx="343420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0" i="1" kern="0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1200" b="0" i="1" kern="0" dirty="0">
                    <a:latin typeface="Cambria Math" panose="02040503050406030204" pitchFamily="18" charset="0"/>
                  </a:rPr>
                  <a:t>…	</a:t>
                </a:r>
                <a:r>
                  <a:rPr lang="de-DE" sz="1200" kern="0" dirty="0">
                    <a:latin typeface="+mj-lt"/>
                  </a:rPr>
                  <a:t>Diffusion </a:t>
                </a:r>
                <a:r>
                  <a:rPr lang="de-DE" sz="1200" kern="0" dirty="0" err="1">
                    <a:latin typeface="+mj-lt"/>
                  </a:rPr>
                  <a:t>coefficient</a:t>
                </a:r>
                <a:endParaRPr lang="de-DE" sz="1200" kern="0" dirty="0">
                  <a:latin typeface="+mj-lt"/>
                </a:endParaRP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A960629C-B24C-DD6A-2B25-77E4307F1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0643" y="5881686"/>
                <a:ext cx="3434207" cy="276999"/>
              </a:xfrm>
              <a:prstGeom prst="rect">
                <a:avLst/>
              </a:prstGeom>
              <a:blipFill>
                <a:blip r:embed="rId7"/>
                <a:stretch>
                  <a:fillRect t="-2222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2A2EAE5-2FDF-4C26-B795-122ECE18DD2D}"/>
                  </a:ext>
                </a:extLst>
              </p:cNvPr>
              <p:cNvSpPr txBox="1"/>
              <p:nvPr/>
            </p:nvSpPr>
            <p:spPr>
              <a:xfrm>
                <a:off x="6052859" y="4495957"/>
                <a:ext cx="5216877" cy="1745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de-DE" sz="1600" i="0" dirty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2A2EAE5-2FDF-4C26-B795-122ECE18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859" y="4495957"/>
                <a:ext cx="5216877" cy="1745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59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ACFB20A-372D-7F84-4B7A-3AE67F2399DD}"/>
              </a:ext>
            </a:extLst>
          </p:cNvPr>
          <p:cNvCxnSpPr>
            <a:cxnSpLocks/>
          </p:cNvCxnSpPr>
          <p:nvPr/>
        </p:nvCxnSpPr>
        <p:spPr>
          <a:xfrm flipH="1">
            <a:off x="8177589" y="1741800"/>
            <a:ext cx="0" cy="2305557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A37E16EC-5756-9172-38E3-F382F13F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boundary conditions: Dirichlet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451ED157-CC59-DD93-0A18-09CAE7E4C1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799" y="1042989"/>
                <a:ext cx="10488617" cy="3283492"/>
              </a:xfrm>
            </p:spPr>
            <p:txBody>
              <a:bodyPr/>
              <a:lstStyle/>
              <a:p>
                <a:r>
                  <a:rPr lang="en-US" dirty="0"/>
                  <a:t>Suppose we have the diffusive flux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and apply a central difference scheme With BCTS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lang="en-US" dirty="0"/>
                  <a:t>, we obtain at the boundary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de-DE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/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=0</a:t>
                </a:r>
              </a:p>
              <a:p>
                <a:r>
                  <a:rPr lang="en-US" dirty="0"/>
                  <a:t>This yields the coefficients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1+2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e-DE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/>
                  <a:t>	to produce the matrix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451ED157-CC59-DD93-0A18-09CAE7E4C1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799" y="1042989"/>
                <a:ext cx="10488617" cy="3283492"/>
              </a:xfrm>
              <a:blipFill>
                <a:blip r:embed="rId2"/>
                <a:stretch>
                  <a:fillRect l="-1512" b="-445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DBF82C0-96DE-6623-8188-2861A7948857}"/>
              </a:ext>
            </a:extLst>
          </p:cNvPr>
          <p:cNvCxnSpPr>
            <a:cxnSpLocks/>
          </p:cNvCxnSpPr>
          <p:nvPr/>
        </p:nvCxnSpPr>
        <p:spPr>
          <a:xfrm flipH="1">
            <a:off x="8946283" y="1701791"/>
            <a:ext cx="0" cy="2305555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02EC25F-1659-45A4-0FDB-B82952E9F770}"/>
              </a:ext>
            </a:extLst>
          </p:cNvPr>
          <p:cNvCxnSpPr>
            <a:cxnSpLocks/>
          </p:cNvCxnSpPr>
          <p:nvPr/>
        </p:nvCxnSpPr>
        <p:spPr>
          <a:xfrm flipV="1">
            <a:off x="7819287" y="2883702"/>
            <a:ext cx="2279429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EC20FFA2-EBA0-030B-7E3A-BB767D3E7DA2}"/>
              </a:ext>
            </a:extLst>
          </p:cNvPr>
          <p:cNvSpPr/>
          <p:nvPr/>
        </p:nvSpPr>
        <p:spPr>
          <a:xfrm>
            <a:off x="8562023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553D772-9666-B89F-D433-956DE8F88D59}"/>
              </a:ext>
            </a:extLst>
          </p:cNvPr>
          <p:cNvSpPr/>
          <p:nvPr/>
        </p:nvSpPr>
        <p:spPr>
          <a:xfrm>
            <a:off x="9330195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310B1CD-1341-8B7E-FD0A-EA6E1F64706B}"/>
              </a:ext>
            </a:extLst>
          </p:cNvPr>
          <p:cNvSpPr/>
          <p:nvPr/>
        </p:nvSpPr>
        <p:spPr>
          <a:xfrm>
            <a:off x="7793329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726936E5-7337-7041-D0B9-D411B95F899B}"/>
              </a:ext>
            </a:extLst>
          </p:cNvPr>
          <p:cNvCxnSpPr>
            <a:cxnSpLocks/>
          </p:cNvCxnSpPr>
          <p:nvPr/>
        </p:nvCxnSpPr>
        <p:spPr>
          <a:xfrm flipH="1">
            <a:off x="9714455" y="1741801"/>
            <a:ext cx="0" cy="2305556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817AE3A-4FA0-EAE0-488A-387DDFD2CFA6}"/>
                  </a:ext>
                </a:extLst>
              </p:cNvPr>
              <p:cNvSpPr txBox="1"/>
              <p:nvPr/>
            </p:nvSpPr>
            <p:spPr>
              <a:xfrm>
                <a:off x="8757155" y="4141815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817AE3A-4FA0-EAE0-488A-387DDFD2C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155" y="4141815"/>
                <a:ext cx="378950" cy="184666"/>
              </a:xfrm>
              <a:prstGeom prst="rect">
                <a:avLst/>
              </a:prstGeom>
              <a:blipFill>
                <a:blip r:embed="rId3"/>
                <a:stretch>
                  <a:fillRect l="-9677" r="-9677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33600D-724B-DED4-9256-4682FD331D64}"/>
                  </a:ext>
                </a:extLst>
              </p:cNvPr>
              <p:cNvSpPr txBox="1"/>
              <p:nvPr/>
            </p:nvSpPr>
            <p:spPr>
              <a:xfrm>
                <a:off x="9571738" y="4141815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33600D-724B-DED4-9256-4682FD331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738" y="4141815"/>
                <a:ext cx="378950" cy="184666"/>
              </a:xfrm>
              <a:prstGeom prst="rect">
                <a:avLst/>
              </a:prstGeom>
              <a:blipFill>
                <a:blip r:embed="rId4"/>
                <a:stretch>
                  <a:fillRect l="-8065" r="-9677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5D5D4F3-4492-E834-E2BB-9928D6A4F22B}"/>
                  </a:ext>
                </a:extLst>
              </p:cNvPr>
              <p:cNvSpPr txBox="1"/>
              <p:nvPr/>
            </p:nvSpPr>
            <p:spPr>
              <a:xfrm>
                <a:off x="8007630" y="4141593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5D5D4F3-4492-E834-E2BB-9928D6A4F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630" y="4141593"/>
                <a:ext cx="378950" cy="184666"/>
              </a:xfrm>
              <a:prstGeom prst="rect">
                <a:avLst/>
              </a:prstGeom>
              <a:blipFill>
                <a:blip r:embed="rId5"/>
                <a:stretch>
                  <a:fillRect l="-9677" r="-9677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9700B03-5D6A-7B02-3A6A-38A46737B907}"/>
                  </a:ext>
                </a:extLst>
              </p:cNvPr>
              <p:cNvSpPr txBox="1"/>
              <p:nvPr/>
            </p:nvSpPr>
            <p:spPr>
              <a:xfrm>
                <a:off x="8857180" y="1391202"/>
                <a:ext cx="184086" cy="15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9700B03-5D6A-7B02-3A6A-38A46737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180" y="1391202"/>
                <a:ext cx="184086" cy="153291"/>
              </a:xfrm>
              <a:prstGeom prst="rect">
                <a:avLst/>
              </a:prstGeom>
              <a:blipFill>
                <a:blip r:embed="rId6"/>
                <a:stretch>
                  <a:fillRect l="-33333" r="-30000" b="-5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1CF873C4-75C6-3A1E-BAED-C532BE7EB10A}"/>
              </a:ext>
            </a:extLst>
          </p:cNvPr>
          <p:cNvCxnSpPr/>
          <p:nvPr/>
        </p:nvCxnSpPr>
        <p:spPr>
          <a:xfrm>
            <a:off x="8561674" y="1604641"/>
            <a:ext cx="768435" cy="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564A17F8-5B5C-E342-53A5-544524C30BF5}"/>
              </a:ext>
            </a:extLst>
          </p:cNvPr>
          <p:cNvSpPr/>
          <p:nvPr/>
        </p:nvSpPr>
        <p:spPr>
          <a:xfrm>
            <a:off x="9330416" y="2503300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E657E50-2DF2-029C-FBB0-0E6B2C6796A0}"/>
              </a:ext>
            </a:extLst>
          </p:cNvPr>
          <p:cNvSpPr/>
          <p:nvPr/>
        </p:nvSpPr>
        <p:spPr>
          <a:xfrm>
            <a:off x="7796256" y="2503300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727E83F-3481-E725-5F22-187719C425D7}"/>
              </a:ext>
            </a:extLst>
          </p:cNvPr>
          <p:cNvSpPr/>
          <p:nvPr/>
        </p:nvSpPr>
        <p:spPr>
          <a:xfrm>
            <a:off x="8571147" y="2508837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FFAA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8275425-EE20-EEB7-1B73-D72D39C94D4D}"/>
              </a:ext>
            </a:extLst>
          </p:cNvPr>
          <p:cNvCxnSpPr>
            <a:cxnSpLocks/>
          </p:cNvCxnSpPr>
          <p:nvPr/>
        </p:nvCxnSpPr>
        <p:spPr>
          <a:xfrm flipV="1">
            <a:off x="9234718" y="2886838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38647D8-6629-B2B3-EC9C-FB9EC284F590}"/>
              </a:ext>
            </a:extLst>
          </p:cNvPr>
          <p:cNvCxnSpPr/>
          <p:nvPr/>
        </p:nvCxnSpPr>
        <p:spPr>
          <a:xfrm>
            <a:off x="8444753" y="2888220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A960629C-B24C-DD6A-2B25-77E4307F198E}"/>
                  </a:ext>
                </a:extLst>
              </p:cNvPr>
              <p:cNvSpPr txBox="1"/>
              <p:nvPr/>
            </p:nvSpPr>
            <p:spPr>
              <a:xfrm>
                <a:off x="-100643" y="5881686"/>
                <a:ext cx="343420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0" i="1" kern="0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1200" b="0" i="1" kern="0" dirty="0">
                    <a:latin typeface="Cambria Math" panose="02040503050406030204" pitchFamily="18" charset="0"/>
                  </a:rPr>
                  <a:t>…	</a:t>
                </a:r>
                <a:r>
                  <a:rPr lang="de-DE" sz="1200" kern="0" dirty="0">
                    <a:latin typeface="+mj-lt"/>
                  </a:rPr>
                  <a:t>Diffusion </a:t>
                </a:r>
                <a:r>
                  <a:rPr lang="de-DE" sz="1200" kern="0" dirty="0" err="1">
                    <a:latin typeface="+mj-lt"/>
                  </a:rPr>
                  <a:t>coefficient</a:t>
                </a:r>
                <a:endParaRPr lang="de-DE" sz="1200" kern="0" dirty="0">
                  <a:latin typeface="+mj-lt"/>
                </a:endParaRP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A960629C-B24C-DD6A-2B25-77E4307F1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0643" y="5881686"/>
                <a:ext cx="3434207" cy="276999"/>
              </a:xfrm>
              <a:prstGeom prst="rect">
                <a:avLst/>
              </a:prstGeom>
              <a:blipFill>
                <a:blip r:embed="rId7"/>
                <a:stretch>
                  <a:fillRect t="-2222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2A2EAE5-2FDF-4C26-B795-122ECE18DD2D}"/>
                  </a:ext>
                </a:extLst>
              </p:cNvPr>
              <p:cNvSpPr txBox="1"/>
              <p:nvPr/>
            </p:nvSpPr>
            <p:spPr>
              <a:xfrm>
                <a:off x="6052859" y="4495957"/>
                <a:ext cx="5262466" cy="18065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de-DE" sz="1600" i="0" dirty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2A2EAE5-2FDF-4C26-B795-122ECE18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859" y="4495957"/>
                <a:ext cx="5262466" cy="1806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611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451ED157-CC59-DD93-0A18-09CAE7E4C1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799" y="1042989"/>
                <a:ext cx="10488617" cy="3283492"/>
              </a:xfrm>
            </p:spPr>
            <p:txBody>
              <a:bodyPr/>
              <a:lstStyle/>
              <a:p>
                <a:r>
                  <a:rPr lang="en-US" dirty="0"/>
                  <a:t>Suppose we have the diffusive flux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and apply a central difference scheme With BCTS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num>
                      <m:den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, we obtain at the boundary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de-DE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𝑐𝑜𝑛𝑠𝑡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=0</a:t>
                </a:r>
              </a:p>
              <a:p>
                <a:r>
                  <a:rPr lang="en-US" dirty="0"/>
                  <a:t>This yields the coefficients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1+2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e-DE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=−2</m:t>
                    </m:r>
                    <m:f>
                      <m:fPr>
                        <m:ctrlP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f>
                      <m:f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/>
                        </m:sSup>
                      </m:den>
                    </m:f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	to produce the matrix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451ED157-CC59-DD93-0A18-09CAE7E4C1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799" y="1042989"/>
                <a:ext cx="10488617" cy="3283492"/>
              </a:xfrm>
              <a:blipFill>
                <a:blip r:embed="rId2"/>
                <a:stretch>
                  <a:fillRect l="-1512" b="-543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ACFB20A-372D-7F84-4B7A-3AE67F2399DD}"/>
              </a:ext>
            </a:extLst>
          </p:cNvPr>
          <p:cNvCxnSpPr>
            <a:cxnSpLocks/>
          </p:cNvCxnSpPr>
          <p:nvPr/>
        </p:nvCxnSpPr>
        <p:spPr>
          <a:xfrm flipH="1">
            <a:off x="8953445" y="1741800"/>
            <a:ext cx="0" cy="2305557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A37E16EC-5756-9172-38E3-F382F13F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boundary conditions: Neumann</a:t>
            </a:r>
            <a:endParaRPr lang="de-DE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DBF82C0-96DE-6623-8188-2861A7948857}"/>
              </a:ext>
            </a:extLst>
          </p:cNvPr>
          <p:cNvCxnSpPr>
            <a:cxnSpLocks/>
          </p:cNvCxnSpPr>
          <p:nvPr/>
        </p:nvCxnSpPr>
        <p:spPr>
          <a:xfrm flipH="1">
            <a:off x="8170427" y="1701791"/>
            <a:ext cx="0" cy="2305555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02EC25F-1659-45A4-0FDB-B82952E9F770}"/>
              </a:ext>
            </a:extLst>
          </p:cNvPr>
          <p:cNvCxnSpPr>
            <a:cxnSpLocks/>
          </p:cNvCxnSpPr>
          <p:nvPr/>
        </p:nvCxnSpPr>
        <p:spPr>
          <a:xfrm flipV="1">
            <a:off x="7819287" y="2883702"/>
            <a:ext cx="2279429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EC20FFA2-EBA0-030B-7E3A-BB767D3E7DA2}"/>
              </a:ext>
            </a:extLst>
          </p:cNvPr>
          <p:cNvSpPr/>
          <p:nvPr/>
        </p:nvSpPr>
        <p:spPr>
          <a:xfrm>
            <a:off x="8562023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553D772-9666-B89F-D433-956DE8F88D59}"/>
              </a:ext>
            </a:extLst>
          </p:cNvPr>
          <p:cNvSpPr/>
          <p:nvPr/>
        </p:nvSpPr>
        <p:spPr>
          <a:xfrm>
            <a:off x="9330195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310B1CD-1341-8B7E-FD0A-EA6E1F64706B}"/>
              </a:ext>
            </a:extLst>
          </p:cNvPr>
          <p:cNvSpPr/>
          <p:nvPr/>
        </p:nvSpPr>
        <p:spPr>
          <a:xfrm>
            <a:off x="7793329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726936E5-7337-7041-D0B9-D411B95F899B}"/>
              </a:ext>
            </a:extLst>
          </p:cNvPr>
          <p:cNvCxnSpPr>
            <a:cxnSpLocks/>
          </p:cNvCxnSpPr>
          <p:nvPr/>
        </p:nvCxnSpPr>
        <p:spPr>
          <a:xfrm flipH="1">
            <a:off x="9714455" y="1741801"/>
            <a:ext cx="0" cy="2305556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817AE3A-4FA0-EAE0-488A-387DDFD2CFA6}"/>
                  </a:ext>
                </a:extLst>
              </p:cNvPr>
              <p:cNvSpPr txBox="1"/>
              <p:nvPr/>
            </p:nvSpPr>
            <p:spPr>
              <a:xfrm>
                <a:off x="8757155" y="4141815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817AE3A-4FA0-EAE0-488A-387DDFD2C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155" y="4141815"/>
                <a:ext cx="378950" cy="184666"/>
              </a:xfrm>
              <a:prstGeom prst="rect">
                <a:avLst/>
              </a:prstGeom>
              <a:blipFill>
                <a:blip r:embed="rId3"/>
                <a:stretch>
                  <a:fillRect l="-9677" r="-9677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33600D-724B-DED4-9256-4682FD331D64}"/>
                  </a:ext>
                </a:extLst>
              </p:cNvPr>
              <p:cNvSpPr txBox="1"/>
              <p:nvPr/>
            </p:nvSpPr>
            <p:spPr>
              <a:xfrm>
                <a:off x="9571738" y="4141815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33600D-724B-DED4-9256-4682FD331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738" y="4141815"/>
                <a:ext cx="378950" cy="184666"/>
              </a:xfrm>
              <a:prstGeom prst="rect">
                <a:avLst/>
              </a:prstGeom>
              <a:blipFill>
                <a:blip r:embed="rId4"/>
                <a:stretch>
                  <a:fillRect l="-8065" r="-9677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5D5D4F3-4492-E834-E2BB-9928D6A4F22B}"/>
                  </a:ext>
                </a:extLst>
              </p:cNvPr>
              <p:cNvSpPr txBox="1"/>
              <p:nvPr/>
            </p:nvSpPr>
            <p:spPr>
              <a:xfrm>
                <a:off x="8007630" y="4141593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5D5D4F3-4492-E834-E2BB-9928D6A4F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630" y="4141593"/>
                <a:ext cx="378950" cy="184666"/>
              </a:xfrm>
              <a:prstGeom prst="rect">
                <a:avLst/>
              </a:prstGeom>
              <a:blipFill>
                <a:blip r:embed="rId5"/>
                <a:stretch>
                  <a:fillRect l="-9677" r="-9677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9700B03-5D6A-7B02-3A6A-38A46737B907}"/>
                  </a:ext>
                </a:extLst>
              </p:cNvPr>
              <p:cNvSpPr txBox="1"/>
              <p:nvPr/>
            </p:nvSpPr>
            <p:spPr>
              <a:xfrm>
                <a:off x="8857180" y="1391202"/>
                <a:ext cx="184086" cy="15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9700B03-5D6A-7B02-3A6A-38A46737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180" y="1391202"/>
                <a:ext cx="184086" cy="153291"/>
              </a:xfrm>
              <a:prstGeom prst="rect">
                <a:avLst/>
              </a:prstGeom>
              <a:blipFill>
                <a:blip r:embed="rId6"/>
                <a:stretch>
                  <a:fillRect l="-33333" r="-30000" b="-5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1CF873C4-75C6-3A1E-BAED-C532BE7EB10A}"/>
              </a:ext>
            </a:extLst>
          </p:cNvPr>
          <p:cNvCxnSpPr/>
          <p:nvPr/>
        </p:nvCxnSpPr>
        <p:spPr>
          <a:xfrm>
            <a:off x="8561674" y="1604641"/>
            <a:ext cx="768435" cy="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564A17F8-5B5C-E342-53A5-544524C30BF5}"/>
              </a:ext>
            </a:extLst>
          </p:cNvPr>
          <p:cNvSpPr/>
          <p:nvPr/>
        </p:nvSpPr>
        <p:spPr>
          <a:xfrm>
            <a:off x="9330416" y="2503300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E657E50-2DF2-029C-FBB0-0E6B2C6796A0}"/>
              </a:ext>
            </a:extLst>
          </p:cNvPr>
          <p:cNvSpPr/>
          <p:nvPr/>
        </p:nvSpPr>
        <p:spPr>
          <a:xfrm>
            <a:off x="7796256" y="2503300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727E83F-3481-E725-5F22-187719C425D7}"/>
              </a:ext>
            </a:extLst>
          </p:cNvPr>
          <p:cNvSpPr/>
          <p:nvPr/>
        </p:nvSpPr>
        <p:spPr>
          <a:xfrm>
            <a:off x="8571147" y="2508837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FFAA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8275425-EE20-EEB7-1B73-D72D39C94D4D}"/>
              </a:ext>
            </a:extLst>
          </p:cNvPr>
          <p:cNvCxnSpPr>
            <a:cxnSpLocks/>
          </p:cNvCxnSpPr>
          <p:nvPr/>
        </p:nvCxnSpPr>
        <p:spPr>
          <a:xfrm flipV="1">
            <a:off x="9234718" y="2886838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38647D8-6629-B2B3-EC9C-FB9EC284F590}"/>
              </a:ext>
            </a:extLst>
          </p:cNvPr>
          <p:cNvCxnSpPr/>
          <p:nvPr/>
        </p:nvCxnSpPr>
        <p:spPr>
          <a:xfrm>
            <a:off x="8444753" y="2888220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2A2EAE5-2FDF-4C26-B795-122ECE18DD2D}"/>
                  </a:ext>
                </a:extLst>
              </p:cNvPr>
              <p:cNvSpPr txBox="1"/>
              <p:nvPr/>
            </p:nvSpPr>
            <p:spPr>
              <a:xfrm>
                <a:off x="6052859" y="4495957"/>
                <a:ext cx="5262466" cy="18065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de-DE" sz="1600" i="0" dirty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2A2EAE5-2FDF-4C26-B795-122ECE18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859" y="4495957"/>
                <a:ext cx="5262466" cy="1806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792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451ED157-CC59-DD93-0A18-09CAE7E4C1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799" y="1042989"/>
                <a:ext cx="10488617" cy="3283492"/>
              </a:xfrm>
            </p:spPr>
            <p:txBody>
              <a:bodyPr/>
              <a:lstStyle/>
              <a:p>
                <a:r>
                  <a:rPr lang="en-US" dirty="0"/>
                  <a:t>Suppose we have the diffusive flux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𝜕𝜙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and apply a central difference scheme With BCTS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</m:oMath>
                </a14:m>
                <a:r>
                  <a:rPr lang="en-US" dirty="0"/>
                  <a:t>, we obtain at the boundary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=0</a:t>
                </a:r>
              </a:p>
              <a:p>
                <a:r>
                  <a:rPr lang="en-US" dirty="0"/>
                  <a:t>This yields the coefficients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1+2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e-DE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/>
                  <a:t>		to produce the matrix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451ED157-CC59-DD93-0A18-09CAE7E4C1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799" y="1042989"/>
                <a:ext cx="10488617" cy="3283492"/>
              </a:xfrm>
              <a:blipFill>
                <a:blip r:embed="rId2"/>
                <a:stretch>
                  <a:fillRect l="-1512" b="-473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hteck 27">
            <a:extLst>
              <a:ext uri="{FF2B5EF4-FFF2-40B4-BE49-F238E27FC236}">
                <a16:creationId xmlns:a16="http://schemas.microsoft.com/office/drawing/2014/main" id="{3F7FA49F-F5C2-F9C0-FC91-F937C7445ADC}"/>
              </a:ext>
            </a:extLst>
          </p:cNvPr>
          <p:cNvSpPr/>
          <p:nvPr/>
        </p:nvSpPr>
        <p:spPr>
          <a:xfrm>
            <a:off x="10877235" y="2501909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FFAA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0B23079-C59C-5EA6-102E-25F586743C47}"/>
              </a:ext>
            </a:extLst>
          </p:cNvPr>
          <p:cNvCxnSpPr>
            <a:cxnSpLocks/>
          </p:cNvCxnSpPr>
          <p:nvPr/>
        </p:nvCxnSpPr>
        <p:spPr>
          <a:xfrm flipV="1">
            <a:off x="11540806" y="2879910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BCC76BB1-82F0-51B0-B229-4060FD8CBF9C}"/>
              </a:ext>
            </a:extLst>
          </p:cNvPr>
          <p:cNvCxnSpPr>
            <a:cxnSpLocks/>
          </p:cNvCxnSpPr>
          <p:nvPr/>
        </p:nvCxnSpPr>
        <p:spPr>
          <a:xfrm flipH="1">
            <a:off x="10505153" y="1734872"/>
            <a:ext cx="0" cy="2305557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FFADD6FF-0365-F7B9-D88F-E0A2F5C0EA8C}"/>
              </a:ext>
            </a:extLst>
          </p:cNvPr>
          <p:cNvSpPr/>
          <p:nvPr/>
        </p:nvSpPr>
        <p:spPr>
          <a:xfrm>
            <a:off x="10107656" y="2510920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E10F5ACD-4A1F-A4D0-D488-B62E3AA1F050}"/>
              </a:ext>
            </a:extLst>
          </p:cNvPr>
          <p:cNvCxnSpPr/>
          <p:nvPr/>
        </p:nvCxnSpPr>
        <p:spPr>
          <a:xfrm>
            <a:off x="10773701" y="2888912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ACFB20A-372D-7F84-4B7A-3AE67F2399DD}"/>
              </a:ext>
            </a:extLst>
          </p:cNvPr>
          <p:cNvCxnSpPr>
            <a:cxnSpLocks/>
          </p:cNvCxnSpPr>
          <p:nvPr/>
        </p:nvCxnSpPr>
        <p:spPr>
          <a:xfrm flipH="1">
            <a:off x="8953445" y="1741800"/>
            <a:ext cx="0" cy="2305557"/>
          </a:xfrm>
          <a:prstGeom prst="line">
            <a:avLst/>
          </a:prstGeom>
          <a:ln w="44450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A37E16EC-5756-9172-38E3-F382F13F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boundary conditions: Periodic</a:t>
            </a:r>
            <a:endParaRPr lang="de-DE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DBF82C0-96DE-6623-8188-2861A7948857}"/>
              </a:ext>
            </a:extLst>
          </p:cNvPr>
          <p:cNvCxnSpPr>
            <a:cxnSpLocks/>
          </p:cNvCxnSpPr>
          <p:nvPr/>
        </p:nvCxnSpPr>
        <p:spPr>
          <a:xfrm flipH="1">
            <a:off x="8170427" y="1701791"/>
            <a:ext cx="0" cy="2305555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02EC25F-1659-45A4-0FDB-B82952E9F770}"/>
              </a:ext>
            </a:extLst>
          </p:cNvPr>
          <p:cNvCxnSpPr>
            <a:cxnSpLocks/>
          </p:cNvCxnSpPr>
          <p:nvPr/>
        </p:nvCxnSpPr>
        <p:spPr>
          <a:xfrm flipV="1">
            <a:off x="7819287" y="2883702"/>
            <a:ext cx="2279429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EC20FFA2-EBA0-030B-7E3A-BB767D3E7DA2}"/>
              </a:ext>
            </a:extLst>
          </p:cNvPr>
          <p:cNvSpPr/>
          <p:nvPr/>
        </p:nvSpPr>
        <p:spPr>
          <a:xfrm>
            <a:off x="8562023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553D772-9666-B89F-D433-956DE8F88D59}"/>
              </a:ext>
            </a:extLst>
          </p:cNvPr>
          <p:cNvSpPr/>
          <p:nvPr/>
        </p:nvSpPr>
        <p:spPr>
          <a:xfrm>
            <a:off x="9330195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310B1CD-1341-8B7E-FD0A-EA6E1F64706B}"/>
              </a:ext>
            </a:extLst>
          </p:cNvPr>
          <p:cNvSpPr/>
          <p:nvPr/>
        </p:nvSpPr>
        <p:spPr>
          <a:xfrm>
            <a:off x="7793329" y="2510320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726936E5-7337-7041-D0B9-D411B95F899B}"/>
              </a:ext>
            </a:extLst>
          </p:cNvPr>
          <p:cNvCxnSpPr>
            <a:cxnSpLocks/>
          </p:cNvCxnSpPr>
          <p:nvPr/>
        </p:nvCxnSpPr>
        <p:spPr>
          <a:xfrm flipH="1">
            <a:off x="9714455" y="1741801"/>
            <a:ext cx="0" cy="2305556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817AE3A-4FA0-EAE0-488A-387DDFD2CFA6}"/>
                  </a:ext>
                </a:extLst>
              </p:cNvPr>
              <p:cNvSpPr txBox="1"/>
              <p:nvPr/>
            </p:nvSpPr>
            <p:spPr>
              <a:xfrm>
                <a:off x="8757155" y="4141815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817AE3A-4FA0-EAE0-488A-387DDFD2C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155" y="4141815"/>
                <a:ext cx="378950" cy="184666"/>
              </a:xfrm>
              <a:prstGeom prst="rect">
                <a:avLst/>
              </a:prstGeom>
              <a:blipFill>
                <a:blip r:embed="rId3"/>
                <a:stretch>
                  <a:fillRect l="-9677" r="-9677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33600D-724B-DED4-9256-4682FD331D64}"/>
                  </a:ext>
                </a:extLst>
              </p:cNvPr>
              <p:cNvSpPr txBox="1"/>
              <p:nvPr/>
            </p:nvSpPr>
            <p:spPr>
              <a:xfrm>
                <a:off x="9571738" y="4141815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33600D-724B-DED4-9256-4682FD331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738" y="4141815"/>
                <a:ext cx="378950" cy="184666"/>
              </a:xfrm>
              <a:prstGeom prst="rect">
                <a:avLst/>
              </a:prstGeom>
              <a:blipFill>
                <a:blip r:embed="rId4"/>
                <a:stretch>
                  <a:fillRect l="-8065" r="-9677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5D5D4F3-4492-E834-E2BB-9928D6A4F22B}"/>
                  </a:ext>
                </a:extLst>
              </p:cNvPr>
              <p:cNvSpPr txBox="1"/>
              <p:nvPr/>
            </p:nvSpPr>
            <p:spPr>
              <a:xfrm>
                <a:off x="8007630" y="4141593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5D5D4F3-4492-E834-E2BB-9928D6A4F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630" y="4141593"/>
                <a:ext cx="378950" cy="184666"/>
              </a:xfrm>
              <a:prstGeom prst="rect">
                <a:avLst/>
              </a:prstGeom>
              <a:blipFill>
                <a:blip r:embed="rId5"/>
                <a:stretch>
                  <a:fillRect l="-9677" r="-9677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9700B03-5D6A-7B02-3A6A-38A46737B907}"/>
                  </a:ext>
                </a:extLst>
              </p:cNvPr>
              <p:cNvSpPr txBox="1"/>
              <p:nvPr/>
            </p:nvSpPr>
            <p:spPr>
              <a:xfrm>
                <a:off x="8857180" y="1391202"/>
                <a:ext cx="184086" cy="15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9700B03-5D6A-7B02-3A6A-38A46737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180" y="1391202"/>
                <a:ext cx="184086" cy="153291"/>
              </a:xfrm>
              <a:prstGeom prst="rect">
                <a:avLst/>
              </a:prstGeom>
              <a:blipFill>
                <a:blip r:embed="rId6"/>
                <a:stretch>
                  <a:fillRect l="-33333" r="-30000" b="-5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1CF873C4-75C6-3A1E-BAED-C532BE7EB10A}"/>
              </a:ext>
            </a:extLst>
          </p:cNvPr>
          <p:cNvCxnSpPr/>
          <p:nvPr/>
        </p:nvCxnSpPr>
        <p:spPr>
          <a:xfrm>
            <a:off x="8561674" y="1604641"/>
            <a:ext cx="768435" cy="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564A17F8-5B5C-E342-53A5-544524C30BF5}"/>
              </a:ext>
            </a:extLst>
          </p:cNvPr>
          <p:cNvSpPr/>
          <p:nvPr/>
        </p:nvSpPr>
        <p:spPr>
          <a:xfrm>
            <a:off x="9330416" y="2503300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E657E50-2DF2-029C-FBB0-0E6B2C6796A0}"/>
              </a:ext>
            </a:extLst>
          </p:cNvPr>
          <p:cNvSpPr/>
          <p:nvPr/>
        </p:nvSpPr>
        <p:spPr>
          <a:xfrm>
            <a:off x="7796256" y="2503300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727E83F-3481-E725-5F22-187719C425D7}"/>
              </a:ext>
            </a:extLst>
          </p:cNvPr>
          <p:cNvSpPr/>
          <p:nvPr/>
        </p:nvSpPr>
        <p:spPr>
          <a:xfrm>
            <a:off x="8571147" y="2508837"/>
            <a:ext cx="756000" cy="75600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>
            <a:solidFill>
              <a:srgbClr val="FFAA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8275425-EE20-EEB7-1B73-D72D39C94D4D}"/>
              </a:ext>
            </a:extLst>
          </p:cNvPr>
          <p:cNvCxnSpPr>
            <a:cxnSpLocks/>
          </p:cNvCxnSpPr>
          <p:nvPr/>
        </p:nvCxnSpPr>
        <p:spPr>
          <a:xfrm flipV="1">
            <a:off x="9234718" y="2886838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38647D8-6629-B2B3-EC9C-FB9EC284F590}"/>
              </a:ext>
            </a:extLst>
          </p:cNvPr>
          <p:cNvCxnSpPr/>
          <p:nvPr/>
        </p:nvCxnSpPr>
        <p:spPr>
          <a:xfrm>
            <a:off x="8444753" y="2888220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2A2EAE5-2FDF-4C26-B795-122ECE18DD2D}"/>
                  </a:ext>
                </a:extLst>
              </p:cNvPr>
              <p:cNvSpPr txBox="1"/>
              <p:nvPr/>
            </p:nvSpPr>
            <p:spPr>
              <a:xfrm>
                <a:off x="6052859" y="4495957"/>
                <a:ext cx="5474319" cy="18390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de-DE" sz="1600" i="0" dirty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e-DE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2A2EAE5-2FDF-4C26-B795-122ECE18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859" y="4495957"/>
                <a:ext cx="5474319" cy="18390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4B62F84B-553D-C341-209A-08903B9581EB}"/>
                  </a:ext>
                </a:extLst>
              </p:cNvPr>
              <p:cNvSpPr txBox="1"/>
              <p:nvPr/>
            </p:nvSpPr>
            <p:spPr>
              <a:xfrm>
                <a:off x="10308863" y="4134887"/>
                <a:ext cx="38478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4B62F84B-553D-C341-209A-08903B958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8863" y="4134887"/>
                <a:ext cx="384784" cy="184666"/>
              </a:xfrm>
              <a:prstGeom prst="rect">
                <a:avLst/>
              </a:prstGeom>
              <a:blipFill>
                <a:blip r:embed="rId8"/>
                <a:stretch>
                  <a:fillRect l="-6349" r="-4762"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61B5B06-6A56-4F97-FB90-01D1B7AB0EC9}"/>
              </a:ext>
            </a:extLst>
          </p:cNvPr>
          <p:cNvCxnSpPr/>
          <p:nvPr/>
        </p:nvCxnSpPr>
        <p:spPr>
          <a:xfrm>
            <a:off x="9996461" y="2881292"/>
            <a:ext cx="288000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509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D6D2F-6BEC-E256-ECC9-3E341E70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and solving the algebraic equation system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From finite difference or finite volume, we obtain:</a:t>
                </a: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𝑙𝑜𝑐𝑎𝑙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</m:lim>
                    </m:limLow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𝑒𝑥𝑐h𝑎𝑛𝑔𝑒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𝑤𝑖𝑡h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𝑛𝑒𝑖𝑔h𝑏𝑜𝑢𝑟𝑖𝑛𝑔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𝑐𝑒𝑙𝑙𝑠</m:t>
                        </m:r>
                      </m:lim>
                    </m:limLow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𝐾𝑛𝑜𝑤𝑛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𝑣𝑎𝑙𝑢𝑒𝑠</m:t>
                        </m:r>
                      </m:lim>
                    </m:limLow>
                  </m:oMath>
                </a14:m>
                <a:r>
                  <a:rPr lang="de-DE" dirty="0"/>
                  <a:t> </a:t>
                </a:r>
              </a:p>
              <a:p>
                <a:r>
                  <a:rPr lang="en-US" dirty="0"/>
                  <a:t>which can be rewritten in the general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  <a:blipFill>
                <a:blip r:embed="rId2"/>
                <a:stretch>
                  <a:fillRect l="-1820" t="-18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29D8D109-5998-DF41-5647-3889C3EF79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2" t="25239" r="9483" b="34416"/>
          <a:stretch/>
        </p:blipFill>
        <p:spPr>
          <a:xfrm rot="60000">
            <a:off x="602254" y="3235030"/>
            <a:ext cx="3574980" cy="289679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E91BF6C-E235-0A7D-109B-294F8D20CAD9}"/>
              </a:ext>
            </a:extLst>
          </p:cNvPr>
          <p:cNvSpPr txBox="1"/>
          <p:nvPr/>
        </p:nvSpPr>
        <p:spPr>
          <a:xfrm>
            <a:off x="4072741" y="5896626"/>
            <a:ext cx="45758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Algebraic equation system for a 5x5 grid (</a:t>
            </a:r>
            <a:r>
              <a:rPr lang="en-US" sz="1000" dirty="0" err="1"/>
              <a:t>Ferziger</a:t>
            </a:r>
            <a:r>
              <a:rPr lang="en-US" sz="1000" dirty="0"/>
              <a:t> &amp; </a:t>
            </a:r>
            <a:r>
              <a:rPr lang="en-US" sz="1000" dirty="0" err="1"/>
              <a:t>Peric</a:t>
            </a:r>
            <a:r>
              <a:rPr lang="en-US" sz="1000" dirty="0"/>
              <a:t>, 2002)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D7C8978-8CC0-EB33-5BC7-ADDD30810B1B}"/>
              </a:ext>
            </a:extLst>
          </p:cNvPr>
          <p:cNvGrpSpPr>
            <a:grpSpLocks noChangeAspect="1"/>
          </p:cNvGrpSpPr>
          <p:nvPr/>
        </p:nvGrpSpPr>
        <p:grpSpPr>
          <a:xfrm>
            <a:off x="7863700" y="1679197"/>
            <a:ext cx="3275864" cy="3276000"/>
            <a:chOff x="1230490" y="1534692"/>
            <a:chExt cx="3840252" cy="3840418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C79FCC2A-F123-326D-B510-53BFF712DE4F}"/>
                </a:ext>
              </a:extLst>
            </p:cNvPr>
            <p:cNvSpPr/>
            <p:nvPr/>
          </p:nvSpPr>
          <p:spPr>
            <a:xfrm>
              <a:off x="1999096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EC396375-AF33-4233-FCFF-0683D40F17A1}"/>
                </a:ext>
              </a:extLst>
            </p:cNvPr>
            <p:cNvSpPr/>
            <p:nvPr/>
          </p:nvSpPr>
          <p:spPr>
            <a:xfrm>
              <a:off x="2766834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F83F861-5526-F1F1-DDCF-8C4459E1DE59}"/>
                </a:ext>
              </a:extLst>
            </p:cNvPr>
            <p:cNvSpPr/>
            <p:nvPr/>
          </p:nvSpPr>
          <p:spPr>
            <a:xfrm>
              <a:off x="1999096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5CB99B5D-42F8-4277-F091-3FC3677D2AC8}"/>
                </a:ext>
              </a:extLst>
            </p:cNvPr>
            <p:cNvSpPr/>
            <p:nvPr/>
          </p:nvSpPr>
          <p:spPr>
            <a:xfrm>
              <a:off x="2766834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1309AFF-FC53-3203-3640-CBB1B2A2B2A8}"/>
                </a:ext>
              </a:extLst>
            </p:cNvPr>
            <p:cNvSpPr/>
            <p:nvPr/>
          </p:nvSpPr>
          <p:spPr>
            <a:xfrm>
              <a:off x="1999096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4F3AC3F-00A2-533D-B6C7-A9432CDBF6F7}"/>
                </a:ext>
              </a:extLst>
            </p:cNvPr>
            <p:cNvSpPr/>
            <p:nvPr/>
          </p:nvSpPr>
          <p:spPr>
            <a:xfrm>
              <a:off x="2766834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2943BAAA-8F1B-F2AA-1420-AC73561FD853}"/>
                </a:ext>
              </a:extLst>
            </p:cNvPr>
            <p:cNvSpPr/>
            <p:nvPr/>
          </p:nvSpPr>
          <p:spPr>
            <a:xfrm>
              <a:off x="123083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236CC3FF-2242-632A-5FE2-1D0892BFB6B9}"/>
                </a:ext>
              </a:extLst>
            </p:cNvPr>
            <p:cNvSpPr/>
            <p:nvPr/>
          </p:nvSpPr>
          <p:spPr>
            <a:xfrm>
              <a:off x="123083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17773E7-A9E8-C621-E5FF-2ECE19287FE0}"/>
                </a:ext>
              </a:extLst>
            </p:cNvPr>
            <p:cNvSpPr/>
            <p:nvPr/>
          </p:nvSpPr>
          <p:spPr>
            <a:xfrm>
              <a:off x="123083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C77E57B-1C2C-B0CE-B866-20B213C44F7E}"/>
                </a:ext>
              </a:extLst>
            </p:cNvPr>
            <p:cNvSpPr/>
            <p:nvPr/>
          </p:nvSpPr>
          <p:spPr>
            <a:xfrm>
              <a:off x="3534919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BBE89956-5FFA-1F4D-404C-13256F6FED69}"/>
                </a:ext>
              </a:extLst>
            </p:cNvPr>
            <p:cNvSpPr/>
            <p:nvPr/>
          </p:nvSpPr>
          <p:spPr>
            <a:xfrm>
              <a:off x="430265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F27413E3-CA33-3D6C-2425-BF6F6586C7C9}"/>
                </a:ext>
              </a:extLst>
            </p:cNvPr>
            <p:cNvSpPr/>
            <p:nvPr/>
          </p:nvSpPr>
          <p:spPr>
            <a:xfrm>
              <a:off x="3534919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6AC75C9A-93FC-B1BC-CD48-7A6412184596}"/>
                </a:ext>
              </a:extLst>
            </p:cNvPr>
            <p:cNvSpPr/>
            <p:nvPr/>
          </p:nvSpPr>
          <p:spPr>
            <a:xfrm>
              <a:off x="430265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4C65D1FC-833D-4893-FF29-76ACEA831AD4}"/>
                </a:ext>
              </a:extLst>
            </p:cNvPr>
            <p:cNvSpPr/>
            <p:nvPr/>
          </p:nvSpPr>
          <p:spPr>
            <a:xfrm>
              <a:off x="3534919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460B96F5-C712-FB83-184A-5807970267A5}"/>
                </a:ext>
              </a:extLst>
            </p:cNvPr>
            <p:cNvSpPr/>
            <p:nvPr/>
          </p:nvSpPr>
          <p:spPr>
            <a:xfrm>
              <a:off x="430265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3173DC6F-8393-2A5B-3CD9-BCB18B7E2641}"/>
                </a:ext>
              </a:extLst>
            </p:cNvPr>
            <p:cNvSpPr/>
            <p:nvPr/>
          </p:nvSpPr>
          <p:spPr>
            <a:xfrm>
              <a:off x="1998749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6F7870FA-233C-0437-A236-3C0A151ADBA0}"/>
                </a:ext>
              </a:extLst>
            </p:cNvPr>
            <p:cNvSpPr/>
            <p:nvPr/>
          </p:nvSpPr>
          <p:spPr>
            <a:xfrm>
              <a:off x="2766487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1A6EE818-609B-489D-20CD-264C7C463791}"/>
                </a:ext>
              </a:extLst>
            </p:cNvPr>
            <p:cNvSpPr/>
            <p:nvPr/>
          </p:nvSpPr>
          <p:spPr>
            <a:xfrm>
              <a:off x="1998749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3AACCACA-22DC-6D31-4F1D-95E292111952}"/>
                </a:ext>
              </a:extLst>
            </p:cNvPr>
            <p:cNvSpPr/>
            <p:nvPr/>
          </p:nvSpPr>
          <p:spPr>
            <a:xfrm>
              <a:off x="2766487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D74BDB3A-7403-0B3E-4637-AFBBC665429C}"/>
                </a:ext>
              </a:extLst>
            </p:cNvPr>
            <p:cNvSpPr/>
            <p:nvPr/>
          </p:nvSpPr>
          <p:spPr>
            <a:xfrm>
              <a:off x="123049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05AD4EB1-D71E-FD0B-03C9-5E7959DD3CD7}"/>
                </a:ext>
              </a:extLst>
            </p:cNvPr>
            <p:cNvSpPr/>
            <p:nvPr/>
          </p:nvSpPr>
          <p:spPr>
            <a:xfrm>
              <a:off x="123049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40471EB5-00C0-EA1C-51CE-618FEED0B203}"/>
                </a:ext>
              </a:extLst>
            </p:cNvPr>
            <p:cNvSpPr/>
            <p:nvPr/>
          </p:nvSpPr>
          <p:spPr>
            <a:xfrm>
              <a:off x="3534572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78380387-1678-EBA8-CC5A-53A33D2B4A53}"/>
                </a:ext>
              </a:extLst>
            </p:cNvPr>
            <p:cNvSpPr/>
            <p:nvPr/>
          </p:nvSpPr>
          <p:spPr>
            <a:xfrm>
              <a:off x="430231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9FBA382C-474E-6EC5-4993-A63C771DB3F3}"/>
                </a:ext>
              </a:extLst>
            </p:cNvPr>
            <p:cNvSpPr/>
            <p:nvPr/>
          </p:nvSpPr>
          <p:spPr>
            <a:xfrm>
              <a:off x="3534572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B0E549F8-0447-7FFA-8312-D1938C472A8A}"/>
                </a:ext>
              </a:extLst>
            </p:cNvPr>
            <p:cNvSpPr/>
            <p:nvPr/>
          </p:nvSpPr>
          <p:spPr>
            <a:xfrm>
              <a:off x="430231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hteck 32">
            <a:extLst>
              <a:ext uri="{FF2B5EF4-FFF2-40B4-BE49-F238E27FC236}">
                <a16:creationId xmlns:a16="http://schemas.microsoft.com/office/drawing/2014/main" id="{3ACBCB7B-A0C8-AAA1-B212-063A61BEEE5E}"/>
              </a:ext>
            </a:extLst>
          </p:cNvPr>
          <p:cNvSpPr/>
          <p:nvPr/>
        </p:nvSpPr>
        <p:spPr>
          <a:xfrm>
            <a:off x="630916" y="4621057"/>
            <a:ext cx="3449495" cy="124738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A7A01266-33CC-83D2-8EBC-8EDA047E1F12}"/>
              </a:ext>
            </a:extLst>
          </p:cNvPr>
          <p:cNvGrpSpPr>
            <a:grpSpLocks noChangeAspect="1"/>
          </p:cNvGrpSpPr>
          <p:nvPr/>
        </p:nvGrpSpPr>
        <p:grpSpPr>
          <a:xfrm>
            <a:off x="9185609" y="2347257"/>
            <a:ext cx="1299048" cy="1943871"/>
            <a:chOff x="6873231" y="2479054"/>
            <a:chExt cx="1530343" cy="2289977"/>
          </a:xfrm>
        </p:grpSpPr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994DFD61-8C49-3349-8A05-9135F45F2B5C}"/>
                </a:ext>
              </a:extLst>
            </p:cNvPr>
            <p:cNvSpPr/>
            <p:nvPr/>
          </p:nvSpPr>
          <p:spPr>
            <a:xfrm>
              <a:off x="6873231" y="3239428"/>
              <a:ext cx="768259" cy="768083"/>
            </a:xfrm>
            <a:prstGeom prst="rect">
              <a:avLst/>
            </a:prstGeom>
            <a:ln w="254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2DE2E44C-08F5-0A01-B14E-9C3EF237EFDE}"/>
                </a:ext>
              </a:extLst>
            </p:cNvPr>
            <p:cNvSpPr/>
            <p:nvPr/>
          </p:nvSpPr>
          <p:spPr>
            <a:xfrm>
              <a:off x="6875622" y="2479054"/>
              <a:ext cx="768259" cy="742400"/>
            </a:xfrm>
            <a:prstGeom prst="rect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02F54117-E14C-A89A-0634-C9826F69E45C}"/>
                </a:ext>
              </a:extLst>
            </p:cNvPr>
            <p:cNvSpPr/>
            <p:nvPr/>
          </p:nvSpPr>
          <p:spPr>
            <a:xfrm>
              <a:off x="6876592" y="4026631"/>
              <a:ext cx="768259" cy="742400"/>
            </a:xfrm>
            <a:prstGeom prst="rect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F8C6A288-0908-1652-3FDC-58C63BEBABD3}"/>
                </a:ext>
              </a:extLst>
            </p:cNvPr>
            <p:cNvSpPr/>
            <p:nvPr/>
          </p:nvSpPr>
          <p:spPr>
            <a:xfrm>
              <a:off x="7661174" y="3243769"/>
              <a:ext cx="742400" cy="768083"/>
            </a:xfrm>
            <a:prstGeom prst="rect">
              <a:avLst/>
            </a:prstGeom>
            <a:ln w="25400"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BBA16A43-B6AC-2524-BF5B-7677316B6CFC}"/>
                  </a:ext>
                </a:extLst>
              </p:cNvPr>
              <p:cNvSpPr txBox="1"/>
              <p:nvPr/>
            </p:nvSpPr>
            <p:spPr>
              <a:xfrm>
                <a:off x="6558675" y="5016077"/>
                <a:ext cx="457676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ym typeface="Wingdings" panose="05000000000000000000" pitchFamily="2" charset="2"/>
                  </a:rPr>
                  <a:t> For Navier-Stokes equations: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𝝓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𝒖</m:t>
                    </m:r>
                  </m:oMath>
                </a14:m>
                <a:endParaRPr lang="en-US" b="1" dirty="0">
                  <a:sym typeface="Wingdings" panose="05000000000000000000" pitchFamily="2" charset="2"/>
                </a:endParaRPr>
              </a:p>
              <a:p>
                <a:pPr marL="271463" indent="-271463"/>
                <a:r>
                  <a:rPr lang="en-US" dirty="0">
                    <a:sym typeface="Wingdings" panose="05000000000000000000" pitchFamily="2" charset="2"/>
                  </a:rPr>
                  <a:t> solvable by standard iterative methods</a:t>
                </a:r>
                <a:endParaRPr lang="en-US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BBA16A43-B6AC-2524-BF5B-7677316B6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675" y="5016077"/>
                <a:ext cx="4576762" cy="923330"/>
              </a:xfrm>
              <a:prstGeom prst="rect">
                <a:avLst/>
              </a:prstGeom>
              <a:blipFill>
                <a:blip r:embed="rId4"/>
                <a:stretch>
                  <a:fillRect l="-1198" t="-3974" b="-99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hteck 39">
            <a:extLst>
              <a:ext uri="{FF2B5EF4-FFF2-40B4-BE49-F238E27FC236}">
                <a16:creationId xmlns:a16="http://schemas.microsoft.com/office/drawing/2014/main" id="{1CF88AC2-A1E6-2285-505F-36D09E95A97E}"/>
              </a:ext>
            </a:extLst>
          </p:cNvPr>
          <p:cNvSpPr/>
          <p:nvPr/>
        </p:nvSpPr>
        <p:spPr>
          <a:xfrm>
            <a:off x="8531111" y="2989597"/>
            <a:ext cx="630194" cy="651995"/>
          </a:xfrm>
          <a:prstGeom prst="rect">
            <a:avLst/>
          </a:prstGeom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28610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D6D2F-6BEC-E256-ECC9-3E341E70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and solving the algebraic equation system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From finite difference or finite volume, we obtain:</a:t>
                </a: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𝑙𝑜𝑐𝑎𝑙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𝑐h𝑎𝑛𝑔𝑒</m:t>
                        </m:r>
                      </m:lim>
                    </m:limLow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𝑒𝑥𝑐h𝑎𝑛𝑔𝑒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𝑛𝑒𝑖𝑔h𝑏𝑜𝑢𝑟𝑠</m:t>
                        </m:r>
                      </m:lim>
                    </m:limLow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𝑘𝑛𝑜𝑤𝑛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</m:lim>
                    </m:limLow>
                  </m:oMath>
                </a14:m>
                <a:r>
                  <a:rPr lang="de-DE" dirty="0"/>
                  <a:t> </a:t>
                </a:r>
              </a:p>
              <a:p>
                <a:r>
                  <a:rPr lang="en-US" dirty="0"/>
                  <a:t>which can be rewritten in the general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  <a:blipFill>
                <a:blip r:embed="rId2"/>
                <a:stretch>
                  <a:fillRect l="-1820" t="-18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29D8D109-5998-DF41-5647-3889C3EF79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2" t="25239" r="9483" b="34416"/>
          <a:stretch/>
        </p:blipFill>
        <p:spPr>
          <a:xfrm rot="60000">
            <a:off x="602254" y="3235030"/>
            <a:ext cx="3574980" cy="289679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E91BF6C-E235-0A7D-109B-294F8D20CAD9}"/>
              </a:ext>
            </a:extLst>
          </p:cNvPr>
          <p:cNvSpPr txBox="1"/>
          <p:nvPr/>
        </p:nvSpPr>
        <p:spPr>
          <a:xfrm>
            <a:off x="4072741" y="5896626"/>
            <a:ext cx="45758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Algebraic equation system for a 5x5 grid (</a:t>
            </a:r>
            <a:r>
              <a:rPr lang="en-US" sz="1000" dirty="0" err="1"/>
              <a:t>Ferziger</a:t>
            </a:r>
            <a:r>
              <a:rPr lang="en-US" sz="1000" dirty="0"/>
              <a:t> &amp; </a:t>
            </a:r>
            <a:r>
              <a:rPr lang="en-US" sz="1000" dirty="0" err="1"/>
              <a:t>Peric</a:t>
            </a:r>
            <a:r>
              <a:rPr lang="en-US" sz="1000" dirty="0"/>
              <a:t>, 2002)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51943CBE-3AA1-672B-20A6-2D3490ECE327}"/>
              </a:ext>
            </a:extLst>
          </p:cNvPr>
          <p:cNvGrpSpPr>
            <a:grpSpLocks noChangeAspect="1"/>
          </p:cNvGrpSpPr>
          <p:nvPr/>
        </p:nvGrpSpPr>
        <p:grpSpPr>
          <a:xfrm>
            <a:off x="7863700" y="1679197"/>
            <a:ext cx="3275864" cy="3276000"/>
            <a:chOff x="1230490" y="1534692"/>
            <a:chExt cx="3840252" cy="3840418"/>
          </a:xfrm>
        </p:grpSpPr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F4B570DE-C2F3-2B8D-1043-B09E1E5AEAE3}"/>
                </a:ext>
              </a:extLst>
            </p:cNvPr>
            <p:cNvSpPr/>
            <p:nvPr/>
          </p:nvSpPr>
          <p:spPr>
            <a:xfrm>
              <a:off x="1999096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73A812C8-5ED3-2EF3-3570-4705F5247B55}"/>
                </a:ext>
              </a:extLst>
            </p:cNvPr>
            <p:cNvSpPr/>
            <p:nvPr/>
          </p:nvSpPr>
          <p:spPr>
            <a:xfrm>
              <a:off x="2766834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3BC86E80-9CE3-90FF-427E-8BD47A662674}"/>
                </a:ext>
              </a:extLst>
            </p:cNvPr>
            <p:cNvSpPr/>
            <p:nvPr/>
          </p:nvSpPr>
          <p:spPr>
            <a:xfrm>
              <a:off x="1999096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9CD6446A-8DDF-CDCE-951D-4FDFFA012325}"/>
                </a:ext>
              </a:extLst>
            </p:cNvPr>
            <p:cNvSpPr/>
            <p:nvPr/>
          </p:nvSpPr>
          <p:spPr>
            <a:xfrm>
              <a:off x="2766834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418B441E-893D-7D99-B6CC-77E3E401FB4C}"/>
                </a:ext>
              </a:extLst>
            </p:cNvPr>
            <p:cNvSpPr/>
            <p:nvPr/>
          </p:nvSpPr>
          <p:spPr>
            <a:xfrm>
              <a:off x="1999096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91D17997-DE04-0C43-BE62-A21B20255528}"/>
                </a:ext>
              </a:extLst>
            </p:cNvPr>
            <p:cNvSpPr/>
            <p:nvPr/>
          </p:nvSpPr>
          <p:spPr>
            <a:xfrm>
              <a:off x="2766834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5F80E91E-628B-3D99-79E7-1F5FAEBAB9F0}"/>
                </a:ext>
              </a:extLst>
            </p:cNvPr>
            <p:cNvSpPr/>
            <p:nvPr/>
          </p:nvSpPr>
          <p:spPr>
            <a:xfrm>
              <a:off x="123083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6DBD6366-9525-6F97-DEF3-3EA23B1B6928}"/>
                </a:ext>
              </a:extLst>
            </p:cNvPr>
            <p:cNvSpPr/>
            <p:nvPr/>
          </p:nvSpPr>
          <p:spPr>
            <a:xfrm>
              <a:off x="123083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98ECF51D-C261-8A9F-6CE3-2CDC1CF5E664}"/>
                </a:ext>
              </a:extLst>
            </p:cNvPr>
            <p:cNvSpPr/>
            <p:nvPr/>
          </p:nvSpPr>
          <p:spPr>
            <a:xfrm>
              <a:off x="123083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CAC290AD-48DB-4C9A-715A-50819D7568CD}"/>
                </a:ext>
              </a:extLst>
            </p:cNvPr>
            <p:cNvSpPr/>
            <p:nvPr/>
          </p:nvSpPr>
          <p:spPr>
            <a:xfrm>
              <a:off x="3534919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8943A275-4BD5-6D1C-E824-5140F6E3B707}"/>
                </a:ext>
              </a:extLst>
            </p:cNvPr>
            <p:cNvSpPr/>
            <p:nvPr/>
          </p:nvSpPr>
          <p:spPr>
            <a:xfrm>
              <a:off x="430265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66217CCC-BA5E-E7F0-3626-4B0E124FC3E1}"/>
                </a:ext>
              </a:extLst>
            </p:cNvPr>
            <p:cNvSpPr/>
            <p:nvPr/>
          </p:nvSpPr>
          <p:spPr>
            <a:xfrm>
              <a:off x="3534919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24D74651-B4B6-B52A-1F7F-5AD7790512D1}"/>
                </a:ext>
              </a:extLst>
            </p:cNvPr>
            <p:cNvSpPr/>
            <p:nvPr/>
          </p:nvSpPr>
          <p:spPr>
            <a:xfrm>
              <a:off x="430265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55B1B2AE-6252-601C-22AF-C4CD075BF752}"/>
                </a:ext>
              </a:extLst>
            </p:cNvPr>
            <p:cNvSpPr/>
            <p:nvPr/>
          </p:nvSpPr>
          <p:spPr>
            <a:xfrm>
              <a:off x="3534919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9C0EF69C-4915-8199-3B5D-ACABF271A42A}"/>
                </a:ext>
              </a:extLst>
            </p:cNvPr>
            <p:cNvSpPr/>
            <p:nvPr/>
          </p:nvSpPr>
          <p:spPr>
            <a:xfrm>
              <a:off x="430265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ED9900CE-0169-C440-74F3-B65E72593CF0}"/>
                </a:ext>
              </a:extLst>
            </p:cNvPr>
            <p:cNvSpPr/>
            <p:nvPr/>
          </p:nvSpPr>
          <p:spPr>
            <a:xfrm>
              <a:off x="1998749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680E74BB-FB01-982F-0EF1-8F3FC6F14CB7}"/>
                </a:ext>
              </a:extLst>
            </p:cNvPr>
            <p:cNvSpPr/>
            <p:nvPr/>
          </p:nvSpPr>
          <p:spPr>
            <a:xfrm>
              <a:off x="2766487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B7042EDB-6BC3-095F-22F3-A1ED8DF89287}"/>
                </a:ext>
              </a:extLst>
            </p:cNvPr>
            <p:cNvSpPr/>
            <p:nvPr/>
          </p:nvSpPr>
          <p:spPr>
            <a:xfrm>
              <a:off x="1998749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77A761DB-BD6C-A204-B002-770520DCBB33}"/>
                </a:ext>
              </a:extLst>
            </p:cNvPr>
            <p:cNvSpPr/>
            <p:nvPr/>
          </p:nvSpPr>
          <p:spPr>
            <a:xfrm>
              <a:off x="2766487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E1EE62A1-8451-E6E0-E486-7723403FC60F}"/>
                </a:ext>
              </a:extLst>
            </p:cNvPr>
            <p:cNvSpPr/>
            <p:nvPr/>
          </p:nvSpPr>
          <p:spPr>
            <a:xfrm>
              <a:off x="123049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04572876-C95F-B89F-E461-E6B393A726A9}"/>
                </a:ext>
              </a:extLst>
            </p:cNvPr>
            <p:cNvSpPr/>
            <p:nvPr/>
          </p:nvSpPr>
          <p:spPr>
            <a:xfrm>
              <a:off x="123049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40BE0B80-D081-2531-94FA-739C285F60DB}"/>
                </a:ext>
              </a:extLst>
            </p:cNvPr>
            <p:cNvSpPr/>
            <p:nvPr/>
          </p:nvSpPr>
          <p:spPr>
            <a:xfrm>
              <a:off x="3534572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7A0C8810-B26C-1410-4A8F-973D8E03E30C}"/>
                </a:ext>
              </a:extLst>
            </p:cNvPr>
            <p:cNvSpPr/>
            <p:nvPr/>
          </p:nvSpPr>
          <p:spPr>
            <a:xfrm>
              <a:off x="430231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E1C5C3F3-DA21-74FB-FD98-A81651CDB0AF}"/>
                </a:ext>
              </a:extLst>
            </p:cNvPr>
            <p:cNvSpPr/>
            <p:nvPr/>
          </p:nvSpPr>
          <p:spPr>
            <a:xfrm>
              <a:off x="3534572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624CB66B-0907-03F5-98DE-7D6FE5FE1749}"/>
                </a:ext>
              </a:extLst>
            </p:cNvPr>
            <p:cNvSpPr/>
            <p:nvPr/>
          </p:nvSpPr>
          <p:spPr>
            <a:xfrm>
              <a:off x="430231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C3306019-5F9D-344F-D298-FE5224DDA8C2}"/>
              </a:ext>
            </a:extLst>
          </p:cNvPr>
          <p:cNvGrpSpPr>
            <a:grpSpLocks noChangeAspect="1"/>
          </p:cNvGrpSpPr>
          <p:nvPr/>
        </p:nvGrpSpPr>
        <p:grpSpPr>
          <a:xfrm>
            <a:off x="7873374" y="3653095"/>
            <a:ext cx="1299048" cy="1301132"/>
            <a:chOff x="6873231" y="2479054"/>
            <a:chExt cx="1530343" cy="1532798"/>
          </a:xfrm>
        </p:grpSpPr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0D3BB081-E299-F640-B3D0-D07B770E0D26}"/>
                </a:ext>
              </a:extLst>
            </p:cNvPr>
            <p:cNvSpPr/>
            <p:nvPr/>
          </p:nvSpPr>
          <p:spPr>
            <a:xfrm>
              <a:off x="6873231" y="3239428"/>
              <a:ext cx="768259" cy="768083"/>
            </a:xfrm>
            <a:prstGeom prst="rect">
              <a:avLst/>
            </a:prstGeom>
            <a:ln w="254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97D41B6D-9FD5-A89F-6F10-5DC37FEA82C5}"/>
                </a:ext>
              </a:extLst>
            </p:cNvPr>
            <p:cNvSpPr/>
            <p:nvPr/>
          </p:nvSpPr>
          <p:spPr>
            <a:xfrm>
              <a:off x="6875622" y="2479054"/>
              <a:ext cx="768259" cy="742400"/>
            </a:xfrm>
            <a:prstGeom prst="rect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E4F7E1EC-9CC7-1A96-89D9-97D4895E201F}"/>
                </a:ext>
              </a:extLst>
            </p:cNvPr>
            <p:cNvSpPr/>
            <p:nvPr/>
          </p:nvSpPr>
          <p:spPr>
            <a:xfrm>
              <a:off x="7661174" y="3243769"/>
              <a:ext cx="742400" cy="768083"/>
            </a:xfrm>
            <a:prstGeom prst="rect">
              <a:avLst/>
            </a:prstGeom>
            <a:ln w="25400"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</p:grpSp>
      <p:sp>
        <p:nvSpPr>
          <p:cNvPr id="70" name="Rechteck 69">
            <a:extLst>
              <a:ext uri="{FF2B5EF4-FFF2-40B4-BE49-F238E27FC236}">
                <a16:creationId xmlns:a16="http://schemas.microsoft.com/office/drawing/2014/main" id="{7F266FC3-E940-1A38-4102-F0E4418DAEB4}"/>
              </a:ext>
            </a:extLst>
          </p:cNvPr>
          <p:cNvSpPr/>
          <p:nvPr/>
        </p:nvSpPr>
        <p:spPr>
          <a:xfrm>
            <a:off x="7863700" y="4974098"/>
            <a:ext cx="652145" cy="630194"/>
          </a:xfrm>
          <a:prstGeom prst="rect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4A717E0F-B8B7-4F9F-0028-199C992D8C5B}"/>
              </a:ext>
            </a:extLst>
          </p:cNvPr>
          <p:cNvSpPr/>
          <p:nvPr/>
        </p:nvSpPr>
        <p:spPr>
          <a:xfrm>
            <a:off x="7211055" y="4298546"/>
            <a:ext cx="630194" cy="651995"/>
          </a:xfrm>
          <a:prstGeom prst="rect">
            <a:avLst/>
          </a:prstGeom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DEC6177F-00FF-BF09-D969-AF2AC4AD3A05}"/>
              </a:ext>
            </a:extLst>
          </p:cNvPr>
          <p:cNvSpPr txBox="1"/>
          <p:nvPr/>
        </p:nvSpPr>
        <p:spPr>
          <a:xfrm>
            <a:off x="8542228" y="5010379"/>
            <a:ext cx="231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Ghost cell with boundary condition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EDFDCEA3-D82D-13E0-0CDA-226D1CDFBEEE}"/>
              </a:ext>
            </a:extLst>
          </p:cNvPr>
          <p:cNvSpPr txBox="1"/>
          <p:nvPr/>
        </p:nvSpPr>
        <p:spPr>
          <a:xfrm rot="5400000">
            <a:off x="5693800" y="4054476"/>
            <a:ext cx="231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92D050"/>
                </a:solidFill>
              </a:rPr>
              <a:t>Ghost cell with boundary condition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49B3EA8-39CB-7E4A-3D4A-E8374E6B1F05}"/>
              </a:ext>
            </a:extLst>
          </p:cNvPr>
          <p:cNvSpPr/>
          <p:nvPr/>
        </p:nvSpPr>
        <p:spPr>
          <a:xfrm>
            <a:off x="630916" y="3292708"/>
            <a:ext cx="3449495" cy="124738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58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D6D2F-6BEC-E256-ECC9-3E341E70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and solving the algebraic equation system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From finite difference or finite volume, we obtain:</a:t>
                </a: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𝑙𝑜𝑐𝑎𝑙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𝑐h𝑎𝑛𝑔𝑒</m:t>
                        </m:r>
                      </m:lim>
                    </m:limLow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𝑒𝑥𝑐h𝑎𝑛𝑔𝑒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𝑛𝑒𝑖𝑔h𝑏𝑜𝑢𝑟𝑠</m:t>
                        </m:r>
                      </m:lim>
                    </m:limLow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𝐾𝑛𝑜𝑤𝑛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</m:lim>
                    </m:limLow>
                  </m:oMath>
                </a14:m>
                <a:r>
                  <a:rPr lang="de-DE" dirty="0"/>
                  <a:t> </a:t>
                </a:r>
              </a:p>
              <a:p>
                <a:r>
                  <a:rPr lang="en-US" dirty="0"/>
                  <a:t>which can be rewritten in the general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  <a:blipFill>
                <a:blip r:embed="rId2"/>
                <a:stretch>
                  <a:fillRect l="-1820" t="-18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29D8D109-5998-DF41-5647-3889C3EF79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2" t="25239" r="9483" b="34416"/>
          <a:stretch/>
        </p:blipFill>
        <p:spPr>
          <a:xfrm rot="60000">
            <a:off x="602254" y="3235030"/>
            <a:ext cx="3574980" cy="289679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E91BF6C-E235-0A7D-109B-294F8D20CAD9}"/>
              </a:ext>
            </a:extLst>
          </p:cNvPr>
          <p:cNvSpPr txBox="1"/>
          <p:nvPr/>
        </p:nvSpPr>
        <p:spPr>
          <a:xfrm>
            <a:off x="4072741" y="5896626"/>
            <a:ext cx="45758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Algebraic equation system for a 5x5 grid (</a:t>
            </a:r>
            <a:r>
              <a:rPr lang="en-US" sz="1000" dirty="0" err="1"/>
              <a:t>Ferziger</a:t>
            </a:r>
            <a:r>
              <a:rPr lang="en-US" sz="1000" dirty="0"/>
              <a:t> &amp; </a:t>
            </a:r>
            <a:r>
              <a:rPr lang="en-US" sz="1000" dirty="0" err="1"/>
              <a:t>Peric</a:t>
            </a:r>
            <a:r>
              <a:rPr lang="en-US" sz="1000" dirty="0"/>
              <a:t>, 2002)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49B3EA8-39CB-7E4A-3D4A-E8374E6B1F05}"/>
              </a:ext>
            </a:extLst>
          </p:cNvPr>
          <p:cNvSpPr/>
          <p:nvPr/>
        </p:nvSpPr>
        <p:spPr>
          <a:xfrm>
            <a:off x="630916" y="3403917"/>
            <a:ext cx="3449495" cy="124738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9A8EBDC-7B34-44A2-B1A1-DE3CC2564326}"/>
              </a:ext>
            </a:extLst>
          </p:cNvPr>
          <p:cNvGrpSpPr>
            <a:grpSpLocks noChangeAspect="1"/>
          </p:cNvGrpSpPr>
          <p:nvPr/>
        </p:nvGrpSpPr>
        <p:grpSpPr>
          <a:xfrm>
            <a:off x="7864053" y="1679197"/>
            <a:ext cx="3275864" cy="3276000"/>
            <a:chOff x="1230490" y="1534692"/>
            <a:chExt cx="3840252" cy="3840418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43DEB74E-B427-93AD-EEA3-07DC8174D6EA}"/>
                </a:ext>
              </a:extLst>
            </p:cNvPr>
            <p:cNvSpPr/>
            <p:nvPr/>
          </p:nvSpPr>
          <p:spPr>
            <a:xfrm>
              <a:off x="1999096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CF285FC-DDB0-950F-2D45-0769C8480EC5}"/>
                </a:ext>
              </a:extLst>
            </p:cNvPr>
            <p:cNvSpPr/>
            <p:nvPr/>
          </p:nvSpPr>
          <p:spPr>
            <a:xfrm>
              <a:off x="2766834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0C9C9F0-113D-FE04-8DD1-1AAB9F1676C1}"/>
                </a:ext>
              </a:extLst>
            </p:cNvPr>
            <p:cNvSpPr/>
            <p:nvPr/>
          </p:nvSpPr>
          <p:spPr>
            <a:xfrm>
              <a:off x="1999096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34C0FAD9-867B-9C6B-3283-29C350BAF299}"/>
                </a:ext>
              </a:extLst>
            </p:cNvPr>
            <p:cNvSpPr/>
            <p:nvPr/>
          </p:nvSpPr>
          <p:spPr>
            <a:xfrm>
              <a:off x="2766834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D2843C8-7891-E4CD-D158-1FF4CC9BB71A}"/>
                </a:ext>
              </a:extLst>
            </p:cNvPr>
            <p:cNvSpPr/>
            <p:nvPr/>
          </p:nvSpPr>
          <p:spPr>
            <a:xfrm>
              <a:off x="1999096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B8135362-827A-3FEB-67DB-4FB97250CA50}"/>
                </a:ext>
              </a:extLst>
            </p:cNvPr>
            <p:cNvSpPr/>
            <p:nvPr/>
          </p:nvSpPr>
          <p:spPr>
            <a:xfrm>
              <a:off x="2766834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7604D7E-53C9-B896-BE70-6C0EB341820E}"/>
                </a:ext>
              </a:extLst>
            </p:cNvPr>
            <p:cNvSpPr/>
            <p:nvPr/>
          </p:nvSpPr>
          <p:spPr>
            <a:xfrm>
              <a:off x="123083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815D4F2-2D1B-9E88-450D-317815DEAAE3}"/>
                </a:ext>
              </a:extLst>
            </p:cNvPr>
            <p:cNvSpPr/>
            <p:nvPr/>
          </p:nvSpPr>
          <p:spPr>
            <a:xfrm>
              <a:off x="123083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E5846CC-B006-07B9-EB07-28E7F97D8C7D}"/>
                </a:ext>
              </a:extLst>
            </p:cNvPr>
            <p:cNvSpPr/>
            <p:nvPr/>
          </p:nvSpPr>
          <p:spPr>
            <a:xfrm>
              <a:off x="123083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9FD99579-BE4C-3202-7132-E1433DBE600D}"/>
                </a:ext>
              </a:extLst>
            </p:cNvPr>
            <p:cNvSpPr/>
            <p:nvPr/>
          </p:nvSpPr>
          <p:spPr>
            <a:xfrm>
              <a:off x="3534919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DA506345-4197-BF30-FCF6-8984C2D60B4A}"/>
                </a:ext>
              </a:extLst>
            </p:cNvPr>
            <p:cNvSpPr/>
            <p:nvPr/>
          </p:nvSpPr>
          <p:spPr>
            <a:xfrm>
              <a:off x="430265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96246BB8-5E6C-6969-7D60-C7DAA060981E}"/>
                </a:ext>
              </a:extLst>
            </p:cNvPr>
            <p:cNvSpPr/>
            <p:nvPr/>
          </p:nvSpPr>
          <p:spPr>
            <a:xfrm>
              <a:off x="3534919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91EBEB06-649E-9D96-04C9-5ACF541AC97B}"/>
                </a:ext>
              </a:extLst>
            </p:cNvPr>
            <p:cNvSpPr/>
            <p:nvPr/>
          </p:nvSpPr>
          <p:spPr>
            <a:xfrm>
              <a:off x="430265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97CF5F3C-5E58-7529-1FCA-4A55D05AD76F}"/>
                </a:ext>
              </a:extLst>
            </p:cNvPr>
            <p:cNvSpPr/>
            <p:nvPr/>
          </p:nvSpPr>
          <p:spPr>
            <a:xfrm>
              <a:off x="3534919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F472BD5B-BEC1-1E0C-D9F2-678233E3BE6A}"/>
                </a:ext>
              </a:extLst>
            </p:cNvPr>
            <p:cNvSpPr/>
            <p:nvPr/>
          </p:nvSpPr>
          <p:spPr>
            <a:xfrm>
              <a:off x="430265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40C0AC78-5679-A9C7-ABC0-B73D45E56638}"/>
                </a:ext>
              </a:extLst>
            </p:cNvPr>
            <p:cNvSpPr/>
            <p:nvPr/>
          </p:nvSpPr>
          <p:spPr>
            <a:xfrm>
              <a:off x="1998749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0DB02F1F-C4C2-24F2-E414-F27F0C2A9F26}"/>
                </a:ext>
              </a:extLst>
            </p:cNvPr>
            <p:cNvSpPr/>
            <p:nvPr/>
          </p:nvSpPr>
          <p:spPr>
            <a:xfrm>
              <a:off x="2766487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1B15CAC-52FE-AF7D-EFDA-40814ACBC0FB}"/>
                </a:ext>
              </a:extLst>
            </p:cNvPr>
            <p:cNvSpPr/>
            <p:nvPr/>
          </p:nvSpPr>
          <p:spPr>
            <a:xfrm>
              <a:off x="1998749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718335E7-14F8-83B1-23F4-D03051047B74}"/>
                </a:ext>
              </a:extLst>
            </p:cNvPr>
            <p:cNvSpPr/>
            <p:nvPr/>
          </p:nvSpPr>
          <p:spPr>
            <a:xfrm>
              <a:off x="2766487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4D7CC803-891C-31FA-CEDC-DF90935A7A77}"/>
                </a:ext>
              </a:extLst>
            </p:cNvPr>
            <p:cNvSpPr/>
            <p:nvPr/>
          </p:nvSpPr>
          <p:spPr>
            <a:xfrm>
              <a:off x="123049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9AB90CFE-0DAA-8354-F2F8-E360F8863C3C}"/>
                </a:ext>
              </a:extLst>
            </p:cNvPr>
            <p:cNvSpPr/>
            <p:nvPr/>
          </p:nvSpPr>
          <p:spPr>
            <a:xfrm>
              <a:off x="123049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CAE40F98-F8B7-3C76-6AAB-3A747673C7DE}"/>
                </a:ext>
              </a:extLst>
            </p:cNvPr>
            <p:cNvSpPr/>
            <p:nvPr/>
          </p:nvSpPr>
          <p:spPr>
            <a:xfrm>
              <a:off x="3534572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2C2E8E9D-02F8-9561-C5F2-4DC426FBFBA6}"/>
                </a:ext>
              </a:extLst>
            </p:cNvPr>
            <p:cNvSpPr/>
            <p:nvPr/>
          </p:nvSpPr>
          <p:spPr>
            <a:xfrm>
              <a:off x="430231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D6ADF967-42D4-CD4E-0EE8-D0B398028FB2}"/>
                </a:ext>
              </a:extLst>
            </p:cNvPr>
            <p:cNvSpPr/>
            <p:nvPr/>
          </p:nvSpPr>
          <p:spPr>
            <a:xfrm>
              <a:off x="3534572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A37737B-D8BE-8D28-0A03-018AF9EC9397}"/>
                </a:ext>
              </a:extLst>
            </p:cNvPr>
            <p:cNvSpPr/>
            <p:nvPr/>
          </p:nvSpPr>
          <p:spPr>
            <a:xfrm>
              <a:off x="430231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AF751697-AD68-EFB7-77C0-6A2B68D8ECD6}"/>
              </a:ext>
            </a:extLst>
          </p:cNvPr>
          <p:cNvGrpSpPr>
            <a:grpSpLocks noChangeAspect="1"/>
          </p:cNvGrpSpPr>
          <p:nvPr/>
        </p:nvGrpSpPr>
        <p:grpSpPr>
          <a:xfrm>
            <a:off x="7874968" y="3006133"/>
            <a:ext cx="1299048" cy="1943871"/>
            <a:chOff x="6873231" y="2479054"/>
            <a:chExt cx="1530343" cy="2289977"/>
          </a:xfrm>
        </p:grpSpPr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63884222-1F6D-B6B2-8890-D5675859C3E8}"/>
                </a:ext>
              </a:extLst>
            </p:cNvPr>
            <p:cNvSpPr/>
            <p:nvPr/>
          </p:nvSpPr>
          <p:spPr>
            <a:xfrm>
              <a:off x="6873231" y="3239428"/>
              <a:ext cx="768259" cy="768083"/>
            </a:xfrm>
            <a:prstGeom prst="rect">
              <a:avLst/>
            </a:prstGeom>
            <a:ln w="254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D4AE758C-272E-5924-F95A-DE2D50C8966F}"/>
                </a:ext>
              </a:extLst>
            </p:cNvPr>
            <p:cNvSpPr/>
            <p:nvPr/>
          </p:nvSpPr>
          <p:spPr>
            <a:xfrm>
              <a:off x="6875622" y="2479054"/>
              <a:ext cx="768259" cy="742400"/>
            </a:xfrm>
            <a:prstGeom prst="rect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65CB8ECA-1AFF-6A9D-A738-241A9087A306}"/>
                </a:ext>
              </a:extLst>
            </p:cNvPr>
            <p:cNvSpPr/>
            <p:nvPr/>
          </p:nvSpPr>
          <p:spPr>
            <a:xfrm>
              <a:off x="6876592" y="4026631"/>
              <a:ext cx="768259" cy="742400"/>
            </a:xfrm>
            <a:prstGeom prst="rect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C8E7F459-81DB-B3AC-FA5E-603B2FE9B86B}"/>
                </a:ext>
              </a:extLst>
            </p:cNvPr>
            <p:cNvSpPr/>
            <p:nvPr/>
          </p:nvSpPr>
          <p:spPr>
            <a:xfrm>
              <a:off x="7661174" y="3243769"/>
              <a:ext cx="742400" cy="768083"/>
            </a:xfrm>
            <a:prstGeom prst="rect">
              <a:avLst/>
            </a:prstGeom>
            <a:ln w="25400"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</p:grpSp>
      <p:sp>
        <p:nvSpPr>
          <p:cNvPr id="39" name="Rechteck 38">
            <a:extLst>
              <a:ext uri="{FF2B5EF4-FFF2-40B4-BE49-F238E27FC236}">
                <a16:creationId xmlns:a16="http://schemas.microsoft.com/office/drawing/2014/main" id="{98B74104-33C6-541B-DD82-2B08FEA45ED0}"/>
              </a:ext>
            </a:extLst>
          </p:cNvPr>
          <p:cNvSpPr/>
          <p:nvPr/>
        </p:nvSpPr>
        <p:spPr>
          <a:xfrm>
            <a:off x="7218977" y="3655269"/>
            <a:ext cx="630194" cy="651995"/>
          </a:xfrm>
          <a:prstGeom prst="rect">
            <a:avLst/>
          </a:prstGeom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3C282A2-0451-989E-8F0F-98A9C7BE3D89}"/>
              </a:ext>
            </a:extLst>
          </p:cNvPr>
          <p:cNvSpPr txBox="1"/>
          <p:nvPr/>
        </p:nvSpPr>
        <p:spPr>
          <a:xfrm rot="5400000">
            <a:off x="5701722" y="3411199"/>
            <a:ext cx="231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92D050"/>
                </a:solidFill>
              </a:rPr>
              <a:t>Ghost cell with boundary condition</a:t>
            </a:r>
          </a:p>
        </p:txBody>
      </p:sp>
    </p:spTree>
    <p:extLst>
      <p:ext uri="{BB962C8B-B14F-4D97-AF65-F5344CB8AC3E}">
        <p14:creationId xmlns:p14="http://schemas.microsoft.com/office/powerpoint/2010/main" val="3880767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D6D2F-6BEC-E256-ECC9-3E341E70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and solving the algebraic equation system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From finite difference or finite volume, we obtain:</a:t>
                </a: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𝑙𝑜𝑐𝑎𝑙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𝑐h𝑎𝑛𝑔𝑒</m:t>
                        </m:r>
                      </m:lim>
                    </m:limLow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𝑒𝑥𝑐h𝑎𝑛𝑔𝑒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</m:lim>
                    </m:limLow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𝐾𝑛𝑜𝑤𝑛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</m:lim>
                    </m:limLow>
                  </m:oMath>
                </a14:m>
                <a:r>
                  <a:rPr lang="de-DE" dirty="0"/>
                  <a:t> </a:t>
                </a:r>
              </a:p>
              <a:p>
                <a:r>
                  <a:rPr lang="en-US" dirty="0"/>
                  <a:t>which can be rewritten in the general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  <a:blipFill>
                <a:blip r:embed="rId2"/>
                <a:stretch>
                  <a:fillRect l="-1820" t="-18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29D8D109-5998-DF41-5647-3889C3EF79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2" t="25239" r="9483" b="34416"/>
          <a:stretch/>
        </p:blipFill>
        <p:spPr>
          <a:xfrm rot="60000">
            <a:off x="602254" y="3235030"/>
            <a:ext cx="3574980" cy="289679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E91BF6C-E235-0A7D-109B-294F8D20CAD9}"/>
              </a:ext>
            </a:extLst>
          </p:cNvPr>
          <p:cNvSpPr txBox="1"/>
          <p:nvPr/>
        </p:nvSpPr>
        <p:spPr>
          <a:xfrm>
            <a:off x="4072741" y="5896626"/>
            <a:ext cx="45758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Algebraic equation system for a 5x5 grid (</a:t>
            </a:r>
            <a:r>
              <a:rPr lang="en-US" sz="1000" dirty="0" err="1"/>
              <a:t>Ferziger</a:t>
            </a:r>
            <a:r>
              <a:rPr lang="en-US" sz="1000" dirty="0"/>
              <a:t> &amp; </a:t>
            </a:r>
            <a:r>
              <a:rPr lang="en-US" sz="1000" dirty="0" err="1"/>
              <a:t>Peric</a:t>
            </a:r>
            <a:r>
              <a:rPr lang="en-US" sz="1000" dirty="0"/>
              <a:t>, 2002)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49B3EA8-39CB-7E4A-3D4A-E8374E6B1F05}"/>
              </a:ext>
            </a:extLst>
          </p:cNvPr>
          <p:cNvSpPr/>
          <p:nvPr/>
        </p:nvSpPr>
        <p:spPr>
          <a:xfrm>
            <a:off x="630916" y="3731373"/>
            <a:ext cx="3449495" cy="124738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182EF520-24A2-9591-D8CD-9986D180C344}"/>
              </a:ext>
            </a:extLst>
          </p:cNvPr>
          <p:cNvGrpSpPr>
            <a:grpSpLocks noChangeAspect="1"/>
          </p:cNvGrpSpPr>
          <p:nvPr/>
        </p:nvGrpSpPr>
        <p:grpSpPr>
          <a:xfrm>
            <a:off x="7864058" y="1679197"/>
            <a:ext cx="3275864" cy="3276000"/>
            <a:chOff x="1230490" y="1534692"/>
            <a:chExt cx="3840252" cy="3840418"/>
          </a:xfrm>
        </p:grpSpPr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B2B746D0-D2E7-4B6B-019A-6FDF2BEB6E40}"/>
                </a:ext>
              </a:extLst>
            </p:cNvPr>
            <p:cNvSpPr/>
            <p:nvPr/>
          </p:nvSpPr>
          <p:spPr>
            <a:xfrm>
              <a:off x="1999096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D7194940-33EB-E038-4489-4349D7CA674D}"/>
                </a:ext>
              </a:extLst>
            </p:cNvPr>
            <p:cNvSpPr/>
            <p:nvPr/>
          </p:nvSpPr>
          <p:spPr>
            <a:xfrm>
              <a:off x="2766834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9757C6A5-F6D7-6E75-EEAD-F071F75FC10A}"/>
                </a:ext>
              </a:extLst>
            </p:cNvPr>
            <p:cNvSpPr/>
            <p:nvPr/>
          </p:nvSpPr>
          <p:spPr>
            <a:xfrm>
              <a:off x="1999096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285E4035-9538-2D56-9FD5-11E7350D252A}"/>
                </a:ext>
              </a:extLst>
            </p:cNvPr>
            <p:cNvSpPr/>
            <p:nvPr/>
          </p:nvSpPr>
          <p:spPr>
            <a:xfrm>
              <a:off x="2766834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4B794959-2DDF-BFC5-588C-F9A7D6B4DA2C}"/>
                </a:ext>
              </a:extLst>
            </p:cNvPr>
            <p:cNvSpPr/>
            <p:nvPr/>
          </p:nvSpPr>
          <p:spPr>
            <a:xfrm>
              <a:off x="1999096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40FE6CC0-8C80-32A8-E317-05D3DEDA3C28}"/>
                </a:ext>
              </a:extLst>
            </p:cNvPr>
            <p:cNvSpPr/>
            <p:nvPr/>
          </p:nvSpPr>
          <p:spPr>
            <a:xfrm>
              <a:off x="2766834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1A6477AF-8312-70E2-2317-C5FD37749117}"/>
                </a:ext>
              </a:extLst>
            </p:cNvPr>
            <p:cNvSpPr/>
            <p:nvPr/>
          </p:nvSpPr>
          <p:spPr>
            <a:xfrm>
              <a:off x="123083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83084B8C-9352-02E6-04F5-BFEB2A8CBA22}"/>
                </a:ext>
              </a:extLst>
            </p:cNvPr>
            <p:cNvSpPr/>
            <p:nvPr/>
          </p:nvSpPr>
          <p:spPr>
            <a:xfrm>
              <a:off x="123083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74F7C29D-CFEC-5D71-4B10-C8D72B0D8B44}"/>
                </a:ext>
              </a:extLst>
            </p:cNvPr>
            <p:cNvSpPr/>
            <p:nvPr/>
          </p:nvSpPr>
          <p:spPr>
            <a:xfrm>
              <a:off x="123083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CF538E85-CDA2-BD51-E374-9EDD0FFB9DB4}"/>
                </a:ext>
              </a:extLst>
            </p:cNvPr>
            <p:cNvSpPr/>
            <p:nvPr/>
          </p:nvSpPr>
          <p:spPr>
            <a:xfrm>
              <a:off x="3534919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27EC9EBC-6E2B-AA1A-B60D-53086AB9CCC8}"/>
                </a:ext>
              </a:extLst>
            </p:cNvPr>
            <p:cNvSpPr/>
            <p:nvPr/>
          </p:nvSpPr>
          <p:spPr>
            <a:xfrm>
              <a:off x="430265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429BBDEF-6880-9C9B-29D7-BBAEF2248637}"/>
                </a:ext>
              </a:extLst>
            </p:cNvPr>
            <p:cNvSpPr/>
            <p:nvPr/>
          </p:nvSpPr>
          <p:spPr>
            <a:xfrm>
              <a:off x="3534919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EE45F384-E94D-D118-84D0-13A2DD985EB1}"/>
                </a:ext>
              </a:extLst>
            </p:cNvPr>
            <p:cNvSpPr/>
            <p:nvPr/>
          </p:nvSpPr>
          <p:spPr>
            <a:xfrm>
              <a:off x="430265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DC15669-F5AD-2E82-AED8-257901520EE0}"/>
                </a:ext>
              </a:extLst>
            </p:cNvPr>
            <p:cNvSpPr/>
            <p:nvPr/>
          </p:nvSpPr>
          <p:spPr>
            <a:xfrm>
              <a:off x="3534919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A3389834-8FC0-F16B-5319-8F4BA452ABFF}"/>
                </a:ext>
              </a:extLst>
            </p:cNvPr>
            <p:cNvSpPr/>
            <p:nvPr/>
          </p:nvSpPr>
          <p:spPr>
            <a:xfrm>
              <a:off x="430265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AD75D1EB-AA5F-86F5-4207-42095ED3A8C0}"/>
                </a:ext>
              </a:extLst>
            </p:cNvPr>
            <p:cNvSpPr/>
            <p:nvPr/>
          </p:nvSpPr>
          <p:spPr>
            <a:xfrm>
              <a:off x="1998749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C28F83B9-CE55-E15A-0ECC-3A3292128837}"/>
                </a:ext>
              </a:extLst>
            </p:cNvPr>
            <p:cNvSpPr/>
            <p:nvPr/>
          </p:nvSpPr>
          <p:spPr>
            <a:xfrm>
              <a:off x="2766487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91225F00-8C8A-EC80-24D0-E205308C746B}"/>
                </a:ext>
              </a:extLst>
            </p:cNvPr>
            <p:cNvSpPr/>
            <p:nvPr/>
          </p:nvSpPr>
          <p:spPr>
            <a:xfrm>
              <a:off x="1998749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F5553CBE-FE5F-6543-7E44-61DCC029BC90}"/>
                </a:ext>
              </a:extLst>
            </p:cNvPr>
            <p:cNvSpPr/>
            <p:nvPr/>
          </p:nvSpPr>
          <p:spPr>
            <a:xfrm>
              <a:off x="2766487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343E7A8-7640-11E7-0972-4A7B58C62AA8}"/>
                </a:ext>
              </a:extLst>
            </p:cNvPr>
            <p:cNvSpPr/>
            <p:nvPr/>
          </p:nvSpPr>
          <p:spPr>
            <a:xfrm>
              <a:off x="123049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5F765D6E-0E87-3407-6F87-7ED31944F9F6}"/>
                </a:ext>
              </a:extLst>
            </p:cNvPr>
            <p:cNvSpPr/>
            <p:nvPr/>
          </p:nvSpPr>
          <p:spPr>
            <a:xfrm>
              <a:off x="123049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E99F977C-2C97-3B63-DE48-19E7863660E5}"/>
                </a:ext>
              </a:extLst>
            </p:cNvPr>
            <p:cNvSpPr/>
            <p:nvPr/>
          </p:nvSpPr>
          <p:spPr>
            <a:xfrm>
              <a:off x="3534572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55B4060E-E3E5-CA88-FDEE-9C6F9A19B4A9}"/>
                </a:ext>
              </a:extLst>
            </p:cNvPr>
            <p:cNvSpPr/>
            <p:nvPr/>
          </p:nvSpPr>
          <p:spPr>
            <a:xfrm>
              <a:off x="430231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F135C0C5-2E2B-E03D-B1E7-EEAEFBD2BA21}"/>
                </a:ext>
              </a:extLst>
            </p:cNvPr>
            <p:cNvSpPr/>
            <p:nvPr/>
          </p:nvSpPr>
          <p:spPr>
            <a:xfrm>
              <a:off x="3534572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3B926E1B-6622-D44C-33A8-F8D55E78FA51}"/>
                </a:ext>
              </a:extLst>
            </p:cNvPr>
            <p:cNvSpPr/>
            <p:nvPr/>
          </p:nvSpPr>
          <p:spPr>
            <a:xfrm>
              <a:off x="430231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C8DEA5AB-E291-C53E-FE42-F53784ACB40E}"/>
              </a:ext>
            </a:extLst>
          </p:cNvPr>
          <p:cNvGrpSpPr>
            <a:grpSpLocks noChangeAspect="1"/>
          </p:cNvGrpSpPr>
          <p:nvPr/>
        </p:nvGrpSpPr>
        <p:grpSpPr>
          <a:xfrm>
            <a:off x="7874973" y="1690362"/>
            <a:ext cx="1299048" cy="1298420"/>
            <a:chOff x="6873231" y="3239428"/>
            <a:chExt cx="1530343" cy="1529603"/>
          </a:xfrm>
        </p:grpSpPr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4F819AAF-C875-E51B-76C3-8E4714441215}"/>
                </a:ext>
              </a:extLst>
            </p:cNvPr>
            <p:cNvSpPr/>
            <p:nvPr/>
          </p:nvSpPr>
          <p:spPr>
            <a:xfrm>
              <a:off x="6873231" y="3239428"/>
              <a:ext cx="768259" cy="768083"/>
            </a:xfrm>
            <a:prstGeom prst="rect">
              <a:avLst/>
            </a:prstGeom>
            <a:ln w="254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0EA89D75-C0FC-B9C4-9A99-EF3130C9119C}"/>
                </a:ext>
              </a:extLst>
            </p:cNvPr>
            <p:cNvSpPr/>
            <p:nvPr/>
          </p:nvSpPr>
          <p:spPr>
            <a:xfrm>
              <a:off x="6876592" y="4026631"/>
              <a:ext cx="768259" cy="742400"/>
            </a:xfrm>
            <a:prstGeom prst="rect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2A27BD32-BED0-0C19-DA0F-A8FB7E3C5372}"/>
                </a:ext>
              </a:extLst>
            </p:cNvPr>
            <p:cNvSpPr/>
            <p:nvPr/>
          </p:nvSpPr>
          <p:spPr>
            <a:xfrm>
              <a:off x="7661174" y="3243769"/>
              <a:ext cx="742400" cy="768083"/>
            </a:xfrm>
            <a:prstGeom prst="rect">
              <a:avLst/>
            </a:prstGeom>
            <a:ln w="25400"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</p:grpSp>
      <p:sp>
        <p:nvSpPr>
          <p:cNvPr id="70" name="Rechteck 69">
            <a:extLst>
              <a:ext uri="{FF2B5EF4-FFF2-40B4-BE49-F238E27FC236}">
                <a16:creationId xmlns:a16="http://schemas.microsoft.com/office/drawing/2014/main" id="{8C2B3C2D-55E4-1467-6742-4DF2D0364ACD}"/>
              </a:ext>
            </a:extLst>
          </p:cNvPr>
          <p:cNvSpPr/>
          <p:nvPr/>
        </p:nvSpPr>
        <p:spPr>
          <a:xfrm>
            <a:off x="7864058" y="1024811"/>
            <a:ext cx="652145" cy="630194"/>
          </a:xfrm>
          <a:prstGeom prst="rect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B403B1CE-5AA5-D697-F7D4-DD40915F3849}"/>
              </a:ext>
            </a:extLst>
          </p:cNvPr>
          <p:cNvSpPr/>
          <p:nvPr/>
        </p:nvSpPr>
        <p:spPr>
          <a:xfrm>
            <a:off x="7234604" y="1690362"/>
            <a:ext cx="630194" cy="651995"/>
          </a:xfrm>
          <a:prstGeom prst="rect">
            <a:avLst/>
          </a:prstGeom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8235484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D6D2F-6BEC-E256-ECC9-3E341E70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and solving the algebraic equation system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From finite difference or finite volume, we obtain:</a:t>
                </a: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𝑙𝑜𝑐𝑎𝑙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𝑐h𝑎𝑛𝑔𝑒</m:t>
                        </m:r>
                      </m:lim>
                    </m:limLow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𝑒𝑥𝑐h𝑎𝑛𝑔𝑒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𝑛𝑒𝑖𝑔h𝑏𝑜𝑢𝑟𝑠</m:t>
                        </m:r>
                      </m:lim>
                    </m:limLow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de-DE" i="1">
                            <a:latin typeface="Cambria Math" panose="02040503050406030204" pitchFamily="18" charset="0"/>
                          </a:rPr>
                          <m:t>𝐾𝑛𝑜𝑤𝑛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</m:lim>
                    </m:limLow>
                  </m:oMath>
                </a14:m>
                <a:r>
                  <a:rPr lang="de-DE" dirty="0"/>
                  <a:t> </a:t>
                </a:r>
              </a:p>
              <a:p>
                <a:r>
                  <a:rPr lang="en-US" dirty="0"/>
                  <a:t>which can be rewritten in the general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F970E0D1-7DED-A415-F227-3445B59ED0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" y="1484313"/>
                <a:ext cx="8373201" cy="4249738"/>
              </a:xfrm>
              <a:blipFill>
                <a:blip r:embed="rId2"/>
                <a:stretch>
                  <a:fillRect l="-1820" t="-18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29D8D109-5998-DF41-5647-3889C3EF79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2" t="25239" r="9483" b="34416"/>
          <a:stretch/>
        </p:blipFill>
        <p:spPr>
          <a:xfrm rot="60000">
            <a:off x="602254" y="3235030"/>
            <a:ext cx="3574980" cy="289679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E91BF6C-E235-0A7D-109B-294F8D20CAD9}"/>
              </a:ext>
            </a:extLst>
          </p:cNvPr>
          <p:cNvSpPr txBox="1"/>
          <p:nvPr/>
        </p:nvSpPr>
        <p:spPr>
          <a:xfrm>
            <a:off x="4072741" y="5896626"/>
            <a:ext cx="45758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Algebraic equation system for a 5x5 grid (</a:t>
            </a:r>
            <a:r>
              <a:rPr lang="en-US" sz="1000" dirty="0" err="1"/>
              <a:t>Ferziger</a:t>
            </a:r>
            <a:r>
              <a:rPr lang="en-US" sz="1000" dirty="0"/>
              <a:t> &amp; </a:t>
            </a:r>
            <a:r>
              <a:rPr lang="en-US" sz="1000" dirty="0" err="1"/>
              <a:t>Peric</a:t>
            </a:r>
            <a:r>
              <a:rPr lang="en-US" sz="1000" dirty="0"/>
              <a:t>, 2002)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9A8EBDC-7B34-44A2-B1A1-DE3CC2564326}"/>
              </a:ext>
            </a:extLst>
          </p:cNvPr>
          <p:cNvGrpSpPr>
            <a:grpSpLocks noChangeAspect="1"/>
          </p:cNvGrpSpPr>
          <p:nvPr/>
        </p:nvGrpSpPr>
        <p:grpSpPr>
          <a:xfrm>
            <a:off x="7864053" y="1679197"/>
            <a:ext cx="3275864" cy="3276000"/>
            <a:chOff x="1230490" y="1534692"/>
            <a:chExt cx="3840252" cy="3840418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43DEB74E-B427-93AD-EEA3-07DC8174D6EA}"/>
                </a:ext>
              </a:extLst>
            </p:cNvPr>
            <p:cNvSpPr/>
            <p:nvPr/>
          </p:nvSpPr>
          <p:spPr>
            <a:xfrm>
              <a:off x="1999096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CF285FC-DDB0-950F-2D45-0769C8480EC5}"/>
                </a:ext>
              </a:extLst>
            </p:cNvPr>
            <p:cNvSpPr/>
            <p:nvPr/>
          </p:nvSpPr>
          <p:spPr>
            <a:xfrm>
              <a:off x="2766834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0C9C9F0-113D-FE04-8DD1-1AAB9F1676C1}"/>
                </a:ext>
              </a:extLst>
            </p:cNvPr>
            <p:cNvSpPr/>
            <p:nvPr/>
          </p:nvSpPr>
          <p:spPr>
            <a:xfrm>
              <a:off x="1999096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34C0FAD9-867B-9C6B-3283-29C350BAF299}"/>
                </a:ext>
              </a:extLst>
            </p:cNvPr>
            <p:cNvSpPr/>
            <p:nvPr/>
          </p:nvSpPr>
          <p:spPr>
            <a:xfrm>
              <a:off x="2766834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D2843C8-7891-E4CD-D158-1FF4CC9BB71A}"/>
                </a:ext>
              </a:extLst>
            </p:cNvPr>
            <p:cNvSpPr/>
            <p:nvPr/>
          </p:nvSpPr>
          <p:spPr>
            <a:xfrm>
              <a:off x="1999096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B8135362-827A-3FEB-67DB-4FB97250CA50}"/>
                </a:ext>
              </a:extLst>
            </p:cNvPr>
            <p:cNvSpPr/>
            <p:nvPr/>
          </p:nvSpPr>
          <p:spPr>
            <a:xfrm>
              <a:off x="2766834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7604D7E-53C9-B896-BE70-6C0EB341820E}"/>
                </a:ext>
              </a:extLst>
            </p:cNvPr>
            <p:cNvSpPr/>
            <p:nvPr/>
          </p:nvSpPr>
          <p:spPr>
            <a:xfrm>
              <a:off x="123083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815D4F2-2D1B-9E88-450D-317815DEAAE3}"/>
                </a:ext>
              </a:extLst>
            </p:cNvPr>
            <p:cNvSpPr/>
            <p:nvPr/>
          </p:nvSpPr>
          <p:spPr>
            <a:xfrm>
              <a:off x="123083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E5846CC-B006-07B9-EB07-28E7F97D8C7D}"/>
                </a:ext>
              </a:extLst>
            </p:cNvPr>
            <p:cNvSpPr/>
            <p:nvPr/>
          </p:nvSpPr>
          <p:spPr>
            <a:xfrm>
              <a:off x="123083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9FD99579-BE4C-3202-7132-E1433DBE600D}"/>
                </a:ext>
              </a:extLst>
            </p:cNvPr>
            <p:cNvSpPr/>
            <p:nvPr/>
          </p:nvSpPr>
          <p:spPr>
            <a:xfrm>
              <a:off x="3534919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DA506345-4197-BF30-FCF6-8984C2D60B4A}"/>
                </a:ext>
              </a:extLst>
            </p:cNvPr>
            <p:cNvSpPr/>
            <p:nvPr/>
          </p:nvSpPr>
          <p:spPr>
            <a:xfrm>
              <a:off x="4302657" y="2302775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96246BB8-5E6C-6969-7D60-C7DAA060981E}"/>
                </a:ext>
              </a:extLst>
            </p:cNvPr>
            <p:cNvSpPr/>
            <p:nvPr/>
          </p:nvSpPr>
          <p:spPr>
            <a:xfrm>
              <a:off x="3534919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91EBEB06-649E-9D96-04C9-5ACF541AC97B}"/>
                </a:ext>
              </a:extLst>
            </p:cNvPr>
            <p:cNvSpPr/>
            <p:nvPr/>
          </p:nvSpPr>
          <p:spPr>
            <a:xfrm>
              <a:off x="4302657" y="1534692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97CF5F3C-5E58-7529-1FCA-4A55D05AD76F}"/>
                </a:ext>
              </a:extLst>
            </p:cNvPr>
            <p:cNvSpPr/>
            <p:nvPr/>
          </p:nvSpPr>
          <p:spPr>
            <a:xfrm>
              <a:off x="3534919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F472BD5B-BEC1-1E0C-D9F2-678233E3BE6A}"/>
                </a:ext>
              </a:extLst>
            </p:cNvPr>
            <p:cNvSpPr/>
            <p:nvPr/>
          </p:nvSpPr>
          <p:spPr>
            <a:xfrm>
              <a:off x="4302657" y="3070859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40C0AC78-5679-A9C7-ABC0-B73D45E56638}"/>
                </a:ext>
              </a:extLst>
            </p:cNvPr>
            <p:cNvSpPr/>
            <p:nvPr/>
          </p:nvSpPr>
          <p:spPr>
            <a:xfrm>
              <a:off x="1998749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0DB02F1F-C4C2-24F2-E414-F27F0C2A9F26}"/>
                </a:ext>
              </a:extLst>
            </p:cNvPr>
            <p:cNvSpPr/>
            <p:nvPr/>
          </p:nvSpPr>
          <p:spPr>
            <a:xfrm>
              <a:off x="2766487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1B15CAC-52FE-AF7D-EFDA-40814ACBC0FB}"/>
                </a:ext>
              </a:extLst>
            </p:cNvPr>
            <p:cNvSpPr/>
            <p:nvPr/>
          </p:nvSpPr>
          <p:spPr>
            <a:xfrm>
              <a:off x="1998749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718335E7-14F8-83B1-23F4-D03051047B74}"/>
                </a:ext>
              </a:extLst>
            </p:cNvPr>
            <p:cNvSpPr/>
            <p:nvPr/>
          </p:nvSpPr>
          <p:spPr>
            <a:xfrm>
              <a:off x="2766487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4D7CC803-891C-31FA-CEDC-DF90935A7A77}"/>
                </a:ext>
              </a:extLst>
            </p:cNvPr>
            <p:cNvSpPr/>
            <p:nvPr/>
          </p:nvSpPr>
          <p:spPr>
            <a:xfrm>
              <a:off x="123049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9AB90CFE-0DAA-8354-F2F8-E360F8863C3C}"/>
                </a:ext>
              </a:extLst>
            </p:cNvPr>
            <p:cNvSpPr/>
            <p:nvPr/>
          </p:nvSpPr>
          <p:spPr>
            <a:xfrm>
              <a:off x="123049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CAE40F98-F8B7-3C76-6AAB-3A747673C7DE}"/>
                </a:ext>
              </a:extLst>
            </p:cNvPr>
            <p:cNvSpPr/>
            <p:nvPr/>
          </p:nvSpPr>
          <p:spPr>
            <a:xfrm>
              <a:off x="3534572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2C2E8E9D-02F8-9561-C5F2-4DC426FBFBA6}"/>
                </a:ext>
              </a:extLst>
            </p:cNvPr>
            <p:cNvSpPr/>
            <p:nvPr/>
          </p:nvSpPr>
          <p:spPr>
            <a:xfrm>
              <a:off x="4302310" y="3838943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D6ADF967-42D4-CD4E-0EE8-D0B398028FB2}"/>
                </a:ext>
              </a:extLst>
            </p:cNvPr>
            <p:cNvSpPr/>
            <p:nvPr/>
          </p:nvSpPr>
          <p:spPr>
            <a:xfrm>
              <a:off x="3534572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A37737B-D8BE-8D28-0A03-018AF9EC9397}"/>
                </a:ext>
              </a:extLst>
            </p:cNvPr>
            <p:cNvSpPr/>
            <p:nvPr/>
          </p:nvSpPr>
          <p:spPr>
            <a:xfrm>
              <a:off x="4302310" y="4607027"/>
              <a:ext cx="768085" cy="768083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AF751697-AD68-EFB7-77C0-6A2B68D8ECD6}"/>
              </a:ext>
            </a:extLst>
          </p:cNvPr>
          <p:cNvGrpSpPr>
            <a:grpSpLocks noChangeAspect="1"/>
          </p:cNvGrpSpPr>
          <p:nvPr/>
        </p:nvGrpSpPr>
        <p:grpSpPr>
          <a:xfrm>
            <a:off x="7874968" y="3006133"/>
            <a:ext cx="1299048" cy="1943871"/>
            <a:chOff x="6873231" y="2479054"/>
            <a:chExt cx="1530343" cy="2289977"/>
          </a:xfrm>
        </p:grpSpPr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63884222-1F6D-B6B2-8890-D5675859C3E8}"/>
                </a:ext>
              </a:extLst>
            </p:cNvPr>
            <p:cNvSpPr/>
            <p:nvPr/>
          </p:nvSpPr>
          <p:spPr>
            <a:xfrm>
              <a:off x="6873231" y="3239428"/>
              <a:ext cx="768259" cy="768083"/>
            </a:xfrm>
            <a:prstGeom prst="rect">
              <a:avLst/>
            </a:prstGeom>
            <a:ln w="254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D4AE758C-272E-5924-F95A-DE2D50C8966F}"/>
                </a:ext>
              </a:extLst>
            </p:cNvPr>
            <p:cNvSpPr/>
            <p:nvPr/>
          </p:nvSpPr>
          <p:spPr>
            <a:xfrm>
              <a:off x="6875622" y="2479054"/>
              <a:ext cx="768259" cy="742400"/>
            </a:xfrm>
            <a:prstGeom prst="rect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65CB8ECA-1AFF-6A9D-A738-241A9087A306}"/>
                </a:ext>
              </a:extLst>
            </p:cNvPr>
            <p:cNvSpPr/>
            <p:nvPr/>
          </p:nvSpPr>
          <p:spPr>
            <a:xfrm>
              <a:off x="6876592" y="4026631"/>
              <a:ext cx="768259" cy="742400"/>
            </a:xfrm>
            <a:prstGeom prst="rect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C8E7F459-81DB-B3AC-FA5E-603B2FE9B86B}"/>
                </a:ext>
              </a:extLst>
            </p:cNvPr>
            <p:cNvSpPr/>
            <p:nvPr/>
          </p:nvSpPr>
          <p:spPr>
            <a:xfrm>
              <a:off x="7661174" y="3243769"/>
              <a:ext cx="742400" cy="768083"/>
            </a:xfrm>
            <a:prstGeom prst="rect">
              <a:avLst/>
            </a:prstGeom>
            <a:ln w="25400"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</p:grpSp>
      <p:sp>
        <p:nvSpPr>
          <p:cNvPr id="39" name="Rechteck 38">
            <a:extLst>
              <a:ext uri="{FF2B5EF4-FFF2-40B4-BE49-F238E27FC236}">
                <a16:creationId xmlns:a16="http://schemas.microsoft.com/office/drawing/2014/main" id="{98B74104-33C6-541B-DD82-2B08FEA45ED0}"/>
              </a:ext>
            </a:extLst>
          </p:cNvPr>
          <p:cNvSpPr/>
          <p:nvPr/>
        </p:nvSpPr>
        <p:spPr>
          <a:xfrm>
            <a:off x="11136490" y="3640029"/>
            <a:ext cx="630194" cy="651995"/>
          </a:xfrm>
          <a:prstGeom prst="rect">
            <a:avLst/>
          </a:prstGeom>
          <a:ln w="254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3C282A2-0451-989E-8F0F-98A9C7BE3D89}"/>
              </a:ext>
            </a:extLst>
          </p:cNvPr>
          <p:cNvSpPr txBox="1"/>
          <p:nvPr/>
        </p:nvSpPr>
        <p:spPr>
          <a:xfrm rot="5400000">
            <a:off x="10032937" y="1887719"/>
            <a:ext cx="2870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92D050"/>
                </a:solidFill>
              </a:rPr>
              <a:t>Ghost cell with periodic boundary condition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691EFE6-421E-2EA8-6D7C-53C1D977BF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81" t="26043" r="33747" b="65781"/>
          <a:stretch/>
        </p:blipFill>
        <p:spPr>
          <a:xfrm rot="60000">
            <a:off x="2848897" y="3282527"/>
            <a:ext cx="535077" cy="587064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9A3B003D-CAD7-ADF1-96A2-56EB634011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81" t="26381" r="33747" b="66017"/>
          <a:stretch/>
        </p:blipFill>
        <p:spPr>
          <a:xfrm rot="60000">
            <a:off x="644828" y="5490961"/>
            <a:ext cx="535077" cy="545846"/>
          </a:xfrm>
          <a:prstGeom prst="rect">
            <a:avLst/>
          </a:prstGeom>
        </p:spPr>
      </p:pic>
      <p:sp>
        <p:nvSpPr>
          <p:cNvPr id="42" name="Rechteck 41">
            <a:extLst>
              <a:ext uri="{FF2B5EF4-FFF2-40B4-BE49-F238E27FC236}">
                <a16:creationId xmlns:a16="http://schemas.microsoft.com/office/drawing/2014/main" id="{9D994EA9-0A05-D956-DEF8-FFF499CB412F}"/>
              </a:ext>
            </a:extLst>
          </p:cNvPr>
          <p:cNvSpPr/>
          <p:nvPr/>
        </p:nvSpPr>
        <p:spPr>
          <a:xfrm rot="2797717">
            <a:off x="2737411" y="3521198"/>
            <a:ext cx="761080" cy="124738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56533E2-190B-253E-C772-4643ADD652B3}"/>
              </a:ext>
            </a:extLst>
          </p:cNvPr>
          <p:cNvSpPr/>
          <p:nvPr/>
        </p:nvSpPr>
        <p:spPr>
          <a:xfrm rot="2797717">
            <a:off x="535724" y="5701515"/>
            <a:ext cx="761080" cy="124738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789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61F62-8A5F-D6C3-D0C8-799A8174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solver: Gauss elimination method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Inhaltsplatzhalter 2">
                <a:extLst>
                  <a:ext uri="{FF2B5EF4-FFF2-40B4-BE49-F238E27FC236}">
                    <a16:creationId xmlns:a16="http://schemas.microsoft.com/office/drawing/2014/main" id="{27DFDFC1-4CCD-3F0F-DB10-64503FB5F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9661" y="1484314"/>
                <a:ext cx="5797550" cy="1857028"/>
              </a:xfrm>
            </p:spPr>
            <p:txBody>
              <a:bodyPr/>
              <a:lstStyle/>
              <a:p>
                <a:r>
                  <a:rPr lang="en-US" dirty="0"/>
                  <a:t>Suppose we have a linear system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the goal is to convert it such that </a:t>
                </a:r>
              </a:p>
            </p:txBody>
          </p:sp>
        </mc:Choice>
        <mc:Fallback xmlns="">
          <p:sp>
            <p:nvSpPr>
              <p:cNvPr id="30" name="Inhaltsplatzhalter 2">
                <a:extLst>
                  <a:ext uri="{FF2B5EF4-FFF2-40B4-BE49-F238E27FC236}">
                    <a16:creationId xmlns:a16="http://schemas.microsoft.com/office/drawing/2014/main" id="{27DFDFC1-4CCD-3F0F-DB10-64503FB5F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9661" y="1484314"/>
                <a:ext cx="5797550" cy="1857028"/>
              </a:xfrm>
              <a:blipFill>
                <a:blip r:embed="rId2"/>
                <a:stretch>
                  <a:fillRect l="-2734" t="-42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C28FF0C1-47D6-0EEC-4A9D-B17813AA80E8}"/>
                  </a:ext>
                </a:extLst>
              </p:cNvPr>
              <p:cNvSpPr txBox="1"/>
              <p:nvPr/>
            </p:nvSpPr>
            <p:spPr>
              <a:xfrm>
                <a:off x="6654165" y="1466838"/>
                <a:ext cx="4661982" cy="1399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de-DE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de-DE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de-DE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e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C28FF0C1-47D6-0EEC-4A9D-B17813AA8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165" y="1466838"/>
                <a:ext cx="4661982" cy="1399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htwinkliges Dreieck 31">
            <a:extLst>
              <a:ext uri="{FF2B5EF4-FFF2-40B4-BE49-F238E27FC236}">
                <a16:creationId xmlns:a16="http://schemas.microsoft.com/office/drawing/2014/main" id="{EC15948C-8093-2765-2BF5-07100ED8F21C}"/>
              </a:ext>
            </a:extLst>
          </p:cNvPr>
          <p:cNvSpPr/>
          <p:nvPr/>
        </p:nvSpPr>
        <p:spPr>
          <a:xfrm>
            <a:off x="6949772" y="1669656"/>
            <a:ext cx="2007555" cy="1153314"/>
          </a:xfrm>
          <a:prstGeom prst="rtTriangl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C76AB214-BE3A-5D8F-650D-A3D8FA3C6F02}"/>
                  </a:ext>
                </a:extLst>
              </p:cNvPr>
              <p:cNvSpPr txBox="1"/>
              <p:nvPr/>
            </p:nvSpPr>
            <p:spPr>
              <a:xfrm>
                <a:off x="2018347" y="2339882"/>
                <a:ext cx="2933239" cy="1230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DE" b="0" i="1" smtClean="0">
                                    <a:solidFill>
                                      <a:srgbClr val="FFAA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solidFill>
                                      <a:srgbClr val="FFAA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solidFill>
                                      <a:srgbClr val="FFAA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C76AB214-BE3A-5D8F-650D-A3D8FA3C6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347" y="2339882"/>
                <a:ext cx="2933239" cy="1230273"/>
              </a:xfrm>
              <a:prstGeom prst="rect">
                <a:avLst/>
              </a:prstGeom>
              <a:blipFill>
                <a:blip r:embed="rId4"/>
                <a:stretch>
                  <a:fillRect l="-1040" t="-1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hteck 33">
            <a:extLst>
              <a:ext uri="{FF2B5EF4-FFF2-40B4-BE49-F238E27FC236}">
                <a16:creationId xmlns:a16="http://schemas.microsoft.com/office/drawing/2014/main" id="{A7BAD286-92DB-E197-035F-D6FCBD7212C0}"/>
              </a:ext>
            </a:extLst>
          </p:cNvPr>
          <p:cNvSpPr/>
          <p:nvPr/>
        </p:nvSpPr>
        <p:spPr>
          <a:xfrm>
            <a:off x="6912068" y="1436936"/>
            <a:ext cx="2492148" cy="290511"/>
          </a:xfrm>
          <a:prstGeom prst="rect">
            <a:avLst/>
          </a:prstGeom>
          <a:noFill/>
          <a:ln w="444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6C27936-E81F-807D-3D13-10BAA3307826}"/>
              </a:ext>
            </a:extLst>
          </p:cNvPr>
          <p:cNvSpPr/>
          <p:nvPr/>
        </p:nvSpPr>
        <p:spPr>
          <a:xfrm>
            <a:off x="10698254" y="1434095"/>
            <a:ext cx="347663" cy="355266"/>
          </a:xfrm>
          <a:prstGeom prst="rect">
            <a:avLst/>
          </a:prstGeom>
          <a:noFill/>
          <a:ln w="444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B164D36-8645-B67A-8CE9-A145F5400775}"/>
              </a:ext>
            </a:extLst>
          </p:cNvPr>
          <p:cNvSpPr/>
          <p:nvPr/>
        </p:nvSpPr>
        <p:spPr>
          <a:xfrm>
            <a:off x="8663940" y="3090956"/>
            <a:ext cx="347663" cy="343678"/>
          </a:xfrm>
          <a:prstGeom prst="rect">
            <a:avLst/>
          </a:prstGeom>
          <a:noFill/>
          <a:ln w="444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2CBF52FA-6E9B-B881-D015-F30A7D85DA1D}"/>
              </a:ext>
            </a:extLst>
          </p:cNvPr>
          <p:cNvSpPr txBox="1"/>
          <p:nvPr/>
        </p:nvSpPr>
        <p:spPr>
          <a:xfrm>
            <a:off x="9011603" y="2970408"/>
            <a:ext cx="2357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Remains unchanged for elimination</a:t>
            </a:r>
          </a:p>
        </p:txBody>
      </p:sp>
      <p:sp>
        <p:nvSpPr>
          <p:cNvPr id="38" name="Rechtwinkliges Dreieck 37">
            <a:extLst>
              <a:ext uri="{FF2B5EF4-FFF2-40B4-BE49-F238E27FC236}">
                <a16:creationId xmlns:a16="http://schemas.microsoft.com/office/drawing/2014/main" id="{B24F0233-F98E-FD73-1010-DE43AC3AC4F3}"/>
              </a:ext>
            </a:extLst>
          </p:cNvPr>
          <p:cNvSpPr/>
          <p:nvPr/>
        </p:nvSpPr>
        <p:spPr>
          <a:xfrm>
            <a:off x="8663940" y="3675731"/>
            <a:ext cx="347663" cy="343678"/>
          </a:xfrm>
          <a:prstGeom prst="rtTriangl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96A073CB-3860-7745-7CB6-40EA2CBCBE63}"/>
              </a:ext>
            </a:extLst>
          </p:cNvPr>
          <p:cNvSpPr txBox="1"/>
          <p:nvPr/>
        </p:nvSpPr>
        <p:spPr>
          <a:xfrm>
            <a:off x="9011603" y="3699103"/>
            <a:ext cx="2357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Entries with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AF38A985-3258-79D5-4F44-999E8F611141}"/>
                  </a:ext>
                </a:extLst>
              </p:cNvPr>
              <p:cNvSpPr txBox="1"/>
              <p:nvPr/>
            </p:nvSpPr>
            <p:spPr>
              <a:xfrm>
                <a:off x="1623060" y="4225411"/>
                <a:ext cx="3974678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600" dirty="0"/>
                  <a:t>Step </a:t>
                </a:r>
                <a:r>
                  <a:rPr lang="de-DE" sz="1600" b="1" dirty="0">
                    <a:solidFill>
                      <a:schemeClr val="accent1"/>
                    </a:solidFill>
                  </a:rPr>
                  <a:t>1</a:t>
                </a:r>
                <a:r>
                  <a:rPr lang="de-DE" sz="1600" dirty="0"/>
                  <a:t>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FFAA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rgbClr val="FFAA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AF38A985-3258-79D5-4F44-999E8F611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060" y="4225411"/>
                <a:ext cx="3974678" cy="984052"/>
              </a:xfrm>
              <a:prstGeom prst="rect">
                <a:avLst/>
              </a:prstGeom>
              <a:blipFill>
                <a:blip r:embed="rId5"/>
                <a:stretch>
                  <a:fillRect l="-7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8AFB7FEB-1CCB-CB80-57D8-7103C2DA9AE1}"/>
                  </a:ext>
                </a:extLst>
              </p:cNvPr>
              <p:cNvSpPr txBox="1"/>
              <p:nvPr/>
            </p:nvSpPr>
            <p:spPr>
              <a:xfrm>
                <a:off x="7288802" y="4260506"/>
                <a:ext cx="3926588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600" dirty="0"/>
                  <a:t>Step </a:t>
                </a:r>
                <a14:m>
                  <m:oMath xmlns:m="http://schemas.openxmlformats.org/officeDocument/2006/math">
                    <m:r>
                      <a:rPr lang="de-DE" sz="16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de-DE" sz="1600" dirty="0"/>
                  <a:t>: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8AFB7FEB-1CCB-CB80-57D8-7103C2DA9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802" y="4260506"/>
                <a:ext cx="3926588" cy="984052"/>
              </a:xfrm>
              <a:prstGeom prst="rect">
                <a:avLst/>
              </a:prstGeom>
              <a:blipFill>
                <a:blip r:embed="rId6"/>
                <a:stretch>
                  <a:fillRect l="-9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1E18EBFE-A402-F3C2-8E6D-959B2F71025E}"/>
              </a:ext>
            </a:extLst>
          </p:cNvPr>
          <p:cNvCxnSpPr/>
          <p:nvPr/>
        </p:nvCxnSpPr>
        <p:spPr>
          <a:xfrm>
            <a:off x="4767134" y="3090956"/>
            <a:ext cx="1440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014C42CD-B9F8-291C-EE6C-86DAF5A32632}"/>
              </a:ext>
            </a:extLst>
          </p:cNvPr>
          <p:cNvCxnSpPr>
            <a:cxnSpLocks/>
          </p:cNvCxnSpPr>
          <p:nvPr/>
        </p:nvCxnSpPr>
        <p:spPr>
          <a:xfrm>
            <a:off x="4911134" y="2822970"/>
            <a:ext cx="0" cy="26798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AEEC2C5-3BA0-56C5-D758-FDA270028178}"/>
              </a:ext>
            </a:extLst>
          </p:cNvPr>
          <p:cNvCxnSpPr>
            <a:cxnSpLocks/>
          </p:cNvCxnSpPr>
          <p:nvPr/>
        </p:nvCxnSpPr>
        <p:spPr>
          <a:xfrm rot="5400000">
            <a:off x="4842478" y="2750970"/>
            <a:ext cx="0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99E96AA8-79F5-4DD6-EF60-E6BC0F54D01A}"/>
                  </a:ext>
                </a:extLst>
              </p:cNvPr>
              <p:cNvSpPr txBox="1"/>
              <p:nvPr/>
            </p:nvSpPr>
            <p:spPr>
              <a:xfrm>
                <a:off x="4932087" y="2785742"/>
                <a:ext cx="4851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⋅(−</m:t>
                      </m:r>
                      <m:r>
                        <a:rPr lang="de-DE" sz="1200" b="0" i="1" smtClean="0">
                          <a:solidFill>
                            <a:srgbClr val="FFAA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b="0" dirty="0"/>
              </a:p>
              <a:p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de-DE" sz="1200" b="0" dirty="0"/>
                  <a:t> </a:t>
                </a:r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99E96AA8-79F5-4DD6-EF60-E6BC0F54D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87" y="2785742"/>
                <a:ext cx="485133" cy="369332"/>
              </a:xfrm>
              <a:prstGeom prst="rect">
                <a:avLst/>
              </a:prstGeom>
              <a:blipFill>
                <a:blip r:embed="rId7"/>
                <a:stretch>
                  <a:fillRect l="-10000" t="-1639" r="-7500" b="-32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8A636D1E-6ADF-D688-CD92-605CF36FFC2D}"/>
              </a:ext>
            </a:extLst>
          </p:cNvPr>
          <p:cNvGrpSpPr/>
          <p:nvPr/>
        </p:nvGrpSpPr>
        <p:grpSpPr>
          <a:xfrm>
            <a:off x="4756974" y="2785742"/>
            <a:ext cx="686086" cy="555599"/>
            <a:chOff x="4083552" y="2732395"/>
            <a:chExt cx="147344" cy="267986"/>
          </a:xfrm>
        </p:grpSpPr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1EDA8792-64BC-2BBD-26ED-7AB94B44BAC1}"/>
                </a:ext>
              </a:extLst>
            </p:cNvPr>
            <p:cNvCxnSpPr/>
            <p:nvPr/>
          </p:nvCxnSpPr>
          <p:spPr>
            <a:xfrm>
              <a:off x="4083552" y="3000381"/>
              <a:ext cx="1440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2E973537-826E-0051-2D4C-B836D861B0AC}"/>
                </a:ext>
              </a:extLst>
            </p:cNvPr>
            <p:cNvCxnSpPr>
              <a:cxnSpLocks/>
            </p:cNvCxnSpPr>
            <p:nvPr/>
          </p:nvCxnSpPr>
          <p:spPr>
            <a:xfrm>
              <a:off x="4227552" y="2732395"/>
              <a:ext cx="0" cy="267986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A8A7567D-BDE2-4A8D-5A24-24115A4E43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158896" y="2660395"/>
              <a:ext cx="0" cy="144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2EC95FB7-D2C1-A282-A43A-BBF76EB042E6}"/>
                  </a:ext>
                </a:extLst>
              </p:cNvPr>
              <p:cNvSpPr txBox="1"/>
              <p:nvPr/>
            </p:nvSpPr>
            <p:spPr>
              <a:xfrm>
                <a:off x="5437852" y="2785741"/>
                <a:ext cx="48410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1200" b="0" i="1" smtClean="0">
                              <a:solidFill>
                                <a:srgbClr val="FFAA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de-DE" sz="1200" b="0" dirty="0"/>
              </a:p>
              <a:p>
                <a:endParaRPr lang="de-DE" sz="1200" b="0" dirty="0"/>
              </a:p>
              <a:p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de-DE" sz="1200" b="0" dirty="0"/>
                  <a:t> </a:t>
                </a:r>
              </a:p>
            </p:txBody>
          </p:sp>
        </mc:Choice>
        <mc:Fallback xmlns="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2EC95FB7-D2C1-A282-A43A-BBF76EB04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852" y="2785741"/>
                <a:ext cx="484107" cy="553998"/>
              </a:xfrm>
              <a:prstGeom prst="rect">
                <a:avLst/>
              </a:prstGeom>
              <a:blipFill>
                <a:blip r:embed="rId8"/>
                <a:stretch>
                  <a:fillRect l="-10127" b="-2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601D3A0-1C93-E0CD-9838-EC66A77B185F}"/>
              </a:ext>
            </a:extLst>
          </p:cNvPr>
          <p:cNvCxnSpPr/>
          <p:nvPr/>
        </p:nvCxnSpPr>
        <p:spPr>
          <a:xfrm>
            <a:off x="5677074" y="5005913"/>
            <a:ext cx="1440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3DE04B4E-2405-13CA-683F-D4F2D5150F21}"/>
              </a:ext>
            </a:extLst>
          </p:cNvPr>
          <p:cNvCxnSpPr>
            <a:cxnSpLocks/>
          </p:cNvCxnSpPr>
          <p:nvPr/>
        </p:nvCxnSpPr>
        <p:spPr>
          <a:xfrm>
            <a:off x="5821074" y="4737927"/>
            <a:ext cx="0" cy="26798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F8D17C96-2F85-4926-1065-D7F56336E67E}"/>
              </a:ext>
            </a:extLst>
          </p:cNvPr>
          <p:cNvCxnSpPr>
            <a:cxnSpLocks/>
          </p:cNvCxnSpPr>
          <p:nvPr/>
        </p:nvCxnSpPr>
        <p:spPr>
          <a:xfrm rot="5400000">
            <a:off x="5752418" y="4665927"/>
            <a:ext cx="0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4E180E77-6273-33D2-14F7-8D3062506EAA}"/>
                  </a:ext>
                </a:extLst>
              </p:cNvPr>
              <p:cNvSpPr txBox="1"/>
              <p:nvPr/>
            </p:nvSpPr>
            <p:spPr>
              <a:xfrm>
                <a:off x="5842027" y="4700699"/>
                <a:ext cx="4851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⋅(−</m:t>
                      </m:r>
                      <m:r>
                        <a:rPr lang="de-DE" sz="1200" b="0" i="1" smtClean="0">
                          <a:solidFill>
                            <a:srgbClr val="FFAA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b="0" dirty="0"/>
              </a:p>
              <a:p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de-DE" sz="1200" b="0" dirty="0"/>
                  <a:t> </a:t>
                </a:r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4E180E77-6273-33D2-14F7-8D3062506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27" y="4700699"/>
                <a:ext cx="485133" cy="369332"/>
              </a:xfrm>
              <a:prstGeom prst="rect">
                <a:avLst/>
              </a:prstGeom>
              <a:blipFill>
                <a:blip r:embed="rId9"/>
                <a:stretch>
                  <a:fillRect l="-10000" r="-7500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A02FBB73-83A6-AA12-2272-3AF78BD3DCA9}"/>
                  </a:ext>
                </a:extLst>
              </p:cNvPr>
              <p:cNvSpPr txBox="1"/>
              <p:nvPr/>
            </p:nvSpPr>
            <p:spPr>
              <a:xfrm>
                <a:off x="3880260" y="5587720"/>
                <a:ext cx="4441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b="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	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lang="en-US" dirty="0"/>
                  <a:t>	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A02FBB73-83A6-AA12-2272-3AF78BD3D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260" y="5587720"/>
                <a:ext cx="4441344" cy="276999"/>
              </a:xfrm>
              <a:prstGeom prst="rect">
                <a:avLst/>
              </a:prstGeom>
              <a:blipFill>
                <a:blip r:embed="rId10"/>
                <a:stretch>
                  <a:fillRect l="-3297" t="-28889" r="-1099" b="-5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46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 animBg="1"/>
      <p:bldP spid="35" grpId="0" animBg="1"/>
      <p:bldP spid="36" grpId="0" animBg="1"/>
      <p:bldP spid="37" grpId="0"/>
      <p:bldP spid="38" grpId="0" animBg="1"/>
      <p:bldP spid="39" grpId="0"/>
      <p:bldP spid="40" grpId="0"/>
      <p:bldP spid="41" grpId="0"/>
      <p:bldP spid="45" grpId="0"/>
      <p:bldP spid="50" grpId="0"/>
      <p:bldP spid="54" grpId="0"/>
      <p:bldP spid="5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DCFA8D-E478-A84D-FE7E-4F183D8D1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type of direct solver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1C94B7E-3F11-8CBA-1BFF-D95ACD1A9BA1}"/>
                  </a:ext>
                </a:extLst>
              </p:cNvPr>
              <p:cNvSpPr txBox="1"/>
              <p:nvPr/>
            </p:nvSpPr>
            <p:spPr>
              <a:xfrm>
                <a:off x="3050085" y="1581176"/>
                <a:ext cx="7667933" cy="1066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1C94B7E-3F11-8CBA-1BFF-D95ACD1A9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085" y="1581176"/>
                <a:ext cx="7667933" cy="1066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2">
                <a:extLst>
                  <a:ext uri="{FF2B5EF4-FFF2-40B4-BE49-F238E27FC236}">
                    <a16:creationId xmlns:a16="http://schemas.microsoft.com/office/drawing/2014/main" id="{A038880A-E0A0-2CEF-455E-8259FD9BC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287" y="3065950"/>
                <a:ext cx="7915837" cy="2860130"/>
              </a:xfrm>
            </p:spPr>
            <p:txBody>
              <a:bodyPr/>
              <a:lstStyle/>
              <a:p>
                <a:r>
                  <a:rPr lang="de-DE" dirty="0"/>
                  <a:t>This </a:t>
                </a:r>
                <a:r>
                  <a:rPr lang="de-DE" dirty="0" err="1"/>
                  <a:t>yields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de-DE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d>
                    <m:r>
                      <a:rPr lang="de-DE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</m:d>
                    <m:r>
                      <a:rPr lang="de-DE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de-DE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obtain</a:t>
                </a:r>
              </a:p>
              <a:p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de-DE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de-DE" b="0" dirty="0"/>
                  <a:t> </a:t>
                </a:r>
              </a:p>
              <a:p>
                <a:r>
                  <a:rPr lang="de-DE" dirty="0"/>
                  <a:t>After </a:t>
                </a:r>
                <a:r>
                  <a:rPr lang="de-DE" dirty="0" err="1"/>
                  <a:t>choosing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=1,</m:t>
                    </m:r>
                  </m:oMath>
                </a14:m>
                <a:r>
                  <a:rPr lang="de-DE" b="0" dirty="0"/>
                  <a:t> </a:t>
                </a:r>
                <a:r>
                  <a:rPr lang="de-DE" b="0" dirty="0" err="1"/>
                  <a:t>we</a:t>
                </a:r>
                <a:r>
                  <a:rPr lang="de-DE" b="0" dirty="0"/>
                  <a:t> </a:t>
                </a:r>
                <a:r>
                  <a:rPr lang="de-DE" b="0" dirty="0" err="1"/>
                  <a:t>can</a:t>
                </a:r>
                <a:r>
                  <a:rPr lang="de-DE" b="0" dirty="0"/>
                  <a:t> </a:t>
                </a:r>
                <a:r>
                  <a:rPr lang="de-DE" b="0" dirty="0" err="1"/>
                  <a:t>determine</a:t>
                </a:r>
                <a:r>
                  <a:rPr lang="de-DE" b="0" dirty="0"/>
                  <a:t>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de-DE" b="0" dirty="0"/>
                  <a:t> and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de-DE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b="0" dirty="0"/>
                  <a:t> and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0" dirty="0" err="1"/>
                  <a:t>Calculate</a:t>
                </a:r>
                <a:r>
                  <a:rPr lang="de-DE" b="0" dirty="0"/>
                  <a:t>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de-DE" b="1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forward</a:t>
                </a:r>
                <a:r>
                  <a:rPr lang="de-DE" dirty="0"/>
                  <a:t> </a:t>
                </a:r>
                <a:r>
                  <a:rPr lang="de-DE" dirty="0" err="1"/>
                  <a:t>substitution</a:t>
                </a: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0" dirty="0" err="1"/>
                  <a:t>Calculate</a:t>
                </a:r>
                <a:r>
                  <a:rPr lang="de-DE" b="0" dirty="0"/>
                  <a:t>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r>
                  <a:rPr lang="de-DE" b="1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backward</a:t>
                </a:r>
                <a:r>
                  <a:rPr lang="de-DE" dirty="0"/>
                  <a:t> </a:t>
                </a:r>
                <a:r>
                  <a:rPr lang="de-DE" dirty="0" err="1"/>
                  <a:t>substitution</a:t>
                </a:r>
                <a:endParaRPr lang="de-DE" dirty="0"/>
              </a:p>
              <a:p>
                <a:endParaRPr lang="de-DE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Inhaltsplatzhalter 2">
                <a:extLst>
                  <a:ext uri="{FF2B5EF4-FFF2-40B4-BE49-F238E27FC236}">
                    <a16:creationId xmlns:a16="http://schemas.microsoft.com/office/drawing/2014/main" id="{A038880A-E0A0-2CEF-455E-8259FD9BC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287" y="3065950"/>
                <a:ext cx="7915837" cy="2860130"/>
              </a:xfrm>
              <a:blipFill>
                <a:blip r:embed="rId3"/>
                <a:stretch>
                  <a:fillRect l="-2003" t="-2772" b="-93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CBD630BB-3469-6422-8C22-8E5F00602C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8163" y="1219114"/>
                <a:ext cx="11600497" cy="724124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2"/>
                    </a:solidFill>
                    <a:latin typeface="Open Sans" panose="020B0606030504020204" pitchFamily="34" charset="0"/>
                    <a:ea typeface="+mn-ea"/>
                    <a:cs typeface="+mn-cs"/>
                  </a:defRPr>
                </a:lvl1pPr>
                <a:lvl2pPr marL="396000" indent="-324000" algn="l" defTabSz="914400" rtl="0" eaLnBrk="1" latinLnBrk="0" hangingPunct="1">
                  <a:spcBef>
                    <a:spcPts val="300"/>
                  </a:spcBef>
                  <a:buFont typeface="Open Sans" panose="020B0606030504020204" pitchFamily="34" charset="0"/>
                  <a:buChar char="—"/>
                  <a:defRPr sz="1600" kern="1200">
                    <a:solidFill>
                      <a:schemeClr val="tx2"/>
                    </a:solidFill>
                    <a:latin typeface="Open Sans" panose="020B0606030504020204" pitchFamily="34" charset="0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spcBef>
                    <a:spcPts val="6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2"/>
                    </a:solidFill>
                    <a:latin typeface="Open Sans" panose="020B0606030504020204" pitchFamily="34" charset="0"/>
                    <a:ea typeface="+mn-ea"/>
                    <a:cs typeface="+mn-cs"/>
                  </a:defRPr>
                </a:lvl3pPr>
                <a:lvl4pPr marL="396000" indent="-216000" algn="l" defTabSz="914400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>
                    <a:solidFill>
                      <a:schemeClr val="tx2"/>
                    </a:solidFill>
                    <a:latin typeface="Open Sans" panose="020B0606030504020204" pitchFamily="34" charset="0"/>
                    <a:ea typeface="+mn-ea"/>
                    <a:cs typeface="+mn-cs"/>
                  </a:defRPr>
                </a:lvl4pPr>
                <a:lvl5pPr marL="576000" indent="-179388" algn="l" defTabSz="914400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 baseline="0">
                    <a:solidFill>
                      <a:schemeClr val="tx2"/>
                    </a:solidFill>
                    <a:latin typeface="Open Sans" panose="020B0606030504020204" pitchFamily="34" charset="0"/>
                    <a:ea typeface="+mn-ea"/>
                    <a:cs typeface="+mn-cs"/>
                  </a:defRPr>
                </a:lvl5pPr>
                <a:lvl6pPr marL="358775" indent="0" algn="l" defTabSz="914400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b="1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358775" indent="0" algn="l" defTabSz="914400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>
                    <a:solidFill>
                      <a:schemeClr val="tx1"/>
                    </a:solidFill>
                  </a:rPr>
                  <a:t>A regular, invertible square (</a:t>
                </a:r>
                <a14:m>
                  <m:oMath xmlns:m="http://schemas.openxmlformats.org/officeDocument/2006/math">
                    <m:r>
                      <a:rPr lang="de-DE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matrix </a:t>
                </a:r>
                <a14:m>
                  <m:oMath xmlns:m="http://schemas.openxmlformats.org/officeDocument/2006/math">
                    <m:r>
                      <a:rPr lang="de-DE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of a linear equation system  </a:t>
                </a:r>
                <a14:m>
                  <m:oMath xmlns:m="http://schemas.openxmlformats.org/officeDocument/2006/math">
                    <m:r>
                      <a:rPr lang="de-DE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de-DE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de-DE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can be rewritten as </a:t>
                </a:r>
                <a14:m>
                  <m:oMath xmlns:m="http://schemas.openxmlformats.org/officeDocument/2006/math">
                    <m:r>
                      <a:rPr lang="de-DE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de-DE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de-DE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de-DE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such that</a:t>
                </a:r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CBD630BB-3469-6422-8C22-8E5F00602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63" y="1219114"/>
                <a:ext cx="11600497" cy="724124"/>
              </a:xfrm>
              <a:prstGeom prst="rect">
                <a:avLst/>
              </a:prstGeom>
              <a:blipFill>
                <a:blip r:embed="rId4"/>
                <a:stretch>
                  <a:fillRect l="-1314" t="-10924" r="-1366" b="-50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C801BFA-AF3C-F730-AC97-57C99C419EE2}"/>
                  </a:ext>
                </a:extLst>
              </p:cNvPr>
              <p:cNvSpPr txBox="1"/>
              <p:nvPr/>
            </p:nvSpPr>
            <p:spPr>
              <a:xfrm>
                <a:off x="7395210" y="4715556"/>
                <a:ext cx="4118610" cy="92333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de-DE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Advantages </a:t>
                </a:r>
                <a:r>
                  <a:rPr lang="de-DE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if</a:t>
                </a:r>
                <a:r>
                  <a:rPr lang="de-DE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remains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constant</a:t>
                </a:r>
                <a:endParaRPr lang="de-DE" dirty="0">
                  <a:solidFill>
                    <a:srgbClr val="FF0000"/>
                  </a:solidFill>
                </a:endParaRPr>
              </a:p>
              <a:p>
                <a:r>
                  <a:rPr lang="de-DE" dirty="0">
                    <a:solidFill>
                      <a:srgbClr val="FF0000"/>
                    </a:solidFill>
                  </a:rPr>
                  <a:t>…but </a:t>
                </a:r>
                <a:r>
                  <a:rPr lang="de-DE" dirty="0" err="1">
                    <a:solidFill>
                      <a:srgbClr val="FF0000"/>
                    </a:solidFill>
                  </a:rPr>
                  <a:t>there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are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even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more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solvers</a:t>
                </a:r>
                <a:r>
                  <a:rPr lang="de-DE" dirty="0">
                    <a:solidFill>
                      <a:srgbClr val="FF0000"/>
                    </a:solidFill>
                  </a:rPr>
                  <a:t> on </a:t>
                </a:r>
                <a:r>
                  <a:rPr lang="de-DE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market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that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you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may</a:t>
                </a:r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>
                    <a:solidFill>
                      <a:srgbClr val="FF0000"/>
                    </a:solidFill>
                  </a:rPr>
                  <a:t>use</a:t>
                </a:r>
                <a:endParaRPr lang="de-D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C801BFA-AF3C-F730-AC97-57C99C419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210" y="4715556"/>
                <a:ext cx="4118610" cy="923330"/>
              </a:xfrm>
              <a:prstGeom prst="rect">
                <a:avLst/>
              </a:prstGeom>
              <a:blipFill>
                <a:blip r:embed="rId5"/>
                <a:stretch>
                  <a:fillRect l="-733" t="-1911" b="-7643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038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CB8FBB-254B-5C0D-78FF-38C37542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solvers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0A217517-D2A7-51A6-F22C-AAE8C9592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" y="1154113"/>
                <a:ext cx="10972800" cy="4579938"/>
              </a:xfrm>
            </p:spPr>
            <p:txBody>
              <a:bodyPr/>
              <a:lstStyle/>
              <a:p>
                <a:r>
                  <a:rPr lang="de-DE" dirty="0"/>
                  <a:t>Problem: </a:t>
                </a:r>
                <a:r>
                  <a:rPr lang="de-DE" dirty="0" err="1"/>
                  <a:t>For</a:t>
                </a:r>
                <a:r>
                  <a:rPr lang="de-DE" dirty="0"/>
                  <a:t> larger </a:t>
                </a:r>
                <a:r>
                  <a:rPr lang="de-DE" dirty="0" err="1"/>
                  <a:t>systems</a:t>
                </a:r>
                <a:r>
                  <a:rPr lang="de-DE" dirty="0"/>
                  <a:t>, </a:t>
                </a:r>
                <a:r>
                  <a:rPr lang="de-DE" dirty="0" err="1"/>
                  <a:t>direct</a:t>
                </a:r>
                <a:r>
                  <a:rPr lang="de-DE" dirty="0"/>
                  <a:t> </a:t>
                </a:r>
                <a:r>
                  <a:rPr lang="de-DE" dirty="0" err="1"/>
                  <a:t>solvers</a:t>
                </a:r>
                <a:r>
                  <a:rPr lang="de-DE" dirty="0"/>
                  <a:t> </a:t>
                </a:r>
                <a:r>
                  <a:rPr lang="de-DE" dirty="0" err="1"/>
                  <a:t>may</a:t>
                </a:r>
                <a:r>
                  <a:rPr lang="de-DE" dirty="0"/>
                  <a:t> </a:t>
                </a:r>
                <a:r>
                  <a:rPr lang="de-DE" dirty="0" err="1"/>
                  <a:t>become</a:t>
                </a:r>
                <a:r>
                  <a:rPr lang="de-DE" dirty="0"/>
                  <a:t> expensive and </a:t>
                </a:r>
                <a:r>
                  <a:rPr lang="de-DE" dirty="0" err="1"/>
                  <a:t>inefficient</a:t>
                </a:r>
                <a:endParaRPr lang="de-DE" dirty="0"/>
              </a:p>
              <a:p>
                <a:r>
                  <a:rPr lang="de-DE" dirty="0" err="1"/>
                  <a:t>Idea</a:t>
                </a:r>
                <a:r>
                  <a:rPr lang="de-DE" dirty="0"/>
                  <a:t>: do not </a:t>
                </a:r>
                <a:r>
                  <a:rPr lang="de-DE" dirty="0" err="1"/>
                  <a:t>explicitely</a:t>
                </a:r>
                <a:r>
                  <a:rPr lang="de-DE" dirty="0"/>
                  <a:t> </a:t>
                </a:r>
                <a:r>
                  <a:rPr lang="de-DE" dirty="0" err="1"/>
                  <a:t>solve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matrix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, but find an approximate solution</a:t>
                </a:r>
              </a:p>
              <a:p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𝑨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which defines the iteration error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At convergence, we obtain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Prerequisites to be effective: solving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𝑨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>
                  <a:tabLst>
                    <a:tab pos="266700" algn="l"/>
                  </a:tabLst>
                </a:pPr>
                <a:r>
                  <a:rPr lang="en-US" dirty="0"/>
                  <a:t>	(1) must be cheap and (2) should show rapid convergence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0A217517-D2A7-51A6-F22C-AAE8C9592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" y="1154113"/>
                <a:ext cx="10972800" cy="4579938"/>
              </a:xfrm>
              <a:blipFill>
                <a:blip r:embed="rId2"/>
                <a:stretch>
                  <a:fillRect l="-1389" t="-1729" b="-31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39B6D26-5466-889E-DE2F-211DD8B7DCC3}"/>
                  </a:ext>
                </a:extLst>
              </p:cNvPr>
              <p:cNvSpPr txBox="1"/>
              <p:nvPr/>
            </p:nvSpPr>
            <p:spPr>
              <a:xfrm>
                <a:off x="6832071" y="2018091"/>
                <a:ext cx="4974166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1" i="1" kern="0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de-DE" sz="1200" b="0" i="1" kern="0" dirty="0"/>
                  <a:t>…	</a:t>
                </a:r>
                <a:r>
                  <a:rPr lang="de-DE" sz="1200" kern="0" dirty="0" err="1"/>
                  <a:t>square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sparse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coefficient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matrix</a:t>
                </a:r>
                <a:endParaRPr lang="de-DE" sz="1200" kern="0" dirty="0"/>
              </a:p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1" i="1" kern="0" smtClean="0"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r>
                  <a:rPr lang="de-DE" sz="1200" kern="0" dirty="0"/>
                  <a:t>… 	</a:t>
                </a:r>
                <a:r>
                  <a:rPr lang="de-DE" sz="1200" kern="0" dirty="0" err="1"/>
                  <a:t>vector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of</a:t>
                </a:r>
                <a:r>
                  <a:rPr lang="de-DE" sz="1200" kern="0" dirty="0"/>
                  <a:t> variable </a:t>
                </a:r>
                <a:r>
                  <a:rPr lang="de-DE" sz="1200" kern="0" dirty="0" err="1"/>
                  <a:t>values</a:t>
                </a:r>
                <a:r>
                  <a:rPr lang="de-DE" sz="1200" kern="0" dirty="0"/>
                  <a:t> on </a:t>
                </a:r>
                <a:r>
                  <a:rPr lang="de-DE" sz="1200" kern="0" dirty="0" err="1"/>
                  <a:t>the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grid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nodes</a:t>
                </a:r>
                <a:endParaRPr lang="de-DE" sz="1200" kern="0" dirty="0"/>
              </a:p>
              <a:p>
                <a:pPr marL="1346200" lvl="1" indent="-900113">
                  <a:buNone/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1" i="1" kern="0" dirty="0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de-DE" sz="1200" kern="0" dirty="0"/>
                  <a:t>…	</a:t>
                </a:r>
                <a:r>
                  <a:rPr lang="de-DE" sz="1200" kern="0" dirty="0" err="1"/>
                  <a:t>vector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containing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known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values</a:t>
                </a:r>
                <a:r>
                  <a:rPr lang="de-DE" sz="1200" kern="0" dirty="0"/>
                  <a:t>, </a:t>
                </a:r>
                <a:r>
                  <a:rPr lang="de-DE" sz="1200" kern="0" dirty="0" err="1"/>
                  <a:t>boundary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conditions</a:t>
                </a:r>
                <a:r>
                  <a:rPr lang="de-DE" sz="1200" kern="0" dirty="0"/>
                  <a:t> and </a:t>
                </a:r>
                <a:r>
                  <a:rPr lang="de-DE" sz="1200" kern="0" dirty="0" err="1"/>
                  <a:t>sources</a:t>
                </a:r>
                <a:r>
                  <a:rPr lang="de-DE" sz="1200" kern="0" dirty="0"/>
                  <a:t>/</a:t>
                </a:r>
                <a:r>
                  <a:rPr lang="de-DE" sz="1200" kern="0" dirty="0" err="1"/>
                  <a:t>sinks</a:t>
                </a:r>
                <a:endParaRPr lang="de-DE" sz="1200" kern="0" dirty="0"/>
              </a:p>
              <a:p>
                <a:pPr lvl="1"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1" i="1" kern="0" dirty="0" smtClean="0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de-DE" sz="1200" kern="0" dirty="0"/>
                  <a:t>…	non-zero residual</a:t>
                </a:r>
              </a:p>
              <a:p>
                <a:pPr lvl="1"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0" i="1" kern="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sz="1200" kern="0" dirty="0"/>
                  <a:t>…	</a:t>
                </a:r>
                <a:r>
                  <a:rPr lang="de-DE" sz="1200" kern="0" dirty="0" err="1"/>
                  <a:t>number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of</a:t>
                </a:r>
                <a:r>
                  <a:rPr lang="de-DE" sz="1200" kern="0" dirty="0"/>
                  <a:t> </a:t>
                </a:r>
                <a:r>
                  <a:rPr lang="de-DE" sz="1200" kern="0" dirty="0" err="1"/>
                  <a:t>iterations</a:t>
                </a:r>
                <a:endParaRPr lang="de-DE" sz="1200" kern="0" dirty="0"/>
              </a:p>
              <a:p>
                <a:pPr lvl="1">
                  <a:tabLst>
                    <a:tab pos="266700" algn="l"/>
                    <a:tab pos="1346200" algn="l"/>
                  </a:tabLst>
                </a:pPr>
                <a:endParaRPr lang="de-DE" sz="1200" kern="0" dirty="0"/>
              </a:p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:endParaRPr lang="de-DE" sz="1200" kern="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39B6D26-5466-889E-DE2F-211DD8B7D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071" y="2018091"/>
                <a:ext cx="4974166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14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B14FE0-CF34-AC9A-0897-10BB2B00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solvers: Newton’s method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B71D669A-A6C3-ACBF-95D0-44B98A1B4E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1041" y="1484313"/>
                <a:ext cx="5577840" cy="4249738"/>
              </a:xfrm>
            </p:spPr>
            <p:txBody>
              <a:bodyPr/>
              <a:lstStyle/>
              <a:p>
                <a:r>
                  <a:rPr lang="de-DE" dirty="0"/>
                  <a:t>Idea: 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known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start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an initial </a:t>
                </a:r>
                <a:r>
                  <a:rPr lang="de-DE" dirty="0" err="1"/>
                  <a:t>guess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dirty="0"/>
                  <a:t>) </a:t>
                </a:r>
                <a:r>
                  <a:rPr lang="de-DE" dirty="0" err="1"/>
                  <a:t>close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true</a:t>
                </a:r>
                <a:r>
                  <a:rPr lang="de-DE" dirty="0"/>
                  <a:t> </a:t>
                </a:r>
                <a:r>
                  <a:rPr lang="de-DE" dirty="0" err="1"/>
                  <a:t>solution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solidFill>
                          <a:srgbClr val="228914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dirty="0"/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de-DE" dirty="0"/>
                  <a:t>Use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tangent</a:t>
                </a:r>
                <a:r>
                  <a:rPr lang="de-DE" dirty="0"/>
                  <a:t> </a:t>
                </a:r>
                <a:r>
                  <a:rPr lang="de-DE" dirty="0" err="1"/>
                  <a:t>line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obtain</a:t>
                </a:r>
                <a:r>
                  <a:rPr lang="de-DE" dirty="0"/>
                  <a:t> </a:t>
                </a:r>
                <a:r>
                  <a:rPr lang="de-DE" dirty="0" err="1"/>
                  <a:t>another</a:t>
                </a:r>
                <a:r>
                  <a:rPr lang="de-DE" dirty="0"/>
                  <a:t> </a:t>
                </a:r>
                <a:r>
                  <a:rPr lang="de-DE" dirty="0" err="1"/>
                  <a:t>value</a:t>
                </a:r>
                <a:r>
                  <a:rPr lang="de-DE" dirty="0"/>
                  <a:t> (</a:t>
                </a:r>
                <a:r>
                  <a:rPr lang="de-DE" dirty="0">
                    <a:solidFill>
                      <a:srgbClr val="FF0000"/>
                    </a:solidFill>
                  </a:rPr>
                  <a:t>c</a:t>
                </a:r>
                <a:r>
                  <a:rPr lang="de-DE" dirty="0"/>
                  <a:t>)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even</a:t>
                </a:r>
                <a:r>
                  <a:rPr lang="de-DE" dirty="0"/>
                  <a:t> </a:t>
                </a:r>
                <a:r>
                  <a:rPr lang="de-DE" dirty="0" err="1"/>
                  <a:t>closer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true</a:t>
                </a:r>
                <a:r>
                  <a:rPr lang="de-DE" dirty="0"/>
                  <a:t> </a:t>
                </a:r>
                <a:r>
                  <a:rPr lang="de-DE" dirty="0" err="1"/>
                  <a:t>solution</a:t>
                </a:r>
                <a:endParaRPr lang="de-DE" dirty="0"/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de-DE" dirty="0"/>
                  <a:t>Repeat for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iterations</a:t>
                </a:r>
                <a:r>
                  <a:rPr lang="de-DE" dirty="0"/>
                  <a:t> </a:t>
                </a:r>
                <a:r>
                  <a:rPr lang="de-DE" dirty="0" err="1"/>
                  <a:t>until</a:t>
                </a:r>
                <a:r>
                  <a:rPr lang="de-DE" dirty="0"/>
                  <a:t> </a:t>
                </a:r>
                <a:r>
                  <a:rPr lang="de-DE" dirty="0" err="1"/>
                  <a:t>new</a:t>
                </a:r>
                <a:r>
                  <a:rPr lang="de-DE" dirty="0"/>
                  <a:t> 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close</a:t>
                </a:r>
                <a:r>
                  <a:rPr lang="de-DE" dirty="0"/>
                  <a:t> </a:t>
                </a:r>
                <a:r>
                  <a:rPr lang="de-DE" dirty="0" err="1"/>
                  <a:t>enough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previous</a:t>
                </a:r>
                <a:r>
                  <a:rPr lang="de-DE" dirty="0"/>
                  <a:t> </a:t>
                </a:r>
                <a:r>
                  <a:rPr lang="de-DE" dirty="0" err="1"/>
                  <a:t>one</a:t>
                </a:r>
                <a:endParaRPr lang="de-DE" dirty="0"/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num>
                      <m:den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de-DE" dirty="0"/>
                  <a:t> 	  </a:t>
                </a:r>
                <a:r>
                  <a:rPr lang="de-DE" dirty="0" err="1"/>
                  <a:t>until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de-DE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B71D669A-A6C3-ACBF-95D0-44B98A1B4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1041" y="1484313"/>
                <a:ext cx="5577840" cy="4249738"/>
              </a:xfrm>
              <a:blipFill>
                <a:blip r:embed="rId2"/>
                <a:stretch>
                  <a:fillRect l="-2732" t="-1862" r="-27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>
            <a:extLst>
              <a:ext uri="{FF2B5EF4-FFF2-40B4-BE49-F238E27FC236}">
                <a16:creationId xmlns:a16="http://schemas.microsoft.com/office/drawing/2014/main" id="{AE6B44B6-7286-B107-9FD0-D3386A0168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0" r="18608" b="10716"/>
          <a:stretch/>
        </p:blipFill>
        <p:spPr>
          <a:xfrm>
            <a:off x="6433380" y="1072791"/>
            <a:ext cx="2738585" cy="2232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98BE939-B60E-A018-838C-2C2710BFF07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19" r="18559" b="10716"/>
          <a:stretch/>
        </p:blipFill>
        <p:spPr>
          <a:xfrm>
            <a:off x="9207703" y="1072791"/>
            <a:ext cx="2738585" cy="2232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3A68CBE-67EA-1616-4D4F-B91DA339A0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1" r="18787" b="10716"/>
          <a:stretch/>
        </p:blipFill>
        <p:spPr>
          <a:xfrm>
            <a:off x="6419242" y="3141687"/>
            <a:ext cx="2738585" cy="2232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9406022-7148-A902-8A4D-503DC129A93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5" r="12994" b="10716"/>
          <a:stretch/>
        </p:blipFill>
        <p:spPr>
          <a:xfrm>
            <a:off x="8693517" y="3053419"/>
            <a:ext cx="3283863" cy="2232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C552936-DD7A-1206-2AD5-5A75E0403B53}"/>
              </a:ext>
            </a:extLst>
          </p:cNvPr>
          <p:cNvSpPr txBox="1"/>
          <p:nvPr/>
        </p:nvSpPr>
        <p:spPr>
          <a:xfrm>
            <a:off x="6720840" y="5681317"/>
            <a:ext cx="4575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/>
              <a:t>https://calcworkshop.com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171954B-8D77-88B2-6E31-6D03DE3C3AE4}"/>
              </a:ext>
            </a:extLst>
          </p:cNvPr>
          <p:cNvSpPr txBox="1"/>
          <p:nvPr/>
        </p:nvSpPr>
        <p:spPr>
          <a:xfrm>
            <a:off x="6592360" y="2358430"/>
            <a:ext cx="79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28914"/>
                </a:solidFill>
              </a:rPr>
              <a:t>True solution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49EBB7E-560B-9645-A9D4-FBBC36C60CE7}"/>
              </a:ext>
            </a:extLst>
          </p:cNvPr>
          <p:cNvSpPr txBox="1"/>
          <p:nvPr/>
        </p:nvSpPr>
        <p:spPr>
          <a:xfrm>
            <a:off x="9371120" y="2358429"/>
            <a:ext cx="79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28914"/>
                </a:solidFill>
              </a:rPr>
              <a:t>True solution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6BF8A0-9EAF-511E-42D5-6C21F90BCEB7}"/>
              </a:ext>
            </a:extLst>
          </p:cNvPr>
          <p:cNvSpPr txBox="1"/>
          <p:nvPr/>
        </p:nvSpPr>
        <p:spPr>
          <a:xfrm>
            <a:off x="6592360" y="4418877"/>
            <a:ext cx="79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28914"/>
                </a:solidFill>
              </a:rPr>
              <a:t>True solution</a:t>
            </a:r>
          </a:p>
        </p:txBody>
      </p:sp>
    </p:spTree>
    <p:extLst>
      <p:ext uri="{BB962C8B-B14F-4D97-AF65-F5344CB8AC3E}">
        <p14:creationId xmlns:p14="http://schemas.microsoft.com/office/powerpoint/2010/main" val="230972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64976-BEFA-3FFE-BAFE-0F444F466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solvers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F66E7C0-A5E9-F9C7-E928-3DB7905FAFA2}"/>
                  </a:ext>
                </a:extLst>
              </p:cNvPr>
              <p:cNvSpPr txBox="1"/>
              <p:nvPr/>
            </p:nvSpPr>
            <p:spPr>
              <a:xfrm>
                <a:off x="1082040" y="1401306"/>
                <a:ext cx="10568940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dirty="0"/>
                  <a:t>Many iterative solvers with varying complexity exist to solve large matrix systems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Conjugate Gradients: requires uniform mesh sizes, i.e.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de-DE" b="0" dirty="0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Biconjugate Gradients: also works for nonuniform meshes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GMRES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…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No general rule to find the optimal solver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Usually available in pre-build libraries </a:t>
                </a:r>
                <a:r>
                  <a:rPr lang="en-US" dirty="0" err="1">
                    <a:sym typeface="Wingdings" panose="05000000000000000000" pitchFamily="2" charset="2"/>
                  </a:rPr>
                  <a:t>PETSc</a:t>
                </a:r>
                <a:r>
                  <a:rPr lang="en-US" dirty="0">
                    <a:sym typeface="Wingdings" panose="05000000000000000000" pitchFamily="2" charset="2"/>
                  </a:rPr>
                  <a:t>, </a:t>
                </a:r>
                <a:r>
                  <a:rPr lang="en-US" dirty="0" err="1">
                    <a:sym typeface="Wingdings" panose="05000000000000000000" pitchFamily="2" charset="2"/>
                  </a:rPr>
                  <a:t>Hypre</a:t>
                </a:r>
                <a:r>
                  <a:rPr lang="en-US" dirty="0">
                    <a:sym typeface="Wingdings" panose="05000000000000000000" pitchFamily="2" charset="2"/>
                  </a:rPr>
                  <a:t>,….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F66E7C0-A5E9-F9C7-E928-3DB7905FA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0" y="1401306"/>
                <a:ext cx="10568940" cy="4247317"/>
              </a:xfrm>
              <a:prstGeom prst="rect">
                <a:avLst/>
              </a:prstGeom>
              <a:blipFill>
                <a:blip r:embed="rId2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224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F0A9B-05DF-E5DC-3512-D7C41B83F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solve a linear system in Python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879BF0DA-7B4B-C61F-0792-9538FB4E2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1" y="1508149"/>
            <a:ext cx="5172116" cy="3354840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b="1" dirty="0" err="1"/>
              <a:t>Scipy</a:t>
            </a:r>
            <a:r>
              <a:rPr lang="en-US" b="1" dirty="0"/>
              <a:t> </a:t>
            </a:r>
            <a:r>
              <a:rPr lang="en-US" dirty="0"/>
              <a:t>library together with </a:t>
            </a:r>
            <a:r>
              <a:rPr lang="en-US" b="1" dirty="0" err="1"/>
              <a:t>Numpy</a:t>
            </a:r>
            <a:r>
              <a:rPr lang="en-US" dirty="0"/>
              <a:t>:</a:t>
            </a:r>
          </a:p>
          <a:p>
            <a:endParaRPr lang="en-US" b="1" dirty="0"/>
          </a:p>
          <a:p>
            <a:r>
              <a:rPr lang="en-US" dirty="0"/>
              <a:t>Construct matrix </a:t>
            </a:r>
            <a:r>
              <a:rPr lang="en-US" b="1" dirty="0"/>
              <a:t>A</a:t>
            </a:r>
            <a:r>
              <a:rPr lang="en-US" dirty="0"/>
              <a:t> and vector </a:t>
            </a:r>
            <a:r>
              <a:rPr lang="en-US" b="1" dirty="0"/>
              <a:t>Q</a:t>
            </a:r>
            <a:r>
              <a:rPr lang="en-US" dirty="0"/>
              <a:t> as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  <a:p>
            <a:endParaRPr lang="en-US" dirty="0"/>
          </a:p>
          <a:p>
            <a:r>
              <a:rPr lang="en-US" dirty="0"/>
              <a:t>By using one of the solver functions compute the solution </a:t>
            </a:r>
            <a:r>
              <a:rPr lang="en-US" b="1" dirty="0"/>
              <a:t>x</a:t>
            </a:r>
          </a:p>
          <a:p>
            <a:endParaRPr lang="en-US" b="1" dirty="0"/>
          </a:p>
          <a:p>
            <a:pPr marL="268288" indent="-268288"/>
            <a:r>
              <a:rPr lang="en-US" dirty="0">
                <a:sym typeface="Wingdings" panose="05000000000000000000" pitchFamily="2" charset="2"/>
              </a:rPr>
              <a:t> More details will follow in the exercise</a:t>
            </a:r>
            <a:endParaRPr lang="en-US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EA66BBE8-B6BE-C50D-FD4C-09388B20F36F}"/>
              </a:ext>
            </a:extLst>
          </p:cNvPr>
          <p:cNvSpPr txBox="1">
            <a:spLocks/>
          </p:cNvSpPr>
          <p:nvPr/>
        </p:nvSpPr>
        <p:spPr>
          <a:xfrm>
            <a:off x="1345884" y="2586061"/>
            <a:ext cx="7892822" cy="227692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96000" indent="-324000" algn="l" defTabSz="914400" rtl="0" eaLnBrk="1" latinLnBrk="0" hangingPunct="1">
              <a:spcBef>
                <a:spcPts val="300"/>
              </a:spcBef>
              <a:buFont typeface="Open Sans" panose="020B0606030504020204" pitchFamily="34" charset="0"/>
              <a:buChar char="—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96000" indent="-216000" algn="l" defTabSz="914400" rtl="0" eaLnBrk="1" latinLnBrk="0" hangingPunct="1">
              <a:spcBef>
                <a:spcPts val="3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576000" indent="-179388" algn="l" defTabSz="914400" rtl="0" eaLnBrk="1" latinLnBrk="0" hangingPunct="1">
              <a:spcBef>
                <a:spcPts val="300"/>
              </a:spcBef>
              <a:buFont typeface="Symbol" panose="05050102010706020507" pitchFamily="18" charset="2"/>
              <a:buChar char="-"/>
              <a:defRPr sz="14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75" indent="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358775" indent="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DC4B2DBB-C17A-511B-4162-E3EF07C32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765859"/>
              </p:ext>
            </p:extLst>
          </p:nvPr>
        </p:nvGraphicFramePr>
        <p:xfrm>
          <a:off x="6017937" y="1508149"/>
          <a:ext cx="5853531" cy="3991476"/>
        </p:xfrm>
        <a:graphic>
          <a:graphicData uri="http://schemas.openxmlformats.org/drawingml/2006/table">
            <a:tbl>
              <a:tblPr/>
              <a:tblGrid>
                <a:gridCol w="5853531">
                  <a:extLst>
                    <a:ext uri="{9D8B030D-6E8A-4147-A177-3AD203B41FA5}">
                      <a16:colId xmlns:a16="http://schemas.microsoft.com/office/drawing/2014/main" val="1867937143"/>
                    </a:ext>
                  </a:extLst>
                </a:gridCol>
              </a:tblGrid>
              <a:tr h="306302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b="0" i="0" u="none" strike="noStrike" dirty="0">
                          <a:solidFill>
                            <a:srgbClr val="FCC28C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numpy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1000" b="0" i="0" u="none" strike="noStrike" dirty="0">
                          <a:solidFill>
                            <a:srgbClr val="FCC28C"/>
                          </a:solidFill>
                          <a:effectLst/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np 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FCC28C"/>
                          </a:solidFill>
                          <a:effectLst/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scipy.sparse.linalg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1000" b="0" i="0" u="none" strike="noStrike" dirty="0">
                          <a:solidFill>
                            <a:srgbClr val="FCC28C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spsolve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, cg,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bicg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# 2x2 system of equations: 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# 3x + y = 9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# x + 2y = 8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# This system can be written as </a:t>
                      </a:r>
                      <a:r>
                        <a:rPr lang="en-GB" sz="1000" b="0" i="0" u="none" strike="noStrike" dirty="0" err="1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Ax</a:t>
                      </a: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 = Q, where A is the matrix and Q is the result vector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# Coefficient matrix (A)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A =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np.array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([[</a:t>
                      </a:r>
                      <a:r>
                        <a:rPr lang="en-GB" sz="1000" b="0" i="0" u="none" strike="noStrike" dirty="0">
                          <a:solidFill>
                            <a:srgbClr val="D36363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GB" sz="1000" b="0" i="0" u="none" strike="noStrike" dirty="0">
                          <a:solidFill>
                            <a:srgbClr val="D36363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],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[</a:t>
                      </a:r>
                      <a:r>
                        <a:rPr lang="en-GB" sz="1000" b="0" i="0" u="none" strike="noStrike" dirty="0">
                          <a:solidFill>
                            <a:srgbClr val="D36363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GB" sz="1000" b="0" i="0" u="none" strike="noStrike" dirty="0">
                          <a:solidFill>
                            <a:srgbClr val="D36363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]])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# Right-hand side (b)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Q =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np.array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([</a:t>
                      </a:r>
                      <a:r>
                        <a:rPr lang="en-GB" sz="1000" b="0" i="0" u="none" strike="noStrike" dirty="0">
                          <a:solidFill>
                            <a:srgbClr val="D36363"/>
                          </a:solidFill>
                          <a:effectLst/>
                          <a:latin typeface="Consolas" panose="020B0609020204030204" pitchFamily="49" charset="0"/>
                        </a:rPr>
                        <a:t>9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GB" sz="1000" b="0" i="0" u="none" strike="noStrike" dirty="0">
                          <a:solidFill>
                            <a:srgbClr val="D36363"/>
                          </a:solidFill>
                          <a:effectLst/>
                          <a:latin typeface="Consolas" panose="020B0609020204030204" pitchFamily="49" charset="0"/>
                        </a:rPr>
                        <a:t>8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])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# 1. Using </a:t>
                      </a:r>
                      <a:r>
                        <a:rPr lang="en-GB" sz="1000" b="0" i="0" u="none" strike="noStrike" dirty="0" err="1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spsolve</a:t>
                      </a: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 (direct solver)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x_spsolve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spsolve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A_sparse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, Q)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# 2. Using cg (Conjugate Gradient) iterative solver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x_cg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info_cg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= cg(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A_sparse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, Q)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# 3. Using </a:t>
                      </a:r>
                      <a:r>
                        <a:rPr lang="en-GB" sz="1000" b="0" i="0" u="none" strike="noStrike" dirty="0" err="1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bicg</a:t>
                      </a:r>
                      <a:r>
                        <a:rPr lang="en-GB" sz="1000" b="0" i="0" u="none" strike="noStrike" dirty="0">
                          <a:solidFill>
                            <a:srgbClr val="888888"/>
                          </a:solidFill>
                          <a:effectLst/>
                          <a:latin typeface="Consolas" panose="020B0609020204030204" pitchFamily="49" charset="0"/>
                        </a:rPr>
                        <a:t> (Bi-Conjugate Gradient) iterative solver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x_bicg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info_bicg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bicg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GB" sz="10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A_sparse</a:t>
                      </a:r>
                      <a: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, Q)</a:t>
                      </a:r>
                      <a:br>
                        <a:rPr lang="en-GB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en-GB" sz="1600" dirty="0">
                        <a:effectLst/>
                      </a:endParaRPr>
                    </a:p>
                  </a:txBody>
                  <a:tcPr marL="45018" marR="45018" marT="45018" marB="4501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657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737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3600" b="0" strike="noStrike" spc="-1" dirty="0">
                <a:solidFill>
                  <a:schemeClr val="lt1"/>
                </a:solidFill>
                <a:latin typeface="Open Sans Light"/>
                <a:ea typeface="Open Sans Light"/>
              </a:rPr>
              <a:t>Finite </a:t>
            </a:r>
            <a:r>
              <a:rPr lang="de-DE" sz="3600" b="0" strike="noStrike" spc="-1" dirty="0" err="1">
                <a:solidFill>
                  <a:schemeClr val="lt1"/>
                </a:solidFill>
                <a:latin typeface="Open Sans Light"/>
                <a:ea typeface="Open Sans Light"/>
              </a:rPr>
              <a:t>volume</a:t>
            </a:r>
            <a:r>
              <a:rPr lang="de-DE" sz="3600" b="0" strike="noStrike" spc="-1" dirty="0">
                <a:solidFill>
                  <a:schemeClr val="lt1"/>
                </a:solidFill>
                <a:latin typeface="Open Sans Light"/>
                <a:ea typeface="Open Sans Light"/>
              </a:rPr>
              <a:t> </a:t>
            </a:r>
            <a:r>
              <a:rPr lang="de-DE" sz="3600" b="0" strike="noStrike" spc="-1" dirty="0" err="1">
                <a:solidFill>
                  <a:schemeClr val="lt1"/>
                </a:solidFill>
                <a:latin typeface="Open Sans Light"/>
                <a:ea typeface="Open Sans Light"/>
              </a:rPr>
              <a:t>method</a:t>
            </a:r>
            <a:endParaRPr lang="de-DE" sz="3600" b="0" strike="noStrike" spc="-1" dirty="0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0DE5C1C8-3C0F-6AE6-78A5-B98B848E98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83946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8B48DD-4595-F2BD-04D6-4E07A37E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Staggered grids for velocity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B87D8045-D07D-0EE0-A253-82C2B0E193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18006" y="1304131"/>
                <a:ext cx="8373201" cy="4249738"/>
              </a:xfrm>
            </p:spPr>
            <p:txBody>
              <a:bodyPr/>
              <a:lstStyle/>
              <a:p>
                <a:r>
                  <a:rPr lang="en-US" dirty="0"/>
                  <a:t>Note: grids for scalars and velocity do not commence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Staggered grid for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temperature/pressure cell centered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endParaRPr lang="en-US" dirty="0">
                  <a:solidFill>
                    <a:srgbClr val="0070C0"/>
                  </a:solidFill>
                  <a:sym typeface="Wingdings" panose="05000000000000000000" pitchFamily="2" charset="2"/>
                </a:endParaRP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:r>
                  <a:rPr lang="en-US" dirty="0">
                    <a:sym typeface="Wingdings" panose="05000000000000000000" pitchFamily="2" charset="2"/>
                  </a:rPr>
                  <a:t>better stability of the method</a:t>
                </a:r>
              </a:p>
              <a:p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+1/2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−1/2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+1/2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B87D8045-D07D-0EE0-A253-82C2B0E19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8006" y="1304131"/>
                <a:ext cx="8373201" cy="4249738"/>
              </a:xfrm>
              <a:blipFill>
                <a:blip r:embed="rId2"/>
                <a:stretch>
                  <a:fillRect l="-1894" t="-1865" b="-4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E85F9BA-4BF1-8CA7-F769-999365D56B1E}"/>
              </a:ext>
            </a:extLst>
          </p:cNvPr>
          <p:cNvGrpSpPr>
            <a:grpSpLocks noChangeAspect="1"/>
          </p:cNvGrpSpPr>
          <p:nvPr/>
        </p:nvGrpSpPr>
        <p:grpSpPr>
          <a:xfrm>
            <a:off x="6708022" y="1602731"/>
            <a:ext cx="4577976" cy="4265343"/>
            <a:chOff x="1204558" y="968783"/>
            <a:chExt cx="4319208" cy="4024245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3A4A3822-D761-C49E-B710-8AB44AFD737D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H="1">
              <a:off x="3492060" y="1268763"/>
              <a:ext cx="0" cy="324035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3B97652B-8B3D-5F56-A569-50BB366C3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8118" y="2873650"/>
              <a:ext cx="3203633" cy="635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F7AE7A-E879-FAE2-DD8E-1A904175B877}"/>
                </a:ext>
              </a:extLst>
            </p:cNvPr>
            <p:cNvSpPr/>
            <p:nvPr/>
          </p:nvSpPr>
          <p:spPr>
            <a:xfrm>
              <a:off x="2952000" y="2348880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4DA48E52-91A8-E691-94B5-D0E83CB0C975}"/>
                </a:ext>
              </a:extLst>
            </p:cNvPr>
            <p:cNvSpPr/>
            <p:nvPr/>
          </p:nvSpPr>
          <p:spPr>
            <a:xfrm>
              <a:off x="4031631" y="2348880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9181AD5-7301-CB29-C72F-60E4A96D6384}"/>
                </a:ext>
              </a:extLst>
            </p:cNvPr>
            <p:cNvSpPr/>
            <p:nvPr/>
          </p:nvSpPr>
          <p:spPr>
            <a:xfrm>
              <a:off x="2952000" y="1268763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2E3F0FE9-B2A1-D6BE-DE2D-1FCF9EB182DC}"/>
                </a:ext>
              </a:extLst>
            </p:cNvPr>
            <p:cNvSpPr/>
            <p:nvPr/>
          </p:nvSpPr>
          <p:spPr>
            <a:xfrm>
              <a:off x="4031631" y="1268763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486864C1-BDD3-BB70-497B-67FE883FF237}"/>
                </a:ext>
              </a:extLst>
            </p:cNvPr>
            <p:cNvSpPr/>
            <p:nvPr/>
          </p:nvSpPr>
          <p:spPr>
            <a:xfrm>
              <a:off x="2952000" y="3428997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2ABD780-82E5-4C20-410E-0F81B8F6F7EF}"/>
                </a:ext>
              </a:extLst>
            </p:cNvPr>
            <p:cNvSpPr/>
            <p:nvPr/>
          </p:nvSpPr>
          <p:spPr>
            <a:xfrm>
              <a:off x="4031631" y="3428997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B7C47C0-8C40-423A-60E7-457A2D73495B}"/>
                </a:ext>
              </a:extLst>
            </p:cNvPr>
            <p:cNvSpPr/>
            <p:nvPr/>
          </p:nvSpPr>
          <p:spPr>
            <a:xfrm>
              <a:off x="1871636" y="2348880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E50CD8A1-2DAC-2EFE-1D8A-6F3AD4F7C39A}"/>
                </a:ext>
              </a:extLst>
            </p:cNvPr>
            <p:cNvSpPr/>
            <p:nvPr/>
          </p:nvSpPr>
          <p:spPr>
            <a:xfrm>
              <a:off x="1871636" y="1268763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310D6BF3-5B97-CC5F-EFAB-B02A37BB1579}"/>
                </a:ext>
              </a:extLst>
            </p:cNvPr>
            <p:cNvSpPr/>
            <p:nvPr/>
          </p:nvSpPr>
          <p:spPr>
            <a:xfrm>
              <a:off x="1871636" y="3428997"/>
              <a:ext cx="1080120" cy="1080117"/>
            </a:xfrm>
            <a:prstGeom prst="rect">
              <a:avLst/>
            </a:prstGeom>
            <a:ln w="19050">
              <a:solidFill>
                <a:schemeClr val="bg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2C648638-ED4A-C58E-C079-E6082D86CACF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4" y="1793222"/>
              <a:ext cx="3222321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10D2AF9-ABB7-2162-36DB-DDD8FF3C4F2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4" y="3981687"/>
              <a:ext cx="3222321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CC3E64D7-8AD8-EE63-67C7-BF6FDAC25E48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H="1">
              <a:off x="4571690" y="1268762"/>
              <a:ext cx="12073" cy="3240352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730F7B20-DFC9-24FF-71E3-44F56D1538EE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H="1">
              <a:off x="2411695" y="1268760"/>
              <a:ext cx="21256" cy="3240353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94EBDFAE-D4B1-6CA3-6810-7CBEE037AE0B}"/>
                    </a:ext>
                  </a:extLst>
                </p:cNvPr>
                <p:cNvSpPr txBox="1"/>
                <p:nvPr/>
              </p:nvSpPr>
              <p:spPr>
                <a:xfrm>
                  <a:off x="1204558" y="2756355"/>
                  <a:ext cx="143379" cy="259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CA21FADA-6B0F-4D6C-B709-CF65DDE1D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558" y="2756355"/>
                  <a:ext cx="143379" cy="259539"/>
                </a:xfrm>
                <a:prstGeom prst="rect">
                  <a:avLst/>
                </a:prstGeom>
                <a:blipFill>
                  <a:blip r:embed="rId4"/>
                  <a:stretch>
                    <a:fillRect l="-41176" r="-41176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2BEEF6BE-1EFC-B5B5-0DA8-2776FF68F7A7}"/>
                    </a:ext>
                  </a:extLst>
                </p:cNvPr>
                <p:cNvSpPr txBox="1"/>
                <p:nvPr/>
              </p:nvSpPr>
              <p:spPr>
                <a:xfrm>
                  <a:off x="3440440" y="4641870"/>
                  <a:ext cx="135268" cy="259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A106DF9F-B504-43DF-A22D-8FA842EC1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440" y="4641870"/>
                  <a:ext cx="135268" cy="259539"/>
                </a:xfrm>
                <a:prstGeom prst="rect">
                  <a:avLst/>
                </a:prstGeom>
                <a:blipFill>
                  <a:blip r:embed="rId5"/>
                  <a:stretch>
                    <a:fillRect l="-31250" r="-25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0550442C-2032-8B66-D004-AF6B36FB7E6B}"/>
                    </a:ext>
                  </a:extLst>
                </p:cNvPr>
                <p:cNvSpPr txBox="1"/>
                <p:nvPr/>
              </p:nvSpPr>
              <p:spPr>
                <a:xfrm>
                  <a:off x="4371108" y="4641870"/>
                  <a:ext cx="512951" cy="259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2418AB31-8201-43F2-BE0C-5F51DBF9E0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108" y="4641870"/>
                  <a:ext cx="512951" cy="259539"/>
                </a:xfrm>
                <a:prstGeom prst="rect">
                  <a:avLst/>
                </a:prstGeom>
                <a:blipFill>
                  <a:blip r:embed="rId6"/>
                  <a:stretch>
                    <a:fillRect l="-6667" r="-8333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34CAA1F1-45D9-7B8C-03F1-3A71E078C6D2}"/>
                    </a:ext>
                  </a:extLst>
                </p:cNvPr>
                <p:cNvSpPr txBox="1"/>
                <p:nvPr/>
              </p:nvSpPr>
              <p:spPr>
                <a:xfrm>
                  <a:off x="3836784" y="4507202"/>
                  <a:ext cx="512951" cy="4858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30FBF83E-5D9D-451D-9104-A2A6AD88A8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784" y="4507202"/>
                  <a:ext cx="512951" cy="485826"/>
                </a:xfrm>
                <a:prstGeom prst="rect">
                  <a:avLst/>
                </a:prstGeom>
                <a:blipFill>
                  <a:blip r:embed="rId7"/>
                  <a:stretch>
                    <a:fillRect l="-6667" t="-3509" r="-8333" b="-140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73E000AC-0E5E-1D45-1387-11895AF4B7EF}"/>
                    </a:ext>
                  </a:extLst>
                </p:cNvPr>
                <p:cNvSpPr txBox="1"/>
                <p:nvPr/>
              </p:nvSpPr>
              <p:spPr>
                <a:xfrm>
                  <a:off x="2712766" y="4507201"/>
                  <a:ext cx="512951" cy="4858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B582AF8B-A7DA-47D4-BC0C-2F500A4BA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2766" y="4507201"/>
                  <a:ext cx="512951" cy="485826"/>
                </a:xfrm>
                <a:prstGeom prst="rect">
                  <a:avLst/>
                </a:prstGeom>
                <a:blipFill>
                  <a:blip r:embed="rId8"/>
                  <a:stretch>
                    <a:fillRect l="-8333" t="-3509" r="-8333" b="-140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F3885267-DA88-41A9-BC9D-9E3B14CF7766}"/>
                    </a:ext>
                  </a:extLst>
                </p:cNvPr>
                <p:cNvSpPr txBox="1"/>
                <p:nvPr/>
              </p:nvSpPr>
              <p:spPr>
                <a:xfrm>
                  <a:off x="2172826" y="4641558"/>
                  <a:ext cx="512951" cy="259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04E0DC86-92E5-4427-A25D-22196F543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2826" y="4641558"/>
                  <a:ext cx="512951" cy="259539"/>
                </a:xfrm>
                <a:prstGeom prst="rect">
                  <a:avLst/>
                </a:prstGeom>
                <a:blipFill>
                  <a:blip r:embed="rId9"/>
                  <a:stretch>
                    <a:fillRect l="-8333" r="-8333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DC3BB5FD-0080-D092-BB29-D800198F8F90}"/>
                    </a:ext>
                  </a:extLst>
                </p:cNvPr>
                <p:cNvSpPr txBox="1"/>
                <p:nvPr/>
              </p:nvSpPr>
              <p:spPr>
                <a:xfrm>
                  <a:off x="1204558" y="3856661"/>
                  <a:ext cx="521062" cy="259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F14105AC-8395-48A4-9AD4-29C91910C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558" y="3856661"/>
                  <a:ext cx="521062" cy="259539"/>
                </a:xfrm>
                <a:prstGeom prst="rect">
                  <a:avLst/>
                </a:prstGeom>
                <a:blipFill>
                  <a:blip r:embed="rId10"/>
                  <a:stretch>
                    <a:fillRect l="-11475" r="-8197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AFA08785-1239-8745-C88A-B583C45B5418}"/>
                    </a:ext>
                  </a:extLst>
                </p:cNvPr>
                <p:cNvSpPr txBox="1"/>
                <p:nvPr/>
              </p:nvSpPr>
              <p:spPr>
                <a:xfrm>
                  <a:off x="1204558" y="3158079"/>
                  <a:ext cx="521062" cy="4858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33BB0CA0-BD1B-482E-BE11-4D84E0C691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558" y="3158079"/>
                  <a:ext cx="521062" cy="485826"/>
                </a:xfrm>
                <a:prstGeom prst="rect">
                  <a:avLst/>
                </a:prstGeom>
                <a:blipFill>
                  <a:blip r:embed="rId11"/>
                  <a:stretch>
                    <a:fillRect l="-11475" t="-3571" r="-8197" b="-160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35CA1AA1-75B4-AA20-4091-C89FC8AED4C3}"/>
                    </a:ext>
                  </a:extLst>
                </p:cNvPr>
                <p:cNvSpPr txBox="1"/>
                <p:nvPr/>
              </p:nvSpPr>
              <p:spPr>
                <a:xfrm>
                  <a:off x="1204558" y="2086976"/>
                  <a:ext cx="521062" cy="4858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F3C8BB49-7BB3-40CA-8853-30E9E8104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558" y="2086976"/>
                  <a:ext cx="521062" cy="485826"/>
                </a:xfrm>
                <a:prstGeom prst="rect">
                  <a:avLst/>
                </a:prstGeom>
                <a:blipFill>
                  <a:blip r:embed="rId12"/>
                  <a:stretch>
                    <a:fillRect l="-11475" t="-3571" r="-8197" b="-160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8ABCF8E2-18DC-F258-F60E-8466C632E0A4}"/>
                    </a:ext>
                  </a:extLst>
                </p:cNvPr>
                <p:cNvSpPr txBox="1"/>
                <p:nvPr/>
              </p:nvSpPr>
              <p:spPr>
                <a:xfrm>
                  <a:off x="1204558" y="1674919"/>
                  <a:ext cx="521062" cy="259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62A1CDB7-C150-46B8-86E4-580C5741C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558" y="1674919"/>
                  <a:ext cx="521062" cy="259539"/>
                </a:xfrm>
                <a:prstGeom prst="rect">
                  <a:avLst/>
                </a:prstGeom>
                <a:blipFill>
                  <a:blip r:embed="rId13"/>
                  <a:stretch>
                    <a:fillRect l="-11475" r="-8197" b="-290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48683C3E-014E-A076-7AE7-59E00E540E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4192" y="2795349"/>
              <a:ext cx="144000" cy="144000"/>
            </a:xfrm>
            <a:prstGeom prst="ellipse">
              <a:avLst/>
            </a:prstGeom>
            <a:solidFill>
              <a:srgbClr val="0080B4"/>
            </a:solidFill>
            <a:ln w="1905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FF0C4A5E-7084-3CFA-6D97-494B64F77699}"/>
                    </a:ext>
                  </a:extLst>
                </p:cNvPr>
                <p:cNvSpPr txBox="1"/>
                <p:nvPr/>
              </p:nvSpPr>
              <p:spPr>
                <a:xfrm>
                  <a:off x="3366829" y="968783"/>
                  <a:ext cx="258724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FC2C5032-5254-4713-8682-5318B0E85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6829" y="968783"/>
                  <a:ext cx="258724" cy="215443"/>
                </a:xfrm>
                <a:prstGeom prst="rect">
                  <a:avLst/>
                </a:prstGeom>
                <a:blipFill>
                  <a:blip r:embed="rId14"/>
                  <a:stretch>
                    <a:fillRect l="-33333" r="-33333" b="-5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E8BD52B4-E5AC-94A4-80CC-3A834DDC5E62}"/>
                    </a:ext>
                  </a:extLst>
                </p:cNvPr>
                <p:cNvSpPr txBox="1"/>
                <p:nvPr/>
              </p:nvSpPr>
              <p:spPr>
                <a:xfrm>
                  <a:off x="5156715" y="2723904"/>
                  <a:ext cx="367051" cy="3027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C788816E-C513-4794-9BDB-CED60591E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6715" y="2723904"/>
                  <a:ext cx="367051" cy="302797"/>
                </a:xfrm>
                <a:prstGeom prst="rect">
                  <a:avLst/>
                </a:prstGeom>
                <a:blipFill>
                  <a:blip r:embed="rId15"/>
                  <a:stretch>
                    <a:fillRect l="-13953" r="-11628" b="-2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Gerade Verbindung mit Pfeil 33">
              <a:extLst>
                <a:ext uri="{FF2B5EF4-FFF2-40B4-BE49-F238E27FC236}">
                  <a16:creationId xmlns:a16="http://schemas.microsoft.com/office/drawing/2014/main" id="{69AAD42D-E59B-671A-4BC7-486017581732}"/>
                </a:ext>
              </a:extLst>
            </p:cNvPr>
            <p:cNvCxnSpPr/>
            <p:nvPr/>
          </p:nvCxnSpPr>
          <p:spPr>
            <a:xfrm>
              <a:off x="2951509" y="1268761"/>
              <a:ext cx="1080000" cy="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3E686496-6B1E-8DBE-87E4-183D7DA3428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570751" y="2888996"/>
              <a:ext cx="1080000" cy="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1057FAF1-94EC-C0B5-0814-B71C89E32C23}"/>
                </a:ext>
              </a:extLst>
            </p:cNvPr>
            <p:cNvCxnSpPr/>
            <p:nvPr/>
          </p:nvCxnSpPr>
          <p:spPr>
            <a:xfrm>
              <a:off x="2880000" y="2880000"/>
              <a:ext cx="252000" cy="0"/>
            </a:xfrm>
            <a:prstGeom prst="straightConnector1">
              <a:avLst/>
            </a:prstGeom>
            <a:ln w="25400">
              <a:solidFill>
                <a:srgbClr val="92D05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E1D09399-7BAC-0757-9458-48A2C89E6EFE}"/>
                </a:ext>
              </a:extLst>
            </p:cNvPr>
            <p:cNvCxnSpPr/>
            <p:nvPr/>
          </p:nvCxnSpPr>
          <p:spPr>
            <a:xfrm>
              <a:off x="3960000" y="2880000"/>
              <a:ext cx="252000" cy="0"/>
            </a:xfrm>
            <a:prstGeom prst="straightConnector1">
              <a:avLst/>
            </a:prstGeom>
            <a:ln w="25400">
              <a:solidFill>
                <a:srgbClr val="92D05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69E1262F-ABEF-ECD8-C9B0-CE03B930701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365880" y="2304000"/>
              <a:ext cx="25200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A5C3A7DC-E6BE-EF16-DBE8-7C8474BF8EB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365880" y="3384000"/>
              <a:ext cx="25200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0496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7341CA-1D1E-63DC-9D34-FE4892BE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volume method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31635A97-6FDF-E481-F343-F42757859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799" y="1314837"/>
                <a:ext cx="10917881" cy="4258220"/>
              </a:xfrm>
            </p:spPr>
            <p:txBody>
              <a:bodyPr/>
              <a:lstStyle/>
              <a:p>
                <a:r>
                  <a:rPr lang="en-US" dirty="0"/>
                  <a:t>Finite </a:t>
                </a:r>
                <a:r>
                  <a:rPr lang="en-US" b="1" dirty="0"/>
                  <a:t>difference</a:t>
                </a:r>
                <a:r>
                  <a:rPr lang="en-US" dirty="0"/>
                  <a:t> schemes are efficient to solve rectangular geometries with a regular grid </a:t>
                </a:r>
                <a:r>
                  <a:rPr lang="en-US" dirty="0">
                    <a:sym typeface="Wingdings" panose="05000000000000000000" pitchFamily="2" charset="2"/>
                  </a:rPr>
                  <a:t> useful for high performance computing</a:t>
                </a:r>
              </a:p>
              <a:p>
                <a:r>
                  <a:rPr lang="en-US" dirty="0"/>
                  <a:t>Finite </a:t>
                </a:r>
                <a:r>
                  <a:rPr lang="en-US" b="1" dirty="0"/>
                  <a:t>volume</a:t>
                </a:r>
                <a:r>
                  <a:rPr lang="en-US" dirty="0"/>
                  <a:t> method for more complex shapes:</a:t>
                </a:r>
              </a:p>
              <a:p>
                <a:r>
                  <a:rPr lang="en-US" dirty="0"/>
                  <a:t>Consider an arbitrary conservation law of the form: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We can formulate that for </a:t>
                </a:r>
              </a:p>
              <a:p>
                <a:r>
                  <a:rPr lang="en-US" dirty="0"/>
                  <a:t>an 2D-elementary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de-DE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 </a:t>
                </a:r>
                <a:r>
                  <a:rPr lang="en-US" dirty="0"/>
                  <a:t>in an integral sense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num>
                          <m:den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dV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nary>
                    <m:r>
                      <a:rPr lang="de-DE" b="0" i="1" smtClean="0">
                        <a:latin typeface="Cambria Math" panose="02040503050406030204" pitchFamily="18" charset="0"/>
                      </a:rPr>
                      <m:t>𝑑𝑉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31635A97-6FDF-E481-F343-F42757859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799" y="1314837"/>
                <a:ext cx="10917881" cy="4258220"/>
              </a:xfrm>
              <a:blipFill>
                <a:blip r:embed="rId2"/>
                <a:stretch>
                  <a:fillRect l="-1452" t="-1862" r="-67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2849951-0689-2947-D76F-A27C480BE773}"/>
              </a:ext>
            </a:extLst>
          </p:cNvPr>
          <p:cNvCxnSpPr>
            <a:cxnSpLocks/>
            <a:endCxn id="11" idx="2"/>
          </p:cNvCxnSpPr>
          <p:nvPr/>
        </p:nvCxnSpPr>
        <p:spPr>
          <a:xfrm flipH="1">
            <a:off x="9744143" y="2225881"/>
            <a:ext cx="0" cy="2305555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E58002D-6F1F-669F-8309-0DC7F096C0C1}"/>
              </a:ext>
            </a:extLst>
          </p:cNvPr>
          <p:cNvCxnSpPr>
            <a:cxnSpLocks/>
          </p:cNvCxnSpPr>
          <p:nvPr/>
        </p:nvCxnSpPr>
        <p:spPr>
          <a:xfrm flipV="1">
            <a:off x="8617147" y="3367781"/>
            <a:ext cx="2279429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65E65B5D-4387-F12E-1405-E565153694A3}"/>
              </a:ext>
            </a:extLst>
          </p:cNvPr>
          <p:cNvSpPr/>
          <p:nvPr/>
        </p:nvSpPr>
        <p:spPr>
          <a:xfrm>
            <a:off x="9359883" y="2994399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2BF2D21-6B12-8C42-8F1C-A5C1CBE036EE}"/>
              </a:ext>
            </a:extLst>
          </p:cNvPr>
          <p:cNvSpPr/>
          <p:nvPr/>
        </p:nvSpPr>
        <p:spPr>
          <a:xfrm>
            <a:off x="10128055" y="2994399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5F87AE6-9F63-926F-6733-1DD4F3FAADA5}"/>
              </a:ext>
            </a:extLst>
          </p:cNvPr>
          <p:cNvSpPr/>
          <p:nvPr/>
        </p:nvSpPr>
        <p:spPr>
          <a:xfrm>
            <a:off x="9359883" y="2225881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2510BD7-FD0F-427C-FD5B-BEC05D9324EA}"/>
              </a:ext>
            </a:extLst>
          </p:cNvPr>
          <p:cNvSpPr/>
          <p:nvPr/>
        </p:nvSpPr>
        <p:spPr>
          <a:xfrm>
            <a:off x="10128055" y="2225881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F7B12E6-B5E4-CA76-1BFB-D6D47EBBEECF}"/>
              </a:ext>
            </a:extLst>
          </p:cNvPr>
          <p:cNvSpPr/>
          <p:nvPr/>
        </p:nvSpPr>
        <p:spPr>
          <a:xfrm>
            <a:off x="9359883" y="3762918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0732B9-BFB3-C953-9C8D-F58A30E19A35}"/>
              </a:ext>
            </a:extLst>
          </p:cNvPr>
          <p:cNvSpPr/>
          <p:nvPr/>
        </p:nvSpPr>
        <p:spPr>
          <a:xfrm>
            <a:off x="10128055" y="3762918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9CF030C-C6BA-C719-7B8A-FE0F2A4E78A4}"/>
              </a:ext>
            </a:extLst>
          </p:cNvPr>
          <p:cNvSpPr/>
          <p:nvPr/>
        </p:nvSpPr>
        <p:spPr>
          <a:xfrm>
            <a:off x="8591189" y="2994399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17599C4-E6E9-5526-8A54-AD2CBCBE26F3}"/>
              </a:ext>
            </a:extLst>
          </p:cNvPr>
          <p:cNvSpPr/>
          <p:nvPr/>
        </p:nvSpPr>
        <p:spPr>
          <a:xfrm>
            <a:off x="8591189" y="2225881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62596AC-3663-14B2-D7EA-140480690A92}"/>
              </a:ext>
            </a:extLst>
          </p:cNvPr>
          <p:cNvSpPr/>
          <p:nvPr/>
        </p:nvSpPr>
        <p:spPr>
          <a:xfrm>
            <a:off x="8591189" y="3762918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8F3475A9-5251-D476-398D-8B8E2FE3824B}"/>
              </a:ext>
            </a:extLst>
          </p:cNvPr>
          <p:cNvCxnSpPr>
            <a:cxnSpLocks/>
          </p:cNvCxnSpPr>
          <p:nvPr/>
        </p:nvCxnSpPr>
        <p:spPr>
          <a:xfrm>
            <a:off x="8608015" y="2599041"/>
            <a:ext cx="2292726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99207C80-A406-98EF-32F3-9B79D2C8FFA3}"/>
              </a:ext>
            </a:extLst>
          </p:cNvPr>
          <p:cNvCxnSpPr>
            <a:cxnSpLocks/>
          </p:cNvCxnSpPr>
          <p:nvPr/>
        </p:nvCxnSpPr>
        <p:spPr>
          <a:xfrm>
            <a:off x="8608015" y="4156165"/>
            <a:ext cx="2292726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AAE3991C-DEC5-475C-669E-BAC39148581A}"/>
              </a:ext>
            </a:extLst>
          </p:cNvPr>
          <p:cNvCxnSpPr>
            <a:cxnSpLocks/>
            <a:endCxn id="12" idx="2"/>
          </p:cNvCxnSpPr>
          <p:nvPr/>
        </p:nvCxnSpPr>
        <p:spPr>
          <a:xfrm flipH="1">
            <a:off x="10512315" y="2225880"/>
            <a:ext cx="0" cy="2305556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C5CA510-5A0E-F4EF-1393-DC69B982DE3C}"/>
              </a:ext>
            </a:extLst>
          </p:cNvPr>
          <p:cNvCxnSpPr>
            <a:cxnSpLocks/>
            <a:endCxn id="15" idx="2"/>
          </p:cNvCxnSpPr>
          <p:nvPr/>
        </p:nvCxnSpPr>
        <p:spPr>
          <a:xfrm flipH="1">
            <a:off x="8975449" y="2225879"/>
            <a:ext cx="0" cy="2305557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253E9C5-1C77-FF42-6745-401AA2FABF8F}"/>
                  </a:ext>
                </a:extLst>
              </p:cNvPr>
              <p:cNvSpPr txBox="1"/>
              <p:nvPr/>
            </p:nvSpPr>
            <p:spPr>
              <a:xfrm>
                <a:off x="8116554" y="3284324"/>
                <a:ext cx="10201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253E9C5-1C77-FF42-6745-401AA2FAB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3284324"/>
                <a:ext cx="102016" cy="184666"/>
              </a:xfrm>
              <a:prstGeom prst="rect">
                <a:avLst/>
              </a:prstGeom>
              <a:blipFill>
                <a:blip r:embed="rId3"/>
                <a:stretch>
                  <a:fillRect l="-41176" r="-41176" b="-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526E0D1-979A-CB51-5D12-86D50B5DD39A}"/>
                  </a:ext>
                </a:extLst>
              </p:cNvPr>
              <p:cNvSpPr txBox="1"/>
              <p:nvPr/>
            </p:nvSpPr>
            <p:spPr>
              <a:xfrm>
                <a:off x="9707415" y="4625894"/>
                <a:ext cx="962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526E0D1-979A-CB51-5D12-86D50B5DD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415" y="4625894"/>
                <a:ext cx="96245" cy="184666"/>
              </a:xfrm>
              <a:prstGeom prst="rect">
                <a:avLst/>
              </a:prstGeom>
              <a:blipFill>
                <a:blip r:embed="rId4"/>
                <a:stretch>
                  <a:fillRect l="-25000" r="-3125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022DB00-74B2-CA8D-768B-FFA9F9CEDB81}"/>
                  </a:ext>
                </a:extLst>
              </p:cNvPr>
              <p:cNvSpPr txBox="1"/>
              <p:nvPr/>
            </p:nvSpPr>
            <p:spPr>
              <a:xfrm>
                <a:off x="10369598" y="4625894"/>
                <a:ext cx="3649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022DB00-74B2-CA8D-768B-FFA9F9CE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598" y="4625894"/>
                <a:ext cx="364972" cy="184666"/>
              </a:xfrm>
              <a:prstGeom prst="rect">
                <a:avLst/>
              </a:prstGeom>
              <a:blipFill>
                <a:blip r:embed="rId5"/>
                <a:stretch>
                  <a:fillRect l="-6667" r="-8333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D8FBF75-6018-ACD7-57E4-41B2A64DFD2F}"/>
                  </a:ext>
                </a:extLst>
              </p:cNvPr>
              <p:cNvSpPr txBox="1"/>
              <p:nvPr/>
            </p:nvSpPr>
            <p:spPr>
              <a:xfrm>
                <a:off x="9989419" y="4530076"/>
                <a:ext cx="364972" cy="345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D8FBF75-6018-ACD7-57E4-41B2A64DF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419" y="4530076"/>
                <a:ext cx="364972" cy="345672"/>
              </a:xfrm>
              <a:prstGeom prst="rect">
                <a:avLst/>
              </a:prstGeom>
              <a:blipFill>
                <a:blip r:embed="rId6"/>
                <a:stretch>
                  <a:fillRect l="-8333" t="-3509" r="-8333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2180816A-DB59-F13E-D00B-ECFDD4E769D2}"/>
                  </a:ext>
                </a:extLst>
              </p:cNvPr>
              <p:cNvSpPr txBox="1"/>
              <p:nvPr/>
            </p:nvSpPr>
            <p:spPr>
              <a:xfrm>
                <a:off x="9189665" y="4530075"/>
                <a:ext cx="364972" cy="345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2180816A-DB59-F13E-D00B-ECFDD4E76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665" y="4530075"/>
                <a:ext cx="364972" cy="345672"/>
              </a:xfrm>
              <a:prstGeom prst="rect">
                <a:avLst/>
              </a:prstGeom>
              <a:blipFill>
                <a:blip r:embed="rId7"/>
                <a:stretch>
                  <a:fillRect l="-6667" t="-3509" r="-8333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23215E6-1034-EA49-40C5-A27B6AFFCE85}"/>
                  </a:ext>
                </a:extLst>
              </p:cNvPr>
              <p:cNvSpPr txBox="1"/>
              <p:nvPr/>
            </p:nvSpPr>
            <p:spPr>
              <a:xfrm>
                <a:off x="8805490" y="4625672"/>
                <a:ext cx="3649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23215E6-1034-EA49-40C5-A27B6AFFC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490" y="4625672"/>
                <a:ext cx="364972" cy="184666"/>
              </a:xfrm>
              <a:prstGeom prst="rect">
                <a:avLst/>
              </a:prstGeom>
              <a:blipFill>
                <a:blip r:embed="rId8"/>
                <a:stretch>
                  <a:fillRect l="-6667" r="-8333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97A4E4E2-C68B-9391-5854-21BD54538844}"/>
                  </a:ext>
                </a:extLst>
              </p:cNvPr>
              <p:cNvSpPr txBox="1"/>
              <p:nvPr/>
            </p:nvSpPr>
            <p:spPr>
              <a:xfrm>
                <a:off x="8116554" y="4067207"/>
                <a:ext cx="37074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97A4E4E2-C68B-9391-5854-21BD54538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4067207"/>
                <a:ext cx="370743" cy="184666"/>
              </a:xfrm>
              <a:prstGeom prst="rect">
                <a:avLst/>
              </a:prstGeom>
              <a:blipFill>
                <a:blip r:embed="rId9"/>
                <a:stretch>
                  <a:fillRect l="-11475" r="-8197" b="-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F8D80455-BAC7-6C8A-1522-9BC6540255EA}"/>
                  </a:ext>
                </a:extLst>
              </p:cNvPr>
              <p:cNvSpPr txBox="1"/>
              <p:nvPr/>
            </p:nvSpPr>
            <p:spPr>
              <a:xfrm>
                <a:off x="8116554" y="3570156"/>
                <a:ext cx="370743" cy="345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F8D80455-BAC7-6C8A-1522-9BC65402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3570156"/>
                <a:ext cx="370743" cy="345672"/>
              </a:xfrm>
              <a:prstGeom prst="rect">
                <a:avLst/>
              </a:prstGeom>
              <a:blipFill>
                <a:blip r:embed="rId10"/>
                <a:stretch>
                  <a:fillRect l="-11475" t="-3571" r="-8197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FA14ED99-308A-6FA0-9765-2313C4F21159}"/>
                  </a:ext>
                </a:extLst>
              </p:cNvPr>
              <p:cNvSpPr txBox="1"/>
              <p:nvPr/>
            </p:nvSpPr>
            <p:spPr>
              <a:xfrm>
                <a:off x="8116554" y="2808051"/>
                <a:ext cx="370743" cy="345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FA14ED99-308A-6FA0-9765-2313C4F21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2808051"/>
                <a:ext cx="370743" cy="345672"/>
              </a:xfrm>
              <a:prstGeom prst="rect">
                <a:avLst/>
              </a:prstGeom>
              <a:blipFill>
                <a:blip r:embed="rId11"/>
                <a:stretch>
                  <a:fillRect l="-11475" t="-3571" r="-8197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B3C3CAD-52FC-88F7-2FA5-F23124710A49}"/>
                  </a:ext>
                </a:extLst>
              </p:cNvPr>
              <p:cNvSpPr txBox="1"/>
              <p:nvPr/>
            </p:nvSpPr>
            <p:spPr>
              <a:xfrm>
                <a:off x="8116554" y="2514867"/>
                <a:ext cx="37074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B3C3CAD-52FC-88F7-2FA5-F23124710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2514867"/>
                <a:ext cx="370743" cy="184666"/>
              </a:xfrm>
              <a:prstGeom prst="rect">
                <a:avLst/>
              </a:prstGeom>
              <a:blipFill>
                <a:blip r:embed="rId12"/>
                <a:stretch>
                  <a:fillRect l="-11475" r="-8197" b="-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lipse 29">
            <a:extLst>
              <a:ext uri="{FF2B5EF4-FFF2-40B4-BE49-F238E27FC236}">
                <a16:creationId xmlns:a16="http://schemas.microsoft.com/office/drawing/2014/main" id="{A0ABD36F-F66D-44DB-7B49-62450F137094}"/>
              </a:ext>
            </a:extLst>
          </p:cNvPr>
          <p:cNvSpPr>
            <a:spLocks noChangeAspect="1"/>
          </p:cNvSpPr>
          <p:nvPr/>
        </p:nvSpPr>
        <p:spPr>
          <a:xfrm>
            <a:off x="9695854" y="3312068"/>
            <a:ext cx="102458" cy="102458"/>
          </a:xfrm>
          <a:prstGeom prst="ellipse">
            <a:avLst/>
          </a:prstGeom>
          <a:solidFill>
            <a:srgbClr val="0080B4"/>
          </a:solidFill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B718E5F-5615-ACD7-68FA-19C4D2ECA62C}"/>
                  </a:ext>
                </a:extLst>
              </p:cNvPr>
              <p:cNvSpPr txBox="1"/>
              <p:nvPr/>
            </p:nvSpPr>
            <p:spPr>
              <a:xfrm>
                <a:off x="9655040" y="2012441"/>
                <a:ext cx="184086" cy="15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B718E5F-5615-ACD7-68FA-19C4D2ECA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040" y="2012441"/>
                <a:ext cx="184086" cy="153291"/>
              </a:xfrm>
              <a:prstGeom prst="rect">
                <a:avLst/>
              </a:prstGeom>
              <a:blipFill>
                <a:blip r:embed="rId13"/>
                <a:stretch>
                  <a:fillRect l="-33333" r="-30000" b="-5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31A16DD-C8F0-46D1-426E-73FABBD5FADA}"/>
                  </a:ext>
                </a:extLst>
              </p:cNvPr>
              <p:cNvSpPr txBox="1"/>
              <p:nvPr/>
            </p:nvSpPr>
            <p:spPr>
              <a:xfrm>
                <a:off x="10928568" y="3261234"/>
                <a:ext cx="26116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31A16DD-C8F0-46D1-426E-73FABBD5F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8568" y="3261234"/>
                <a:ext cx="261162" cy="215444"/>
              </a:xfrm>
              <a:prstGeom prst="rect">
                <a:avLst/>
              </a:prstGeom>
              <a:blipFill>
                <a:blip r:embed="rId14"/>
                <a:stretch>
                  <a:fillRect l="-13953" r="-9302" b="-2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0FD2B85-9000-A2F2-D913-04C809FEA49C}"/>
              </a:ext>
            </a:extLst>
          </p:cNvPr>
          <p:cNvCxnSpPr/>
          <p:nvPr/>
        </p:nvCxnSpPr>
        <p:spPr>
          <a:xfrm>
            <a:off x="9359534" y="2225880"/>
            <a:ext cx="768435" cy="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DC28D1C-3537-8CAA-443E-53CDD25BD213}"/>
              </a:ext>
            </a:extLst>
          </p:cNvPr>
          <p:cNvCxnSpPr>
            <a:cxnSpLocks/>
          </p:cNvCxnSpPr>
          <p:nvPr/>
        </p:nvCxnSpPr>
        <p:spPr>
          <a:xfrm rot="5400000">
            <a:off x="10511647" y="3378700"/>
            <a:ext cx="768435" cy="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0E6A7313-29F6-F41C-CA09-29FAE007A9D6}"/>
              </a:ext>
            </a:extLst>
          </p:cNvPr>
          <p:cNvSpPr/>
          <p:nvPr/>
        </p:nvSpPr>
        <p:spPr>
          <a:xfrm>
            <a:off x="9356845" y="2993764"/>
            <a:ext cx="771558" cy="769154"/>
          </a:xfrm>
          <a:prstGeom prst="rect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4E34AEF-7A99-FF68-374F-E0C76E237D63}"/>
              </a:ext>
            </a:extLst>
          </p:cNvPr>
          <p:cNvCxnSpPr/>
          <p:nvPr/>
        </p:nvCxnSpPr>
        <p:spPr>
          <a:xfrm>
            <a:off x="9308654" y="3372299"/>
            <a:ext cx="179301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FE4B62B-6CF8-B6F7-7A2D-7E77AE9805A8}"/>
              </a:ext>
            </a:extLst>
          </p:cNvPr>
          <p:cNvCxnSpPr/>
          <p:nvPr/>
        </p:nvCxnSpPr>
        <p:spPr>
          <a:xfrm>
            <a:off x="10077089" y="3372299"/>
            <a:ext cx="179301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EA550C6-CDFE-DBA8-3C67-A07073EEF35D}"/>
              </a:ext>
            </a:extLst>
          </p:cNvPr>
          <p:cNvCxnSpPr>
            <a:cxnSpLocks/>
          </p:cNvCxnSpPr>
          <p:nvPr/>
        </p:nvCxnSpPr>
        <p:spPr>
          <a:xfrm rot="16200000">
            <a:off x="9654364" y="2962467"/>
            <a:ext cx="179302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E69E4BA-E0CA-AEAE-7164-867F6C1E81DE}"/>
              </a:ext>
            </a:extLst>
          </p:cNvPr>
          <p:cNvCxnSpPr>
            <a:cxnSpLocks/>
          </p:cNvCxnSpPr>
          <p:nvPr/>
        </p:nvCxnSpPr>
        <p:spPr>
          <a:xfrm rot="16200000">
            <a:off x="9654364" y="3730902"/>
            <a:ext cx="179302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B93F5AA-D5E3-FD6D-8840-80B46A661FA1}"/>
                  </a:ext>
                </a:extLst>
              </p:cNvPr>
              <p:cNvSpPr txBox="1"/>
              <p:nvPr/>
            </p:nvSpPr>
            <p:spPr>
              <a:xfrm>
                <a:off x="9556825" y="2522670"/>
                <a:ext cx="379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B93F5AA-D5E3-FD6D-8840-80B46A661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825" y="2522670"/>
                <a:ext cx="37905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94370C2F-2E81-4365-F8A5-8C9AA3E2F86D}"/>
                  </a:ext>
                </a:extLst>
              </p:cNvPr>
              <p:cNvSpPr txBox="1"/>
              <p:nvPr/>
            </p:nvSpPr>
            <p:spPr>
              <a:xfrm>
                <a:off x="10243389" y="3160967"/>
                <a:ext cx="379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94370C2F-2E81-4365-F8A5-8C9AA3E2F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389" y="3160967"/>
                <a:ext cx="37905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4B4D154A-9C41-B3A7-52F9-3483F8EBD2DC}"/>
                  </a:ext>
                </a:extLst>
              </p:cNvPr>
              <p:cNvSpPr txBox="1"/>
              <p:nvPr/>
            </p:nvSpPr>
            <p:spPr>
              <a:xfrm>
                <a:off x="9528482" y="3786833"/>
                <a:ext cx="379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4B4D154A-9C41-B3A7-52F9-3483F8EBD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482" y="3786833"/>
                <a:ext cx="379057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60D6717-FA98-ED46-CEAE-2738061B682F}"/>
                  </a:ext>
                </a:extLst>
              </p:cNvPr>
              <p:cNvSpPr txBox="1"/>
              <p:nvPr/>
            </p:nvSpPr>
            <p:spPr>
              <a:xfrm>
                <a:off x="8922041" y="3165296"/>
                <a:ext cx="379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60D6717-FA98-ED46-CEAE-2738061B6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041" y="3165296"/>
                <a:ext cx="379057" cy="369332"/>
              </a:xfrm>
              <a:prstGeom prst="rect">
                <a:avLst/>
              </a:prstGeom>
              <a:blipFill>
                <a:blip r:embed="rId18"/>
                <a:stretch>
                  <a:fillRect r="-16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14F3C16B-DC05-C3FD-25CC-C8AF0123611B}"/>
                  </a:ext>
                </a:extLst>
              </p:cNvPr>
              <p:cNvSpPr txBox="1"/>
              <p:nvPr/>
            </p:nvSpPr>
            <p:spPr>
              <a:xfrm>
                <a:off x="3984987" y="5427289"/>
                <a:ext cx="58715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tabLst>
                    <a:tab pos="266700" algn="l"/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de-DE" sz="1200" b="1" i="1" kern="0" dirty="0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de-DE" sz="1200" b="0" i="1" kern="0" dirty="0">
                    <a:latin typeface="Cambria Math" panose="02040503050406030204" pitchFamily="18" charset="0"/>
                  </a:rPr>
                  <a:t>…	</a:t>
                </a:r>
                <a:r>
                  <a:rPr lang="de-DE" sz="1200" kern="0" dirty="0">
                    <a:latin typeface="+mj-lt"/>
                  </a:rPr>
                  <a:t>fluid </a:t>
                </a:r>
                <a:r>
                  <a:rPr lang="de-DE" sz="1200" kern="0" dirty="0" err="1">
                    <a:latin typeface="+mj-lt"/>
                  </a:rPr>
                  <a:t>velocity</a:t>
                </a:r>
                <a:r>
                  <a:rPr lang="de-DE" sz="1200" kern="0" dirty="0">
                    <a:latin typeface="+mj-lt"/>
                  </a:rPr>
                  <a:t> </a:t>
                </a:r>
                <a:r>
                  <a:rPr lang="de-DE" sz="1200" kern="0" dirty="0" err="1">
                    <a:latin typeface="+mj-lt"/>
                  </a:rPr>
                  <a:t>vector</a:t>
                </a:r>
                <a:endParaRPr lang="de-DE" sz="1200" kern="0" dirty="0">
                  <a:latin typeface="+mj-lt"/>
                </a:endParaRPr>
              </a:p>
              <a:p>
                <a:pPr lvl="1" indent="0">
                  <a:buNone/>
                  <a:tabLst>
                    <a:tab pos="266700" algn="l"/>
                    <a:tab pos="1346200" algn="l"/>
                  </a:tabLst>
                </a:pPr>
                <a:endParaRPr lang="de-DE" sz="1200" kern="0" dirty="0"/>
              </a:p>
            </p:txBody>
          </p:sp>
        </mc:Choice>
        <mc:Fallback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14F3C16B-DC05-C3FD-25CC-C8AF01236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987" y="5427289"/>
                <a:ext cx="5871573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77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7341CA-1D1E-63DC-9D34-FE4892BE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volume method</a:t>
            </a:r>
            <a:endParaRPr lang="de-DE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2849951-0689-2947-D76F-A27C480BE773}"/>
              </a:ext>
            </a:extLst>
          </p:cNvPr>
          <p:cNvCxnSpPr>
            <a:cxnSpLocks/>
            <a:endCxn id="11" idx="2"/>
          </p:cNvCxnSpPr>
          <p:nvPr/>
        </p:nvCxnSpPr>
        <p:spPr>
          <a:xfrm flipH="1">
            <a:off x="9744143" y="2225881"/>
            <a:ext cx="0" cy="2305555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E58002D-6F1F-669F-8309-0DC7F096C0C1}"/>
              </a:ext>
            </a:extLst>
          </p:cNvPr>
          <p:cNvCxnSpPr>
            <a:cxnSpLocks/>
          </p:cNvCxnSpPr>
          <p:nvPr/>
        </p:nvCxnSpPr>
        <p:spPr>
          <a:xfrm flipV="1">
            <a:off x="8617147" y="3367781"/>
            <a:ext cx="2279429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65E65B5D-4387-F12E-1405-E565153694A3}"/>
              </a:ext>
            </a:extLst>
          </p:cNvPr>
          <p:cNvSpPr/>
          <p:nvPr/>
        </p:nvSpPr>
        <p:spPr>
          <a:xfrm>
            <a:off x="9359883" y="2994399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2BF2D21-6B12-8C42-8F1C-A5C1CBE036EE}"/>
              </a:ext>
            </a:extLst>
          </p:cNvPr>
          <p:cNvSpPr/>
          <p:nvPr/>
        </p:nvSpPr>
        <p:spPr>
          <a:xfrm>
            <a:off x="10128055" y="2994399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5F87AE6-9F63-926F-6733-1DD4F3FAADA5}"/>
              </a:ext>
            </a:extLst>
          </p:cNvPr>
          <p:cNvSpPr/>
          <p:nvPr/>
        </p:nvSpPr>
        <p:spPr>
          <a:xfrm>
            <a:off x="9359883" y="2225881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2510BD7-FD0F-427C-FD5B-BEC05D9324EA}"/>
              </a:ext>
            </a:extLst>
          </p:cNvPr>
          <p:cNvSpPr/>
          <p:nvPr/>
        </p:nvSpPr>
        <p:spPr>
          <a:xfrm>
            <a:off x="10128055" y="2225881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F7B12E6-B5E4-CA76-1BFB-D6D47EBBEECF}"/>
              </a:ext>
            </a:extLst>
          </p:cNvPr>
          <p:cNvSpPr/>
          <p:nvPr/>
        </p:nvSpPr>
        <p:spPr>
          <a:xfrm>
            <a:off x="9359883" y="3762918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0732B9-BFB3-C953-9C8D-F58A30E19A35}"/>
              </a:ext>
            </a:extLst>
          </p:cNvPr>
          <p:cNvSpPr/>
          <p:nvPr/>
        </p:nvSpPr>
        <p:spPr>
          <a:xfrm>
            <a:off x="10128055" y="3762918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9CF030C-C6BA-C719-7B8A-FE0F2A4E78A4}"/>
              </a:ext>
            </a:extLst>
          </p:cNvPr>
          <p:cNvSpPr/>
          <p:nvPr/>
        </p:nvSpPr>
        <p:spPr>
          <a:xfrm>
            <a:off x="8591189" y="2994399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17599C4-E6E9-5526-8A54-AD2CBCBE26F3}"/>
              </a:ext>
            </a:extLst>
          </p:cNvPr>
          <p:cNvSpPr/>
          <p:nvPr/>
        </p:nvSpPr>
        <p:spPr>
          <a:xfrm>
            <a:off x="8591189" y="2225881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62596AC-3663-14B2-D7EA-140480690A92}"/>
              </a:ext>
            </a:extLst>
          </p:cNvPr>
          <p:cNvSpPr/>
          <p:nvPr/>
        </p:nvSpPr>
        <p:spPr>
          <a:xfrm>
            <a:off x="8591189" y="3762918"/>
            <a:ext cx="768520" cy="768518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8F3475A9-5251-D476-398D-8B8E2FE3824B}"/>
              </a:ext>
            </a:extLst>
          </p:cNvPr>
          <p:cNvCxnSpPr>
            <a:cxnSpLocks/>
          </p:cNvCxnSpPr>
          <p:nvPr/>
        </p:nvCxnSpPr>
        <p:spPr>
          <a:xfrm>
            <a:off x="8608015" y="2599041"/>
            <a:ext cx="2292726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99207C80-A406-98EF-32F3-9B79D2C8FFA3}"/>
              </a:ext>
            </a:extLst>
          </p:cNvPr>
          <p:cNvCxnSpPr>
            <a:cxnSpLocks/>
          </p:cNvCxnSpPr>
          <p:nvPr/>
        </p:nvCxnSpPr>
        <p:spPr>
          <a:xfrm>
            <a:off x="8608015" y="4156165"/>
            <a:ext cx="2292726" cy="0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AAE3991C-DEC5-475C-669E-BAC39148581A}"/>
              </a:ext>
            </a:extLst>
          </p:cNvPr>
          <p:cNvCxnSpPr>
            <a:cxnSpLocks/>
            <a:endCxn id="12" idx="2"/>
          </p:cNvCxnSpPr>
          <p:nvPr/>
        </p:nvCxnSpPr>
        <p:spPr>
          <a:xfrm flipH="1">
            <a:off x="10512315" y="2225880"/>
            <a:ext cx="0" cy="2305556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C5CA510-5A0E-F4EF-1393-DC69B982DE3C}"/>
              </a:ext>
            </a:extLst>
          </p:cNvPr>
          <p:cNvCxnSpPr>
            <a:cxnSpLocks/>
            <a:endCxn id="15" idx="2"/>
          </p:cNvCxnSpPr>
          <p:nvPr/>
        </p:nvCxnSpPr>
        <p:spPr>
          <a:xfrm flipH="1">
            <a:off x="8975449" y="2225879"/>
            <a:ext cx="0" cy="2305557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253E9C5-1C77-FF42-6745-401AA2FABF8F}"/>
                  </a:ext>
                </a:extLst>
              </p:cNvPr>
              <p:cNvSpPr txBox="1"/>
              <p:nvPr/>
            </p:nvSpPr>
            <p:spPr>
              <a:xfrm>
                <a:off x="8116554" y="3284324"/>
                <a:ext cx="10201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253E9C5-1C77-FF42-6745-401AA2FAB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3284324"/>
                <a:ext cx="102016" cy="184666"/>
              </a:xfrm>
              <a:prstGeom prst="rect">
                <a:avLst/>
              </a:prstGeom>
              <a:blipFill>
                <a:blip r:embed="rId2"/>
                <a:stretch>
                  <a:fillRect l="-41176" r="-41176" b="-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526E0D1-979A-CB51-5D12-86D50B5DD39A}"/>
                  </a:ext>
                </a:extLst>
              </p:cNvPr>
              <p:cNvSpPr txBox="1"/>
              <p:nvPr/>
            </p:nvSpPr>
            <p:spPr>
              <a:xfrm>
                <a:off x="9707415" y="4625894"/>
                <a:ext cx="962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526E0D1-979A-CB51-5D12-86D50B5DD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415" y="4625894"/>
                <a:ext cx="96245" cy="184666"/>
              </a:xfrm>
              <a:prstGeom prst="rect">
                <a:avLst/>
              </a:prstGeom>
              <a:blipFill>
                <a:blip r:embed="rId3"/>
                <a:stretch>
                  <a:fillRect l="-25000" r="-3125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022DB00-74B2-CA8D-768B-FFA9F9CEDB81}"/>
                  </a:ext>
                </a:extLst>
              </p:cNvPr>
              <p:cNvSpPr txBox="1"/>
              <p:nvPr/>
            </p:nvSpPr>
            <p:spPr>
              <a:xfrm>
                <a:off x="10369598" y="4625894"/>
                <a:ext cx="3649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022DB00-74B2-CA8D-768B-FFA9F9CE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598" y="4625894"/>
                <a:ext cx="364972" cy="184666"/>
              </a:xfrm>
              <a:prstGeom prst="rect">
                <a:avLst/>
              </a:prstGeom>
              <a:blipFill>
                <a:blip r:embed="rId4"/>
                <a:stretch>
                  <a:fillRect l="-6667" r="-8333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D8FBF75-6018-ACD7-57E4-41B2A64DFD2F}"/>
                  </a:ext>
                </a:extLst>
              </p:cNvPr>
              <p:cNvSpPr txBox="1"/>
              <p:nvPr/>
            </p:nvSpPr>
            <p:spPr>
              <a:xfrm>
                <a:off x="9989419" y="4530076"/>
                <a:ext cx="364972" cy="345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D8FBF75-6018-ACD7-57E4-41B2A64DF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419" y="4530076"/>
                <a:ext cx="364972" cy="345672"/>
              </a:xfrm>
              <a:prstGeom prst="rect">
                <a:avLst/>
              </a:prstGeom>
              <a:blipFill>
                <a:blip r:embed="rId5"/>
                <a:stretch>
                  <a:fillRect l="-8333" t="-3509" r="-8333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2180816A-DB59-F13E-D00B-ECFDD4E769D2}"/>
                  </a:ext>
                </a:extLst>
              </p:cNvPr>
              <p:cNvSpPr txBox="1"/>
              <p:nvPr/>
            </p:nvSpPr>
            <p:spPr>
              <a:xfrm>
                <a:off x="9189665" y="4530075"/>
                <a:ext cx="364972" cy="345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2180816A-DB59-F13E-D00B-ECFDD4E76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665" y="4530075"/>
                <a:ext cx="364972" cy="345672"/>
              </a:xfrm>
              <a:prstGeom prst="rect">
                <a:avLst/>
              </a:prstGeom>
              <a:blipFill>
                <a:blip r:embed="rId6"/>
                <a:stretch>
                  <a:fillRect l="-6667" t="-3509" r="-8333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23215E6-1034-EA49-40C5-A27B6AFFCE85}"/>
                  </a:ext>
                </a:extLst>
              </p:cNvPr>
              <p:cNvSpPr txBox="1"/>
              <p:nvPr/>
            </p:nvSpPr>
            <p:spPr>
              <a:xfrm>
                <a:off x="8805490" y="4625672"/>
                <a:ext cx="3649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23215E6-1034-EA49-40C5-A27B6AFFC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490" y="4625672"/>
                <a:ext cx="364972" cy="184666"/>
              </a:xfrm>
              <a:prstGeom prst="rect">
                <a:avLst/>
              </a:prstGeom>
              <a:blipFill>
                <a:blip r:embed="rId7"/>
                <a:stretch>
                  <a:fillRect l="-6667" r="-8333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97A4E4E2-C68B-9391-5854-21BD54538844}"/>
                  </a:ext>
                </a:extLst>
              </p:cNvPr>
              <p:cNvSpPr txBox="1"/>
              <p:nvPr/>
            </p:nvSpPr>
            <p:spPr>
              <a:xfrm>
                <a:off x="8116554" y="4067207"/>
                <a:ext cx="37074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97A4E4E2-C68B-9391-5854-21BD54538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4067207"/>
                <a:ext cx="370743" cy="184666"/>
              </a:xfrm>
              <a:prstGeom prst="rect">
                <a:avLst/>
              </a:prstGeom>
              <a:blipFill>
                <a:blip r:embed="rId8"/>
                <a:stretch>
                  <a:fillRect l="-11475" r="-8197" b="-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F8D80455-BAC7-6C8A-1522-9BC6540255EA}"/>
                  </a:ext>
                </a:extLst>
              </p:cNvPr>
              <p:cNvSpPr txBox="1"/>
              <p:nvPr/>
            </p:nvSpPr>
            <p:spPr>
              <a:xfrm>
                <a:off x="8116554" y="3570156"/>
                <a:ext cx="370743" cy="345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F8D80455-BAC7-6C8A-1522-9BC65402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3570156"/>
                <a:ext cx="370743" cy="345672"/>
              </a:xfrm>
              <a:prstGeom prst="rect">
                <a:avLst/>
              </a:prstGeom>
              <a:blipFill>
                <a:blip r:embed="rId9"/>
                <a:stretch>
                  <a:fillRect l="-11475" t="-3571" r="-8197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FA14ED99-308A-6FA0-9765-2313C4F21159}"/>
                  </a:ext>
                </a:extLst>
              </p:cNvPr>
              <p:cNvSpPr txBox="1"/>
              <p:nvPr/>
            </p:nvSpPr>
            <p:spPr>
              <a:xfrm>
                <a:off x="8116554" y="2808051"/>
                <a:ext cx="370743" cy="345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FA14ED99-308A-6FA0-9765-2313C4F21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2808051"/>
                <a:ext cx="370743" cy="345672"/>
              </a:xfrm>
              <a:prstGeom prst="rect">
                <a:avLst/>
              </a:prstGeom>
              <a:blipFill>
                <a:blip r:embed="rId10"/>
                <a:stretch>
                  <a:fillRect l="-11475" t="-3571" r="-8197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B3C3CAD-52FC-88F7-2FA5-F23124710A49}"/>
                  </a:ext>
                </a:extLst>
              </p:cNvPr>
              <p:cNvSpPr txBox="1"/>
              <p:nvPr/>
            </p:nvSpPr>
            <p:spPr>
              <a:xfrm>
                <a:off x="8116554" y="2514867"/>
                <a:ext cx="37074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B3C3CAD-52FC-88F7-2FA5-F23124710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4" y="2514867"/>
                <a:ext cx="370743" cy="184666"/>
              </a:xfrm>
              <a:prstGeom prst="rect">
                <a:avLst/>
              </a:prstGeom>
              <a:blipFill>
                <a:blip r:embed="rId11"/>
                <a:stretch>
                  <a:fillRect l="-11475" r="-8197" b="-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lipse 29">
            <a:extLst>
              <a:ext uri="{FF2B5EF4-FFF2-40B4-BE49-F238E27FC236}">
                <a16:creationId xmlns:a16="http://schemas.microsoft.com/office/drawing/2014/main" id="{A0ABD36F-F66D-44DB-7B49-62450F137094}"/>
              </a:ext>
            </a:extLst>
          </p:cNvPr>
          <p:cNvSpPr>
            <a:spLocks noChangeAspect="1"/>
          </p:cNvSpPr>
          <p:nvPr/>
        </p:nvSpPr>
        <p:spPr>
          <a:xfrm>
            <a:off x="9695854" y="3312068"/>
            <a:ext cx="102458" cy="102458"/>
          </a:xfrm>
          <a:prstGeom prst="ellipse">
            <a:avLst/>
          </a:prstGeom>
          <a:solidFill>
            <a:srgbClr val="0080B4"/>
          </a:solidFill>
          <a:ln w="190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B718E5F-5615-ACD7-68FA-19C4D2ECA62C}"/>
                  </a:ext>
                </a:extLst>
              </p:cNvPr>
              <p:cNvSpPr txBox="1"/>
              <p:nvPr/>
            </p:nvSpPr>
            <p:spPr>
              <a:xfrm>
                <a:off x="9655040" y="2012441"/>
                <a:ext cx="184086" cy="15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B718E5F-5615-ACD7-68FA-19C4D2ECA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040" y="2012441"/>
                <a:ext cx="184086" cy="153291"/>
              </a:xfrm>
              <a:prstGeom prst="rect">
                <a:avLst/>
              </a:prstGeom>
              <a:blipFill>
                <a:blip r:embed="rId12"/>
                <a:stretch>
                  <a:fillRect l="-33333" r="-30000" b="-5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31A16DD-C8F0-46D1-426E-73FABBD5FADA}"/>
                  </a:ext>
                </a:extLst>
              </p:cNvPr>
              <p:cNvSpPr txBox="1"/>
              <p:nvPr/>
            </p:nvSpPr>
            <p:spPr>
              <a:xfrm>
                <a:off x="10928568" y="3261234"/>
                <a:ext cx="26116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31A16DD-C8F0-46D1-426E-73FABBD5F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8568" y="3261234"/>
                <a:ext cx="261162" cy="215444"/>
              </a:xfrm>
              <a:prstGeom prst="rect">
                <a:avLst/>
              </a:prstGeom>
              <a:blipFill>
                <a:blip r:embed="rId13"/>
                <a:stretch>
                  <a:fillRect l="-13953" r="-9302" b="-2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0FD2B85-9000-A2F2-D913-04C809FEA49C}"/>
              </a:ext>
            </a:extLst>
          </p:cNvPr>
          <p:cNvCxnSpPr/>
          <p:nvPr/>
        </p:nvCxnSpPr>
        <p:spPr>
          <a:xfrm>
            <a:off x="9359534" y="2225880"/>
            <a:ext cx="768435" cy="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DC28D1C-3537-8CAA-443E-53CDD25BD213}"/>
              </a:ext>
            </a:extLst>
          </p:cNvPr>
          <p:cNvCxnSpPr>
            <a:cxnSpLocks/>
          </p:cNvCxnSpPr>
          <p:nvPr/>
        </p:nvCxnSpPr>
        <p:spPr>
          <a:xfrm rot="5400000">
            <a:off x="10511647" y="3378700"/>
            <a:ext cx="768435" cy="1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0E6A7313-29F6-F41C-CA09-29FAE007A9D6}"/>
              </a:ext>
            </a:extLst>
          </p:cNvPr>
          <p:cNvSpPr/>
          <p:nvPr/>
        </p:nvSpPr>
        <p:spPr>
          <a:xfrm>
            <a:off x="9356845" y="2993764"/>
            <a:ext cx="771558" cy="769154"/>
          </a:xfrm>
          <a:prstGeom prst="rect">
            <a:avLst/>
          </a:prstGeom>
          <a:ln w="190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4E34AEF-7A99-FF68-374F-E0C76E237D63}"/>
              </a:ext>
            </a:extLst>
          </p:cNvPr>
          <p:cNvCxnSpPr/>
          <p:nvPr/>
        </p:nvCxnSpPr>
        <p:spPr>
          <a:xfrm>
            <a:off x="9308654" y="3372299"/>
            <a:ext cx="179301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FE4B62B-6CF8-B6F7-7A2D-7E77AE9805A8}"/>
              </a:ext>
            </a:extLst>
          </p:cNvPr>
          <p:cNvCxnSpPr/>
          <p:nvPr/>
        </p:nvCxnSpPr>
        <p:spPr>
          <a:xfrm>
            <a:off x="10077089" y="3372299"/>
            <a:ext cx="179301" cy="0"/>
          </a:xfrm>
          <a:prstGeom prst="straightConnector1">
            <a:avLst/>
          </a:prstGeom>
          <a:ln w="25400">
            <a:solidFill>
              <a:srgbClr val="92D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EA550C6-CDFE-DBA8-3C67-A07073EEF35D}"/>
              </a:ext>
            </a:extLst>
          </p:cNvPr>
          <p:cNvCxnSpPr>
            <a:cxnSpLocks/>
          </p:cNvCxnSpPr>
          <p:nvPr/>
        </p:nvCxnSpPr>
        <p:spPr>
          <a:xfrm rot="16200000">
            <a:off x="9654364" y="2962467"/>
            <a:ext cx="179302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E69E4BA-E0CA-AEAE-7164-867F6C1E81DE}"/>
              </a:ext>
            </a:extLst>
          </p:cNvPr>
          <p:cNvCxnSpPr>
            <a:cxnSpLocks/>
          </p:cNvCxnSpPr>
          <p:nvPr/>
        </p:nvCxnSpPr>
        <p:spPr>
          <a:xfrm rot="16200000">
            <a:off x="9654364" y="3730902"/>
            <a:ext cx="179302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B93F5AA-D5E3-FD6D-8840-80B46A661FA1}"/>
                  </a:ext>
                </a:extLst>
              </p:cNvPr>
              <p:cNvSpPr txBox="1"/>
              <p:nvPr/>
            </p:nvSpPr>
            <p:spPr>
              <a:xfrm>
                <a:off x="9556825" y="2522670"/>
                <a:ext cx="379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B93F5AA-D5E3-FD6D-8840-80B46A661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825" y="2522670"/>
                <a:ext cx="37905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94370C2F-2E81-4365-F8A5-8C9AA3E2F86D}"/>
                  </a:ext>
                </a:extLst>
              </p:cNvPr>
              <p:cNvSpPr txBox="1"/>
              <p:nvPr/>
            </p:nvSpPr>
            <p:spPr>
              <a:xfrm>
                <a:off x="10243389" y="3160967"/>
                <a:ext cx="379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94370C2F-2E81-4365-F8A5-8C9AA3E2F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389" y="3160967"/>
                <a:ext cx="37905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4B4D154A-9C41-B3A7-52F9-3483F8EBD2DC}"/>
                  </a:ext>
                </a:extLst>
              </p:cNvPr>
              <p:cNvSpPr txBox="1"/>
              <p:nvPr/>
            </p:nvSpPr>
            <p:spPr>
              <a:xfrm>
                <a:off x="9528482" y="3786833"/>
                <a:ext cx="379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4B4D154A-9C41-B3A7-52F9-3483F8EBD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482" y="3786833"/>
                <a:ext cx="37905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60D6717-FA98-ED46-CEAE-2738061B682F}"/>
                  </a:ext>
                </a:extLst>
              </p:cNvPr>
              <p:cNvSpPr txBox="1"/>
              <p:nvPr/>
            </p:nvSpPr>
            <p:spPr>
              <a:xfrm>
                <a:off x="8922041" y="3165296"/>
                <a:ext cx="3790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60D6717-FA98-ED46-CEAE-2738061B6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041" y="3165296"/>
                <a:ext cx="379057" cy="369332"/>
              </a:xfrm>
              <a:prstGeom prst="rect">
                <a:avLst/>
              </a:prstGeom>
              <a:blipFill>
                <a:blip r:embed="rId17"/>
                <a:stretch>
                  <a:fillRect r="-16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Inhaltsplatzhalter 2">
                <a:extLst>
                  <a:ext uri="{FF2B5EF4-FFF2-40B4-BE49-F238E27FC236}">
                    <a16:creationId xmlns:a16="http://schemas.microsoft.com/office/drawing/2014/main" id="{A6C7E308-2702-E75D-F803-5111C86E0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506366"/>
                <a:ext cx="8375650" cy="425822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Using the divergence theorem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e-DE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supHide m:val="on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/>
                          <m:e>
                            <m:r>
                              <a:rPr lang="de-DE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  <m:r>
                              <a:rPr lang="de-DE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e-DE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𝑑𝑆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dirty="0"/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and the approximation of surface integrals: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de-DE" i="1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de-DE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𝑓𝑑𝑆</m:t>
                            </m:r>
                          </m:e>
                        </m:nary>
                      </m:e>
                    </m:nary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b="0" dirty="0" err="1">
                    <a:latin typeface="+mj-lt"/>
                  </a:rPr>
                  <a:t>the</a:t>
                </a:r>
                <a:r>
                  <a:rPr lang="de-DE" b="0" dirty="0">
                    <a:latin typeface="+mj-lt"/>
                  </a:rPr>
                  <a:t> original </a:t>
                </a:r>
                <a:r>
                  <a:rPr lang="de-DE" b="0" dirty="0" err="1">
                    <a:latin typeface="+mj-lt"/>
                  </a:rPr>
                  <a:t>expression</a:t>
                </a:r>
                <a:endParaRPr lang="de-DE" b="0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num>
                          <m:den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dV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nary>
                    <m:r>
                      <a:rPr lang="de-DE" b="0" i="1" smtClean="0">
                        <a:latin typeface="Cambria Math" panose="02040503050406030204" pitchFamily="18" charset="0"/>
                      </a:rPr>
                      <m:t>𝑑𝑉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becomes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sup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de-DE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num>
                          <m:den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de-DE" i="1">
                        <a:latin typeface="Cambria Math" panose="02040503050406030204" pitchFamily="18" charset="0"/>
                      </a:rPr>
                      <m:t>dV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de-DE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de-DE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de-DE" i="1">
                                    <a:solidFill>
                                      <a:schemeClr val="accent5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1" i="1">
                                    <a:solidFill>
                                      <a:schemeClr val="accent5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d>
                            <m:r>
                              <a:rPr lang="de-DE" i="1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e-DE" b="1" i="1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de-DE" b="0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𝑑𝑆</m:t>
                            </m:r>
                          </m:e>
                        </m:nary>
                      </m:e>
                    </m:nary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6" name="Inhaltsplatzhalter 2">
                <a:extLst>
                  <a:ext uri="{FF2B5EF4-FFF2-40B4-BE49-F238E27FC236}">
                    <a16:creationId xmlns:a16="http://schemas.microsoft.com/office/drawing/2014/main" id="{A6C7E308-2702-E75D-F803-5111C86E0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506366"/>
                <a:ext cx="8375650" cy="4258220"/>
              </a:xfrm>
              <a:blipFill>
                <a:blip r:embed="rId18"/>
                <a:stretch>
                  <a:fillRect l="-6769" b="-214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527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23E9D-3F80-3FF3-A1AC-B35FB224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57865D-E382-F405-2A10-2635B459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858501" cy="41052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PDEs also need initial and boundary conditions to become solvable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well posed problem has certain properties (consistency, stability, convergence)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grid needs to resolve the flow conditions under consideration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Solvers are complicated and one may use off-the-shelf solutions of solvers made available by open-source libraries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82554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CB296CC-6C4A-487F-CE67-ED2823963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2" y="918313"/>
            <a:ext cx="7052705" cy="533654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766F1F3-2405-CD2B-2F7C-673929BF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763250" algn="r"/>
              </a:tabLst>
            </a:pPr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r>
              <a:rPr lang="de-DE" dirty="0"/>
              <a:t>! 	…Questions?</a:t>
            </a:r>
          </a:p>
        </p:txBody>
      </p:sp>
    </p:spTree>
    <p:extLst>
      <p:ext uri="{BB962C8B-B14F-4D97-AF65-F5344CB8AC3E}">
        <p14:creationId xmlns:p14="http://schemas.microsoft.com/office/powerpoint/2010/main" val="2841416724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CC5A62FF-E85B-4F17-9E50-2D9436AFE324}" vid="{72F752AF-7165-4E8C-8617-EDD8D4C2BD6F}"/>
    </a:ext>
  </a:extLst>
</a:theme>
</file>

<file path=ppt/theme/theme2.xml><?xml version="1.0" encoding="utf-8"?>
<a:theme xmlns:a="http://schemas.openxmlformats.org/drawingml/2006/main" name="Zwischenseiten mit Shape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CC5A62FF-E85B-4F17-9E50-2D9436AFE324}" vid="{60B6324A-4599-4E7E-82DF-452DC3EBBE9C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250922_Welcome-Event_FRM</Template>
  <TotalTime>0</TotalTime>
  <Words>3233</Words>
  <Application>Microsoft Office PowerPoint</Application>
  <PresentationFormat>Breitbild</PresentationFormat>
  <Paragraphs>549</Paragraphs>
  <Slides>46</Slides>
  <Notes>0</Notes>
  <HiddenSlides>7</HiddenSlides>
  <MMClips>0</MMClips>
  <ScaleCrop>false</ScaleCrop>
  <HeadingPairs>
    <vt:vector size="6" baseType="variant">
      <vt:variant>
        <vt:lpstr>Verwendete Schriftarten</vt:lpstr>
      </vt:variant>
      <vt:variant>
        <vt:i4>13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46</vt:i4>
      </vt:variant>
    </vt:vector>
  </HeadingPairs>
  <TitlesOfParts>
    <vt:vector size="61" baseType="lpstr">
      <vt:lpstr>Arial</vt:lpstr>
      <vt:lpstr>Calibri</vt:lpstr>
      <vt:lpstr>Cambria Math</vt:lpstr>
      <vt:lpstr>Consolas</vt:lpstr>
      <vt:lpstr>Noto Sans</vt:lpstr>
      <vt:lpstr>Noto Sans Medium</vt:lpstr>
      <vt:lpstr>Noto Serif</vt:lpstr>
      <vt:lpstr>Noto Serif (Textkörper)</vt:lpstr>
      <vt:lpstr>Noto Serif Light</vt:lpstr>
      <vt:lpstr>Open Sans</vt:lpstr>
      <vt:lpstr>Open Sans Light</vt:lpstr>
      <vt:lpstr>Symbol</vt:lpstr>
      <vt:lpstr>Wingdings</vt:lpstr>
      <vt:lpstr>TUD Standard_20 pt</vt:lpstr>
      <vt:lpstr>Zwischenseiten mit Shape</vt:lpstr>
      <vt:lpstr>Part 3: Time discretization UW-MHYWI-302: Numerical Methods for Hydro Sciences </vt:lpstr>
      <vt:lpstr>Outline</vt:lpstr>
      <vt:lpstr>Overview of today‘s lecture</vt:lpstr>
      <vt:lpstr>A brief review of last week’s lecture</vt:lpstr>
      <vt:lpstr>On the importance how things evolve in time</vt:lpstr>
      <vt:lpstr>Time integration</vt:lpstr>
      <vt:lpstr>Time integration - implicit</vt:lpstr>
      <vt:lpstr>Time integration</vt:lpstr>
      <vt:lpstr>Time integration methods</vt:lpstr>
      <vt:lpstr>A simple integration method </vt:lpstr>
      <vt:lpstr>Implicit method</vt:lpstr>
      <vt:lpstr>Crank-Nicolson method</vt:lpstr>
      <vt:lpstr>Higher order time-integration schemes</vt:lpstr>
      <vt:lpstr>Runge Kutta time-integration schemes</vt:lpstr>
      <vt:lpstr>Runge Kutta time-integration schemes</vt:lpstr>
      <vt:lpstr>Numerical properties</vt:lpstr>
      <vt:lpstr>Initial conditions</vt:lpstr>
      <vt:lpstr>Consistency</vt:lpstr>
      <vt:lpstr>Important numerical properties</vt:lpstr>
      <vt:lpstr>Example of a consistent solution</vt:lpstr>
      <vt:lpstr>Consistency criterion</vt:lpstr>
      <vt:lpstr>CFL-criterion</vt:lpstr>
      <vt:lpstr>The algebraic equation system</vt:lpstr>
      <vt:lpstr>The algebraic equation system</vt:lpstr>
      <vt:lpstr>The algebraic equation system</vt:lpstr>
      <vt:lpstr>The algebraic equation system: 1D example</vt:lpstr>
      <vt:lpstr>Implementing boundary conditions: Dirichlet</vt:lpstr>
      <vt:lpstr>Implementing boundary conditions: Neumann</vt:lpstr>
      <vt:lpstr>Implementing boundary conditions: Periodic</vt:lpstr>
      <vt:lpstr>Setting up and solving the algebraic equation system</vt:lpstr>
      <vt:lpstr>Setting up and solving the algebraic equation system</vt:lpstr>
      <vt:lpstr>Setting up and solving the algebraic equation system</vt:lpstr>
      <vt:lpstr>Setting up and solving the algebraic equation system</vt:lpstr>
      <vt:lpstr>Setting up and solving the algebraic equation system</vt:lpstr>
      <vt:lpstr>Direct solver: Gauss elimination method</vt:lpstr>
      <vt:lpstr>Another type of direct solver</vt:lpstr>
      <vt:lpstr>Iterative solvers</vt:lpstr>
      <vt:lpstr>Iterative solvers: Newton’s method</vt:lpstr>
      <vt:lpstr>Iterative solvers</vt:lpstr>
      <vt:lpstr>How to solve a linear system in Python</vt:lpstr>
      <vt:lpstr>Finite volume method</vt:lpstr>
      <vt:lpstr>Staggered grids for velocity</vt:lpstr>
      <vt:lpstr>Finite volume method</vt:lpstr>
      <vt:lpstr>Finite volume method</vt:lpstr>
      <vt:lpstr>Summary</vt:lpstr>
      <vt:lpstr>Thank you for your attention!  …Questions?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Bernhard Vowinckel</dc:creator>
  <cp:lastModifiedBy>Bernhard Vowinckel</cp:lastModifiedBy>
  <cp:revision>23</cp:revision>
  <dcterms:created xsi:type="dcterms:W3CDTF">2025-09-21T14:05:34Z</dcterms:created>
  <dcterms:modified xsi:type="dcterms:W3CDTF">2025-10-30T08:25:58Z</dcterms:modified>
</cp:coreProperties>
</file>